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oux, Vincent" userId="52ba2c99-87e7-44f3-b747-454adee888a3" providerId="ADAL" clId="{4288F421-B0A0-4EB5-B80C-6C021B446EAF}"/>
    <pc:docChg chg="custSel modSld">
      <pc:chgData name="Laloux, Vincent" userId="52ba2c99-87e7-44f3-b747-454adee888a3" providerId="ADAL" clId="{4288F421-B0A0-4EB5-B80C-6C021B446EAF}" dt="2026-09-04T12:29:02.474" v="0" actId="478"/>
      <pc:docMkLst>
        <pc:docMk/>
      </pc:docMkLst>
      <pc:sldChg chg="delSp mod">
        <pc:chgData name="Laloux, Vincent" userId="52ba2c99-87e7-44f3-b747-454adee888a3" providerId="ADAL" clId="{4288F421-B0A0-4EB5-B80C-6C021B446EAF}" dt="2026-09-04T12:29:02.474" v="0" actId="478"/>
        <pc:sldMkLst>
          <pc:docMk/>
          <pc:sldMk cId="0" sldId="256"/>
        </pc:sldMkLst>
        <pc:spChg chg="del">
          <ac:chgData name="Laloux, Vincent" userId="52ba2c99-87e7-44f3-b747-454adee888a3" providerId="ADAL" clId="{4288F421-B0A0-4EB5-B80C-6C021B446EAF}" dt="2026-09-04T12:29:02.474" v="0" actId="478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975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T1 · Multi-agents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ECDF0"/>
                </a:solidFill>
              </a:rPr>
              <a:t>Coordination, rôles, ReAct et évaluation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0B4DC"/>
                </a:solidFill>
              </a:rPr>
              <a:t>Jour 1 — Thème 1 · Récapitulatif des apprentissages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Pourquoi plusieurs agents 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ECDF0"/>
                </a:solidFill>
              </a:rPr>
              <a:t>Context engineering · Lost in the Middle (Liu et al. 2023) · Spécialisation par rôle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577840" cy="141732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Le problème · Lost in the Middle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3035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Quand le contexte grossit, la qualité se dégrade. Sur 20 documents, l'exactitude chute quand le document utile est au milieu, sous le niveau « aucun document ». Courbe en U (primauté + récence).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261872"/>
            <a:ext cx="5623560" cy="141732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0" y="13075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La réponse · spécialisation par rôle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53492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Donner à chaque agent le seul contexte qui le concerne. Analogie avec le cas « oracle » (un seul document utile → 88,3 %). Attention : c'est une analogie tirée d'un résultat mono-modèle, pas une mesure sur système multi-agents. La vraie preuve se fait à la mesure (slide « agent unique vs multi »).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816352"/>
            <a:ext cx="11430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Exactitude selon la position du document utile — GPT-3.5-Turbo-0613 · contexte 4K · 20 docs · NaturalQuestions · Liu et al. 2023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54096"/>
          <a:ext cx="11430000" cy="152552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du document utile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1 (début)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75,8 %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Meilleur cas — effet de primauté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57,2 %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Déjà en chute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10 (milieu)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E0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53,8 %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Pire cas — sous le niveau « aucun document 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20 (fin)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63,2 %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Remontée — effet de récence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document (closed-book)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56,1 %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 sans contexte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Seul document utile (oracle)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8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88,3 %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+34,5 pts vs noyé dans 20 docs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Chiffres exacts (tables 1 &amp; 6 de Liu et al.). Écart 75,8→53,8 = 22 pts (le papier écrit « plus de 20 % »). Données d'un modèle 4K de 2023 : l'effet persiste sur les modèles frontière 128K+ récents (RULER, NoLiMa, LongBench v2, 2024-2025), mais avec une amplitude moindre.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Les 6 patterns de coordination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ECDF0"/>
                </a:solidFill>
              </a:rPr>
              <a:t>Guo et al. 2024 (4 structures) + LangChain (5 patterns) · Où revient le contrôle, que voit chaque agent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Contexte de chaque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piège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Séquentiel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Linéaire, imposé par le graphe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L'état grossit de nœud en nœud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Rigide ; le dernier nœud voit tout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Fan-out / fan-in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attend toutes les branches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Branches isolées ; C ne voit que les résultats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L'agrégateur redevient monolithique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Router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Aller simple, classe puis dispatche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demande seule, sans historique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mémoire : re-route à chaque tour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Sous-agents (as-tools)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Revient toujours au superviseur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Démarre à vide (proche du cas oracle)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appel de plus ; ne retient rien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Handoffs (pair-à-pair)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Cédé, pas prêté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Hérite de la conversation complète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Séquentiel ; ramène le Lost in the Middle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Hiérarchique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Descend puis remonte, niveau par niveau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Re-résumé à chaque remontée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point de perte par palier ; débogage dur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Sous-agents vs handoffs, les deux qu'on confond : sous-agents = contrôle rendu, contexte vide ; handoffs = contrôle cédé, contexte hérité. Un 7e pattern LangChain, Skills (un seul agent qui charge un domaine à la demande), n'est pas multi-agents — souvent la bonne réponse avant de multiplier les agents.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Les 6 rôles · qui décide quoi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ECDF0"/>
                </a:solidFill>
              </a:rPr>
              <a:t>Un découpage utile (grille pédagogique) · Chaque rôle a sa mesure propre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mesure avec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Scoper (le portier)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In-scope / hors-périmètre, puis découpe en sous-tâches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TopicAdherence (précision, rappel, F1)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Router (l'aiguilleur)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 domaine / agent / index, en un appel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Matrice de confusion (sans juge LLM)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Superviseur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 worker à quelle étape, quand relancer/arrêter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ToolCallAccuracy + AgentGoalAccuracy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Worker (le spécialiste)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résoudre sa sous-tâche, quels outils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DiscreteMetric maison sur son domaine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Agrégateur (le rédacteur)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qui entre dans la réponse, ordre, ton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Fidélité (chaque affirmation soutenue ?)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Juge (l'évaluateur)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note + justification, hors production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Corrélation avec 10–20 exemples annotés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Scoper avant router : le scoper trace une frontière (« ça nous concerne ? »), le router partitionne à l'intérieur (« quel domaine ? »). Six rôles ≠ six agents : les fusionner est parfois le bon arbitrage, à condition de continuer à les mesurer séparément — sinon il ne reste qu'une note globale qui ne dit pas quoi corriger.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Fil rouge · Sentier GR509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ECDF0"/>
                </a:solidFill>
              </a:rPr>
              <a:t>Deux domaines disjoints · Outils déterministes · Dual-mode (avec/sans réseau)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1430000" cy="123444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1124712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retenu dans NB_T1a : séquentiel, puis handoff natif Mistral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Question ──► WeatherAgent ──► HikingAgent ──► synthèse ──► recommandation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Décor : GR509, col de Menthières → Crêt de la Neige (1 720 m),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point culminant du massif du Jura.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NB_T1b remonte le même scénario en StateGraph + add_conditional_edges.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2633472"/>
            <a:ext cx="5577840" cy="251460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267919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Les quatre outils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5303520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get_meteo_prevision(lieu) — réseau, Open-Meteo (API publique gratuite). Retourne toujours un dict, champ source = open-meteo | offline-fallback.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calculer_distance_km() — déterministe, gpxpy. Repli calibré : 8,4 km.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denivele_positif_m() — déterministe. Repli : 680 m D+.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estimation_naismith(dist, deniv) — règle de Naismith (SMCJ, 1892).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2633472"/>
            <a:ext cx="5623560" cy="251460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309360" y="26791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Naismith, en clair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2880360"/>
            <a:ext cx="5349240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5 km/h à plat + 10 min par 100 m de montée (≈ 600 m/h) :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  8,4 / 5 = 1,68 h (distance)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  680 / 600 = 1,13 h (montée)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  total ≈ 2 h 49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Naismith est une baseline volontairement simple (optimiste : sans descente, pauses ni fatigue). Utilisée ici comme oracle stable : toute variation vient de l'agent, jamais des données.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sentier_gr509.py isole la logique métier, zéro dépendance Mistral. Le repli est par appel et silencieux : deux appels météo peuvent rendre l'un Open-Meteo, l'autre le fallback ; c'est le champ source du dict qui tranche, et l'agent ne le mentionne pas dans sa réponse rédigée.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ReAct · Formalisme, gains et angle mort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ECDF0"/>
                </a:solidFill>
              </a:rPr>
              <a:t>Yao et al. 2022 (PaLM-540B) · Pensée → Action → Observation · Échange l'hallucination contre la boucle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Mesure (PaLM-540B sauf ALFWorld/WebShop)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Comparé 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ALFWorld (succès, best of 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68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45 % · BUTLER 37 %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= sans raisonnement ; BUTLER = imitation (~100k traj.)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ALFWorld · variante ReAct-IM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ReAct-IM 53 %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ReAct-IM garde du raisonnement (inner monologue)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HotpotQA · hallucination (% échecs)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68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 56 %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Ancrage factuel : ReAct n'invente plus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HotpotQA · erreur de raisonnement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E0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 16 %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 mode d'échec dominant : la boucle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HotpotQA · exactitude (EM)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 29,4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passe légèrement SOUS le CoT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Fever · exactitude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68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 56,3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gagne en fiabilité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ReAct échange l'hallucination contre la boucle : il n'invente plus de faits, mais peut se bloquer à répéter la même action (47 % des échecs). D'où le compteur d'étapes max_steps, réponse directe à ce mode d'échec. Données 2022 / PaLM-540B : la leçon qualitative tient ; les chiffres absolus datent, les modèles instruct récents raisonnent et appellent des outils nativement.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Mistral Agents API · trois objets, un état serveur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ECDF0"/>
                </a:solidFill>
              </a:rPr>
              <a:t>Agent · Conversation · Entry · État côté serveur (comportements version-dépendants, à revérifier)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 / opération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savoir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figée réutilisable (gabarit, pas session)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agent_id persistant · beta.agents.create(...)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Historique stocké côté Mistral, depuis un agent ou un modèle nu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Piège : un NOUVEAU conversation_id à chaque append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Unité de base : message, appel d'outil, résultat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Décrit un handoff ou une exécution comme événement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Outils déclarables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types : function (chez vous) + web_search, code_interpreter, image_generation, document_library (chez Mistral)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donnée qui ne doit pas sortir passe par function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Confidentialité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store=False désactive le stockage ; cloisonnement par clé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handoff_execution : server (défaut) ou client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Ligne de partage : outils déclarés à l'agent, fonctions exécutées par vous. Mistral décide quand appeler une function, votre code l'exécute et renvoie le résultat via FunctionResultEntry. Les comportements précis de l'API (nouveau conversation_id, liste des outils managés) sont version-dépendants : à revérifier dans la doc à la date de la formation.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TOOL_REGISTRY · la boucle ReAct côté client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ECDF0"/>
                </a:solidFill>
              </a:rPr>
              <a:t>Table de dispatch · 3 invariants · max_steps = garde-fou contre la boucle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1430000" cy="233172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11247120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TOOL_REGISTRY = {   # clé = nom EXACT de l'outil déclaré dans agents.create()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'get_meteo_prevision':  lambda a: get_meteo_prevision(a['lieu']),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'calculer_distance_km': lambda a: {'distance_km': calculer_distance_km(gpx)},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'denivele_positif_m':   lambda a: {'denivele_m': denivele_positif_m(gpx)},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'estimation_naismith':  lambda a: {'duree_h': estimation_naismith(a['dist_km'], a['deniv_pos_m'])},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run_agent_with_tools(agent_id, question, max_steps=8):  # max_steps : garde-fou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client.beta.conversations.start(agent_id=agent_id, inputs=question)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conv_id = resp.conversation_id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range(max_steps):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calls = [o for o in resp.outputs if o.type == 'function.call']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calls: break                 # plus de tool_call : réponse finale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results = [FunctionResultEntry(tool_call_id=c.tool_call_id,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result=json.dumps(TOOL_REGISTRY[c.name](args_of(c)), default=str)) for c in calls]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 = client.beta.conversations.append(conversation_id=conv_id, inputs=results)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3703320"/>
            <a:ext cx="5577840" cy="141732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374904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Les trois invariants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950208"/>
            <a:ext cx="53035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Les clés sont un contrat : nom identique au caractère près à celui du schéma JSON. Rien ne le vérifie au démarrage.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Un tour peut contenir plusieurs appels : les collecter tous, renvoyer tous les résultats en un seul append (c'est ce qui rend le fan-out possible).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Sortie de boucle : quand outputs ne contient plus aucun function.call.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3703320"/>
            <a:ext cx="5623560" cy="141732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309360" y="374904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Ce que ce code ne gère pas encore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3950208"/>
            <a:ext cx="53492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Un outil qui lève : attraper l'exception et la renvoyer COMME résultat d'outil (ReAct sait se rattraper s'il la voit).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Un nom inconnu : .get() + « outil inconnu, disponibles : … » laisse une chance de correction.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Budget épuisé : après max_steps, signaler explicitement (sinon indistinct d'une fin normale).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max_steps=8 n'est pas une précaution de principe : c'est la réponse au premier mode d'échec de ReAct (47 % des échecs, dont l'incapacité à sortir d'étapes répétitives). Piège discret : append() renvoie un nouveau conversation_id à chaque tour ; reboucler sur l'initial diverge silencieusement.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LangGraph · même scénario, état renversé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ECDF0"/>
                </a:solidFill>
              </a:rPr>
              <a:t>État Python explicite vs ressource serveur · Arbitrage, pas « mieux » (librairies version-sensibles)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Agents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Créer l'agent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beta.agents.create(tools=[schéma JSON])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create_react_agent(llm, tools)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Définir un outil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Schéma JSON explicite (~20 lignes)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@tool + docstring : la signature typée EST le schéma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Boucle ReAct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TOOL_REGISTRY écrite à la main, côté client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ToolNode([...]) : le dispatch est fourni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conversation_id : chez Mistral, opaque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MessagesState : un dict que vous lisez/modifiez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Automatique, sauf store=False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Explicite : checkpointer indexé par thread_id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Liée à la plateforme Mistral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graphe survit en grande partie à un changement de fournisseur (seul le llm change)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Pièges de salle (versions à la date de la formation) : langchain-mistralai poste sur {base}/chat/completions — si MISTRAL_SERVER_URL pointe la racine, il manque le /v1 et tout répond 404. Importer create_react_agent depuis langgraph.prebuilt (lignée 0.3.x, épinglée pour compat Ragas), pas create_agent de langchain.agents (API 1.x).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Évaluation · LLM-as-a-Judge avec Ragas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ECDF0"/>
                </a:solidFill>
              </a:rPr>
              <a:t>Zheng et al. 2023 · DiscreteMetric · Calibration non négociable · Biais documentés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57784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DiscreteMetric · la brique de base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30352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Un nom, des valeurs autorisées, un prompt. Sortie contrainte à l'ensemble déclaré : pas de note flottante à interpréter. On écrit le prompt du juge : on sait exactement ce qui est mesuré.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261872"/>
            <a:ext cx="562356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0" y="13075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Calibration · non négociable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534924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Annoter 10 à 20 exemples à la main et mesurer la corrélation avant de faire confiance aux scores. Un juge non calibré produit des chiffres, pas des mesures. Modèle : mistral-large ou -medium ; dans nos essais, mistral-small juge de façon moins stable.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6324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 agent (Ragas)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qu'elle cible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 mesuré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TopicAdherence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système reste-t-il dans son domaine ? (précision, rappel, F1)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ToolCallAccuracy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Bons outils, bons arguments, bon ordre vs trajectoire de référence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AgentGoalAccuracy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L'objectif de l'utilisateur est-il atteint ? (binaire)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Système entier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365760" y="47091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34D00"/>
                </a:solidFill>
              </a:rPr>
              <a:t>Biais documentés du juge (Zheng et al. 2023) : longueur (réponses longues sur-notées) · ordre (1re réponse favorisée) · auto-évaluation gonflée.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Évaluer brique par brique avant l'ensemble. Un score global qui baisse ne dit pas quel agent a régressé ; WeatherAgent et HikingAgent notés séparément, si.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Mesure · agent unique contre multi-agents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ECDF0"/>
                </a:solidFill>
              </a:rPr>
              <a:t>Quatre axes · Jeu de test figé avant de coder · Seuil écrit avant la mesure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qu'on mesure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que l'architecture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du juge sur 5–10 questions (simples + composites + hors-périmètre)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multi gagne surtout sur les composites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DiscreteMetric, AgentGoalAccuracy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Trajectoire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Bons outils/arguments/ordre, nb d'étapes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 POURQUOI la qualité bouge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ToolCallAccuracy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Appels modèle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d'invocations LLM et tokens par requête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Chaque relais ajoute un aller-retour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Compteur maison, traces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Périmètre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refus correct sur questions hors-domaine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dégrade silencieusement quand on ajoute des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TopicAdherence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429000"/>
            <a:ext cx="11430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34D00"/>
                </a:solidFill>
              </a:rPr>
              <a:t>Coût en appels (ordres de grandeur illustratifs, blog LangChain « How and when to build multi-agent systems », 2024 — pas un benchmark de votre cas) :</a:t>
            </a:r>
            <a:endParaRPr lang="en-US" sz="9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03320"/>
          <a:ext cx="1143000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Demande simple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Demande répétée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Multi-domaine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Sous-agents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~9k 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7+ · ~14k 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~9k 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Aucun pattern ne gagne partout : c'est le profil de votre trafic qui tranche. Figer le jeu de test avant de coder, calibrer le juge, mesurer l'agent unique (la référence), puis le multi — même jeu, même juge, même jour. Regarder le pire cas, pas la moyenne : une réponse fausse sur un droit social coûte plus que neuf bonnes ne rapportent.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Grille de décision · faut-il vraiment plusieurs agents 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ECDF0"/>
                </a:solidFill>
              </a:rPr>
              <a:t>D'abord un seul agent mieux outillé · Multi seulement si un signal est mesuré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577840" cy="2880360"/>
          </a:xfrm>
          <a:prstGeom prst="rect">
            <a:avLst/>
          </a:prstGeom>
          <a:solidFill>
            <a:srgbClr val="F0FFF4"/>
          </a:solidFill>
          <a:ln w="12700">
            <a:solidFill>
              <a:srgbClr val="A8DF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Passer au multi-agents si l'un de ces signaux est MESURÉ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30352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Le contexte sature : la qualité décroche sur les sous-tâches quand on empile les domaines (test = votre jeu de questions composites, pas un compteur de tokens).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Le parallélisme est réel : sous-tâches véritablement indépendantes (aucune n'a besoin du résultat d'une autre).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Les frontières sont organisationnelles : des équipes distinctes maintiennent des capacités séparées (raison suffisante à elle seule).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261872"/>
            <a:ext cx="5623560" cy="2880360"/>
          </a:xfrm>
          <a:prstGeom prst="rect">
            <a:avLst/>
          </a:prstGeom>
          <a:solidFill>
            <a:srgbClr val="FFF4F4"/>
          </a:solidFill>
          <a:ln w="12700">
            <a:solidFill>
              <a:srgbClr val="FFBCB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0" y="13075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Ce que le multi-agents coûte vraiment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534924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Des appels modèle en plus (chaque relais = un aller-retour ; le multi-agents ~15× les tokens d'un chat selon Anthropic, 2025).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Un débogage d'un autre ordre : l'erreur peut venir du périmètre, de l'aiguillage, d'un worker ou de l'agrégation.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Un jeu de test à maintenir : le coût récurrent qu'on oublie de compter.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Débat 2025 aligné avec cette thèse : Cognition (« Don't Build Multi-Agents », 12/06/2025) déconseille le multi-agents sur les tâches à état partagé ; Anthropic le défend sur les tâches indépendantes/breadth-first (+90,2 % sur son eval interne, ~15× tokens). Commencer par un agent unique ; ne passer au multi que lorsqu'une limite est atteinte ET mesurée.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Points-clés · Récapitulatif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ECDF0"/>
                </a:solidFill>
              </a:rPr>
              <a:t>T1 Multi-agents · 3 réflexes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Context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Ni trop ni trop peu. Lost in the Middle : 22 pts d'exactitude (calcul ; le papier dit &gt;20 %) dès 20 docs sur GPT-3.5-Turbo-0613 (4K, 2023). Effet réduit mais persistant sur modèles récents.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6 patterns de coordination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Séquentiel, fan-out, router, sous-agents, handoffs, hiérarchique. Deux critères : où revient le contrôle, ce que voit chaque agent (Guo 2024 + LangChain).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3255264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6 rôles, jamais fusionnés en silence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456432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Scoper, router, superviseur, worker, agrégateur, juge. Grille pédagogique : les fusionner est permis, à condition de mesurer chaque rôle séparément.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4242816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ReAct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443984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Pensée → Action → Observation. Réduit l'hallucination (0 % vs 56 % CoT sur PaLM-540B), introduit la boucle comme mode d'échec. Few-shot pour contraindre l'ordre (Yao 2022).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72200" y="128016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Mistral Agents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1481328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État côté serveur (conversation_id). Outils déclarés à l'agent, exécutés par le client. Comportements précis version-dépendants.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72200" y="2267712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LangGraph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2468880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État Python explicite. create_react_agent + add_conditional_edges remplacent la boucle TOOL_REGISTRY.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3255264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Évaluation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3456432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LLM-as-a-Judge (Zheng 2023) outillé par Ragas : DiscreteMetric maison, TopicAdherence, ToolCallAccuracy. Brique par brique, puis l'ensemble. Calibrer le juge.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72200" y="4242816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Réflexes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4443984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① Agent unique d'abord, multi si mesuré. ② Le scoper précède le superviseur. ③ Mesurer avant de décider : LLM-as-a-Judge sur 5–10 cas figés.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Références · T1 Multi-agents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ECDF0"/>
                </a:solidFill>
              </a:rPr>
              <a:t>Sources primaires vérifiées + débat 2024-2025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Liu et al. (2023) 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527048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« Lost in the Middle », arXiv:2307.03172, TACL 2024 — chiffres tables 1 &amp; 6, GPT-3.5-Turbo-0613, 20 docs.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207568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Yao et al. (2022) 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276856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« ReAct », arXiv:2210.03629, ICLR 2023 — Tables 1 &amp; 3, résultats PaLM-540B.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825496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Guo et al. (2024) 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026664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« LLM-based Multi-Agents: A Survey », arXiv:2402.01680 — 4 structures de communication.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3575304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Zheng et al. (2023) 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77647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« Judging LLM-as-a-Judge (MT-Bench) », arXiv:2306.05685 — biais du juge.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4325112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Es et al. (2023) 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4526280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« RAGAS », arXiv:2309.15217.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5074920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Hsieh et al. (2024) 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5276088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RULER — contexte effectif &lt; contexte annoncé ; dégradation persistante.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63640" y="1325880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NoLiMa / LongBench v2 (2024-25) 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1527048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Lost-in-the-Middle confirmé sur modèles frontière, amplitude réduite.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63640" y="207568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Cognition (12/06/2025) 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63640" y="2276856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« Don't Build Multi-Agents » — fragilité de l'état partagé.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63640" y="2825496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Anthropic (2025) 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63640" y="3026664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« How we built our multi-agent research system » — ~15× tokens, +90,2 % breadth-first.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63640" y="3575304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LangChain 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377647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« How and when to build multi-agent systems » — ordres de grandeur appels/tokens (illustratifs).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63640" y="4325112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Naismith (1892) 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63640" y="4526280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Scottish Mountaineering Club Journal, Vol. II — règle de temps de marche.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Annexe · Limites et robustesse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ECDF0"/>
                </a:solidFill>
              </a:rPr>
              <a:t>Ce que cette présentation ne prouve pas · À dire avant qu'un expert ne le demande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assumée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in the Middle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GPT-3.5-Turbo-0613 (4K, 2023). L'effet persiste sur modèles frontière 128K+ mais avec une amplitude moindre (RULER, NoLiMa, LongBench v2).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88,3 % → multi-agents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Analogie, pas preuve. Liu et al. mesure une récupération mono-modèle, pas une architecture multi-agents. La justification réelle se fait à la mesure sur vos données.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Chiffres ReAct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2022, PaLM-540B, few-shot manuel. Leçon qualitative robuste ; chiffres absolus datés. Modèles instruct récents raisonnent et appellent des outils nativement.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Appels / tokens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Ordres de grandeur d'un billet LangChain, illustratifs et non reproductibles sur votre cas. Le coût réel (euros, latence) doit être mesuré sur votre trafic.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Mistral &amp; librairies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Comportements version-dépendants (conversation_id, types d'outils, imports LangGraph, épinglages). À revérifier dans la doc à la date d'usage.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Grille des 6 rôles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Cadre pédagogique utile, pas un standard empirique universel. Sa valeur est de rendre chaque décision mesurable séparément.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Robustesse : chiffres quantitatifs vérifiés sur sources primaires, thèse conservatrice alignée avec le débat industriel 2025. Ces limites préemptent les objections d'un public expert — mieux vaut les énoncer que les subir en Q&amp;R.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3716</Words>
  <Application>Microsoft Office PowerPoint</Application>
  <PresentationFormat>Widescreen</PresentationFormat>
  <Paragraphs>358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Laloux, Vincent</cp:lastModifiedBy>
  <cp:revision>1</cp:revision>
  <dcterms:created xsi:type="dcterms:W3CDTF">2026-09-04T12:20:34Z</dcterms:created>
  <dcterms:modified xsi:type="dcterms:W3CDTF">2026-09-04T12:29:11Z</dcterms:modified>
</cp:coreProperties>
</file>