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7C26F6-DC92-4326-B9CC-E6149DB485DD}" v="1" dt="2026-09-04T12:52:43.9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2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loux, Vincent" userId="52ba2c99-87e7-44f3-b747-454adee888a3" providerId="ADAL" clId="{4288F421-B0A0-4EB5-B80C-6C021B446EAF}"/>
    <pc:docChg chg="custSel modSld">
      <pc:chgData name="Laloux, Vincent" userId="52ba2c99-87e7-44f3-b747-454adee888a3" providerId="ADAL" clId="{4288F421-B0A0-4EB5-B80C-6C021B446EAF}" dt="2026-09-04T12:52:45.799" v="2" actId="14100"/>
      <pc:docMkLst>
        <pc:docMk/>
      </pc:docMkLst>
      <pc:sldChg chg="delSp mod">
        <pc:chgData name="Laloux, Vincent" userId="52ba2c99-87e7-44f3-b747-454adee888a3" providerId="ADAL" clId="{4288F421-B0A0-4EB5-B80C-6C021B446EAF}" dt="2026-09-04T12:52:35.359" v="0" actId="478"/>
        <pc:sldMkLst>
          <pc:docMk/>
          <pc:sldMk cId="0" sldId="256"/>
        </pc:sldMkLst>
        <pc:spChg chg="del">
          <ac:chgData name="Laloux, Vincent" userId="52ba2c99-87e7-44f3-b747-454adee888a3" providerId="ADAL" clId="{4288F421-B0A0-4EB5-B80C-6C021B446EAF}" dt="2026-09-04T12:52:35.359" v="0" actId="478"/>
          <ac:spMkLst>
            <pc:docMk/>
            <pc:sldMk cId="0" sldId="256"/>
            <ac:spMk id="6" creationId="{00000000-0000-0000-0000-000000000000}"/>
          </ac:spMkLst>
        </pc:spChg>
      </pc:sldChg>
      <pc:sldChg chg="addSp modSp mod">
        <pc:chgData name="Laloux, Vincent" userId="52ba2c99-87e7-44f3-b747-454adee888a3" providerId="ADAL" clId="{4288F421-B0A0-4EB5-B80C-6C021B446EAF}" dt="2026-09-04T12:52:45.799" v="2" actId="14100"/>
        <pc:sldMkLst>
          <pc:docMk/>
          <pc:sldMk cId="0" sldId="261"/>
        </pc:sldMkLst>
        <pc:spChg chg="mod">
          <ac:chgData name="Laloux, Vincent" userId="52ba2c99-87e7-44f3-b747-454adee888a3" providerId="ADAL" clId="{4288F421-B0A0-4EB5-B80C-6C021B446EAF}" dt="2026-09-04T12:52:43.963" v="1" actId="164"/>
          <ac:spMkLst>
            <pc:docMk/>
            <pc:sldMk cId="0" sldId="261"/>
            <ac:spMk id="12" creationId="{00000000-0000-0000-0000-000000000000}"/>
          </ac:spMkLst>
        </pc:spChg>
        <pc:spChg chg="mod">
          <ac:chgData name="Laloux, Vincent" userId="52ba2c99-87e7-44f3-b747-454adee888a3" providerId="ADAL" clId="{4288F421-B0A0-4EB5-B80C-6C021B446EAF}" dt="2026-09-04T12:52:43.963" v="1" actId="164"/>
          <ac:spMkLst>
            <pc:docMk/>
            <pc:sldMk cId="0" sldId="261"/>
            <ac:spMk id="13" creationId="{00000000-0000-0000-0000-000000000000}"/>
          </ac:spMkLst>
        </pc:spChg>
        <pc:grpChg chg="add mod">
          <ac:chgData name="Laloux, Vincent" userId="52ba2c99-87e7-44f3-b747-454adee888a3" providerId="ADAL" clId="{4288F421-B0A0-4EB5-B80C-6C021B446EAF}" dt="2026-09-04T12:52:45.799" v="2" actId="14100"/>
          <ac:grpSpMkLst>
            <pc:docMk/>
            <pc:sldMk cId="0" sldId="261"/>
            <ac:grpSpMk id="17" creationId="{3A1C119C-2481-25EB-FAFB-F753F6737C33}"/>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182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3189"/>
          </a:solidFill>
          <a:ln/>
        </p:spPr>
        <p:txBody>
          <a:bodyPr/>
          <a:lstStyle/>
          <a:p>
            <a:endParaRPr lang="fr-FR"/>
          </a:p>
        </p:txBody>
      </p:sp>
      <p:sp>
        <p:nvSpPr>
          <p:cNvPr id="3" name="Text 1"/>
          <p:cNvSpPr/>
          <p:nvPr/>
        </p:nvSpPr>
        <p:spPr>
          <a:xfrm>
            <a:off x="457200" y="1920240"/>
            <a:ext cx="11274552" cy="1234440"/>
          </a:xfrm>
          <a:prstGeom prst="rect">
            <a:avLst/>
          </a:prstGeom>
          <a:noFill/>
          <a:ln/>
        </p:spPr>
        <p:txBody>
          <a:bodyPr wrap="square" rtlCol="0" anchor="ctr"/>
          <a:lstStyle/>
          <a:p>
            <a:pPr marL="0" indent="0" algn="ctr">
              <a:buNone/>
            </a:pPr>
            <a:r>
              <a:rPr lang="en-US" sz="3800" b="1" dirty="0">
                <a:solidFill>
                  <a:srgbClr val="FFFFFF"/>
                </a:solidFill>
              </a:rPr>
              <a:t>T2 · Workflows</a:t>
            </a:r>
            <a:endParaRPr lang="en-US" sz="3800" dirty="0"/>
          </a:p>
        </p:txBody>
      </p:sp>
      <p:sp>
        <p:nvSpPr>
          <p:cNvPr id="4" name="Text 2"/>
          <p:cNvSpPr/>
          <p:nvPr/>
        </p:nvSpPr>
        <p:spPr>
          <a:xfrm>
            <a:off x="457200" y="3246120"/>
            <a:ext cx="11274552" cy="658368"/>
          </a:xfrm>
          <a:prstGeom prst="rect">
            <a:avLst/>
          </a:prstGeom>
          <a:noFill/>
          <a:ln/>
        </p:spPr>
        <p:txBody>
          <a:bodyPr wrap="square" rtlCol="0" anchor="ctr"/>
          <a:lstStyle/>
          <a:p>
            <a:pPr marL="0" indent="0" algn="ctr">
              <a:buNone/>
            </a:pPr>
            <a:r>
              <a:rPr lang="en-US" sz="1800" dirty="0">
                <a:solidFill>
                  <a:srgbClr val="BECDF0"/>
                </a:solidFill>
              </a:rPr>
              <a:t>Orchestration déterministe, fiable et auditable</a:t>
            </a:r>
            <a:endParaRPr lang="en-US" sz="1800" dirty="0"/>
          </a:p>
        </p:txBody>
      </p:sp>
      <p:sp>
        <p:nvSpPr>
          <p:cNvPr id="5" name="Text 3"/>
          <p:cNvSpPr/>
          <p:nvPr/>
        </p:nvSpPr>
        <p:spPr>
          <a:xfrm>
            <a:off x="457200" y="3977640"/>
            <a:ext cx="11274552" cy="457200"/>
          </a:xfrm>
          <a:prstGeom prst="rect">
            <a:avLst/>
          </a:prstGeom>
          <a:noFill/>
          <a:ln/>
        </p:spPr>
        <p:txBody>
          <a:bodyPr wrap="square" rtlCol="0" anchor="ctr"/>
          <a:lstStyle/>
          <a:p>
            <a:pPr marL="0" indent="0" algn="ctr">
              <a:buNone/>
            </a:pPr>
            <a:r>
              <a:rPr lang="en-US" sz="1400" i="1" dirty="0">
                <a:solidFill>
                  <a:srgbClr val="A0B4DC"/>
                </a:solidFill>
              </a:rPr>
              <a:t>Jour 1 — Thème 2 · Récapitulatif des apprentissages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Workflow ou agent : deux garanties, pas deux technologies</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Le critère n'est pas la durée, c'est la reprise · Ce que vous pouvez PROMETTRE</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11430000" cy="1525524"/>
        </p:xfrm>
        <a:graphic>
          <a:graphicData uri="http://schemas.openxmlformats.org/drawingml/2006/table">
            <a:tbl>
              <a:tblPr/>
              <a:tblGrid>
                <a:gridCol w="2377440">
                  <a:extLst>
                    <a:ext uri="{9D8B030D-6E8A-4147-A177-3AD203B41FA5}">
                      <a16:colId xmlns:a16="http://schemas.microsoft.com/office/drawing/2014/main" val="20000"/>
                    </a:ext>
                  </a:extLst>
                </a:gridCol>
                <a:gridCol w="452628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0">
                <a:tc>
                  <a:txBody>
                    <a:bodyPr/>
                    <a:lstStyle/>
                    <a:p>
                      <a:pPr marL="0" indent="0" algn="l">
                        <a:buNone/>
                      </a:pP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Workflow déterministe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Agent libre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extLst>
                  <a:ext uri="{0D108BD9-81ED-4DB2-BD59-A6C34878D82A}">
                    <a16:rowId xmlns:a16="http://schemas.microsoft.com/office/drawing/2014/main" val="10000"/>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Plan</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A → B → C, fixé à l'écriture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décidé à chaque étape par le modèle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État</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event log immuable, hors du modèle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contexte du LLM, volatile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2"/>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Reprise après incident</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depuis la dernière étape réussie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depuis le début</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Test</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unitaire, étape par étape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comportemental, sur le tout</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4"/>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Ce qui casse en premier</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une règle métier change → modifier la topologie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le contexte grossit → la qualité décroche (effet Lost-in-the-Middle de T1)</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Ce que vous pouvez promettre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 dire ce qui s'est passé, étape par étape, et le rejouer »</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 dire ce que le modèle a répondu »</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6"/>
                  </a:ext>
                </a:extLst>
              </a:tr>
            </a:tbl>
          </a:graphicData>
        </a:graphic>
      </p:graphicFrame>
      <p:sp>
        <p:nvSpPr>
          <p:cNvPr id="7" name="Shape 4"/>
          <p:cNvSpPr/>
          <p:nvPr/>
        </p:nvSpPr>
        <p:spPr>
          <a:xfrm>
            <a:off x="365760" y="4160520"/>
            <a:ext cx="5577840" cy="960120"/>
          </a:xfrm>
          <a:prstGeom prst="rect">
            <a:avLst/>
          </a:prstGeom>
          <a:solidFill>
            <a:srgbClr val="F0F4FF"/>
          </a:solidFill>
          <a:ln w="12700">
            <a:solidFill>
              <a:srgbClr val="BECDF0"/>
            </a:solidFill>
            <a:prstDash val="solid"/>
          </a:ln>
        </p:spPr>
        <p:txBody>
          <a:bodyPr/>
          <a:lstStyle/>
          <a:p>
            <a:endParaRPr lang="fr-FR"/>
          </a:p>
        </p:txBody>
      </p:sp>
      <p:sp>
        <p:nvSpPr>
          <p:cNvPr id="8" name="Text 5"/>
          <p:cNvSpPr/>
          <p:nvPr/>
        </p:nvSpPr>
        <p:spPr>
          <a:xfrm>
            <a:off x="502920" y="4206240"/>
            <a:ext cx="5303520" cy="201168"/>
          </a:xfrm>
          <a:prstGeom prst="rect">
            <a:avLst/>
          </a:prstGeom>
          <a:noFill/>
          <a:ln/>
        </p:spPr>
        <p:txBody>
          <a:bodyPr wrap="square" rtlCol="0" anchor="ctr"/>
          <a:lstStyle/>
          <a:p>
            <a:pPr marL="0" indent="0">
              <a:buNone/>
            </a:pPr>
            <a:r>
              <a:rPr lang="en-US" sz="1000" b="1" dirty="0">
                <a:solidFill>
                  <a:srgbClr val="003189"/>
                </a:solidFill>
              </a:rPr>
              <a:t>Un workflow (collectivité)</a:t>
            </a:r>
            <a:endParaRPr lang="en-US" sz="1000" dirty="0"/>
          </a:p>
        </p:txBody>
      </p:sp>
      <p:sp>
        <p:nvSpPr>
          <p:cNvPr id="9" name="Text 6"/>
          <p:cNvSpPr/>
          <p:nvPr/>
        </p:nvSpPr>
        <p:spPr>
          <a:xfrm>
            <a:off x="502920" y="4407408"/>
            <a:ext cx="5303520" cy="658368"/>
          </a:xfrm>
          <a:prstGeom prst="rect">
            <a:avLst/>
          </a:prstGeom>
          <a:noFill/>
          <a:ln/>
        </p:spPr>
        <p:txBody>
          <a:bodyPr wrap="square" rtlCol="0" anchor="ctr"/>
          <a:lstStyle/>
          <a:p>
            <a:pPr marL="0" indent="0">
              <a:lnSpc>
                <a:spcPct val="120000"/>
              </a:lnSpc>
              <a:buNone/>
            </a:pPr>
            <a:r>
              <a:rPr lang="en-US" sz="950" dirty="0">
                <a:solidFill>
                  <a:srgbClr val="1C1C1C"/>
                </a:solidFill>
              </a:rPr>
              <a:t>Un dossier d'aide sociale : réception, vérification des pièces, calcul des droits, validation, notification, archivage légal. Tracé, rejouable après panne, relisable en contrôle. S'étale sur des jours, l'essentiel en attente.</a:t>
            </a:r>
            <a:endParaRPr lang="en-US" sz="950" dirty="0"/>
          </a:p>
        </p:txBody>
      </p:sp>
      <p:sp>
        <p:nvSpPr>
          <p:cNvPr id="10" name="Shape 7"/>
          <p:cNvSpPr/>
          <p:nvPr/>
        </p:nvSpPr>
        <p:spPr>
          <a:xfrm>
            <a:off x="6172200" y="4160520"/>
            <a:ext cx="5623560" cy="960120"/>
          </a:xfrm>
          <a:prstGeom prst="rect">
            <a:avLst/>
          </a:prstGeom>
          <a:solidFill>
            <a:srgbClr val="F0F4FF"/>
          </a:solidFill>
          <a:ln w="12700">
            <a:solidFill>
              <a:srgbClr val="BECDF0"/>
            </a:solidFill>
            <a:prstDash val="solid"/>
          </a:ln>
        </p:spPr>
        <p:txBody>
          <a:bodyPr/>
          <a:lstStyle/>
          <a:p>
            <a:endParaRPr lang="fr-FR"/>
          </a:p>
        </p:txBody>
      </p:sp>
      <p:sp>
        <p:nvSpPr>
          <p:cNvPr id="11" name="Text 8"/>
          <p:cNvSpPr/>
          <p:nvPr/>
        </p:nvSpPr>
        <p:spPr>
          <a:xfrm>
            <a:off x="6309360" y="4206240"/>
            <a:ext cx="5349240" cy="201168"/>
          </a:xfrm>
          <a:prstGeom prst="rect">
            <a:avLst/>
          </a:prstGeom>
          <a:noFill/>
          <a:ln/>
        </p:spPr>
        <p:txBody>
          <a:bodyPr wrap="square" rtlCol="0" anchor="ctr"/>
          <a:lstStyle/>
          <a:p>
            <a:pPr marL="0" indent="0">
              <a:buNone/>
            </a:pPr>
            <a:r>
              <a:rPr lang="en-US" sz="1000" b="1" dirty="0">
                <a:solidFill>
                  <a:srgbClr val="003189"/>
                </a:solidFill>
              </a:rPr>
              <a:t>Un agent (collectivité)</a:t>
            </a:r>
            <a:endParaRPr lang="en-US" sz="1000" dirty="0"/>
          </a:p>
        </p:txBody>
      </p:sp>
      <p:sp>
        <p:nvSpPr>
          <p:cNvPr id="12" name="Text 9"/>
          <p:cNvSpPr/>
          <p:nvPr/>
        </p:nvSpPr>
        <p:spPr>
          <a:xfrm>
            <a:off x="6309360" y="4407408"/>
            <a:ext cx="5349240" cy="658368"/>
          </a:xfrm>
          <a:prstGeom prst="rect">
            <a:avLst/>
          </a:prstGeom>
          <a:noFill/>
          <a:ln/>
        </p:spPr>
        <p:txBody>
          <a:bodyPr wrap="square" rtlCol="0" anchor="ctr"/>
          <a:lstStyle/>
          <a:p>
            <a:pPr marL="0" indent="0">
              <a:lnSpc>
                <a:spcPct val="120000"/>
              </a:lnSpc>
              <a:buNone/>
            </a:pPr>
            <a:r>
              <a:rPr lang="en-US" sz="950" dirty="0">
                <a:solidFill>
                  <a:srgbClr val="1C1C1C"/>
                </a:solidFill>
              </a:rPr>
              <a:t>« Résume les dix derniers comptes rendus de commission. » Il choisit ses outils, leur ordre, s'arrête quand la réponse lui paraît complète. Deux minutes, une fois, sans rien à rejouer.</a:t>
            </a:r>
            <a:endParaRPr lang="en-US" sz="950" dirty="0"/>
          </a:p>
        </p:txBody>
      </p:sp>
      <p:sp>
        <p:nvSpPr>
          <p:cNvPr id="13" name="Shape 10"/>
          <p:cNvSpPr/>
          <p:nvPr/>
        </p:nvSpPr>
        <p:spPr>
          <a:xfrm>
            <a:off x="365760" y="5303520"/>
            <a:ext cx="11430000" cy="1097280"/>
          </a:xfrm>
          <a:prstGeom prst="rect">
            <a:avLst/>
          </a:prstGeom>
          <a:solidFill>
            <a:srgbClr val="E8EDFF"/>
          </a:solidFill>
          <a:ln/>
        </p:spPr>
        <p:txBody>
          <a:bodyPr/>
          <a:lstStyle/>
          <a:p>
            <a:endParaRPr lang="fr-FR"/>
          </a:p>
        </p:txBody>
      </p:sp>
      <p:sp>
        <p:nvSpPr>
          <p:cNvPr id="14" name="Shape 11"/>
          <p:cNvSpPr/>
          <p:nvPr/>
        </p:nvSpPr>
        <p:spPr>
          <a:xfrm>
            <a:off x="365760" y="5303520"/>
            <a:ext cx="54864" cy="1097280"/>
          </a:xfrm>
          <a:prstGeom prst="rect">
            <a:avLst/>
          </a:prstGeom>
          <a:solidFill>
            <a:srgbClr val="003189"/>
          </a:solidFill>
          <a:ln/>
        </p:spPr>
        <p:txBody>
          <a:bodyPr/>
          <a:lstStyle/>
          <a:p>
            <a:endParaRPr lang="fr-FR"/>
          </a:p>
        </p:txBody>
      </p:sp>
      <p:sp>
        <p:nvSpPr>
          <p:cNvPr id="15" name="Text 12"/>
          <p:cNvSpPr/>
          <p:nvPr/>
        </p:nvSpPr>
        <p:spPr>
          <a:xfrm>
            <a:off x="512064" y="5367528"/>
            <a:ext cx="11201400" cy="969264"/>
          </a:xfrm>
          <a:prstGeom prst="rect">
            <a:avLst/>
          </a:prstGeom>
          <a:noFill/>
          <a:ln/>
        </p:spPr>
        <p:txBody>
          <a:bodyPr wrap="square" rtlCol="0" anchor="ctr"/>
          <a:lstStyle/>
          <a:p>
            <a:pPr marL="0" indent="0" algn="l">
              <a:buNone/>
            </a:pPr>
            <a:r>
              <a:rPr lang="en-US" sz="1100" i="1" dirty="0">
                <a:solidFill>
                  <a:srgbClr val="1C1C1C"/>
                </a:solidFill>
              </a:rPr>
              <a:t>Dès qu'un traitement doit être repris après incident et rejoué devant un tiers, il relève du workflow. Rien ici n'est une obligation juridique : le RGPD n'impose aucun outil ; l'accountability (art. 5.2) et le registre des traitements (art. 30) imposent de pouvoir rendre compte — parmi d'autres obligations (minimisation, sécurité art. 32). L'event log est un moyen commode, pas le seul.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Fil rouge · l'usine de lunettes de Morez</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Morez (Jura) = capitale historique de la lunetterie française · Vocabulaire d'un workflow, sans IA</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sp>
        <p:nvSpPr>
          <p:cNvPr id="6" name="Shape 4"/>
          <p:cNvSpPr/>
          <p:nvPr/>
        </p:nvSpPr>
        <p:spPr>
          <a:xfrm>
            <a:off x="365760" y="1261872"/>
            <a:ext cx="11430000" cy="1051560"/>
          </a:xfrm>
          <a:prstGeom prst="rect">
            <a:avLst/>
          </a:prstGeom>
          <a:solidFill>
            <a:srgbClr val="F2F4F8"/>
          </a:solidFill>
          <a:ln w="12700">
            <a:solidFill>
              <a:srgbClr val="CCCCCC"/>
            </a:solidFill>
            <a:prstDash val="solid"/>
          </a:ln>
        </p:spPr>
        <p:txBody>
          <a:bodyPr/>
          <a:lstStyle/>
          <a:p>
            <a:endParaRPr lang="fr-FR"/>
          </a:p>
        </p:txBody>
      </p:sp>
      <p:sp>
        <p:nvSpPr>
          <p:cNvPr id="7" name="Text 5"/>
          <p:cNvSpPr/>
          <p:nvPr/>
        </p:nvSpPr>
        <p:spPr>
          <a:xfrm>
            <a:off x="457200" y="1316736"/>
            <a:ext cx="11247120" cy="941832"/>
          </a:xfrm>
          <a:prstGeom prst="rect">
            <a:avLst/>
          </a:prstGeom>
          <a:noFill/>
          <a:ln/>
        </p:spPr>
        <p:txBody>
          <a:bodyPr wrap="square" rtlCol="0" anchor="t"/>
          <a:lstStyle/>
          <a:p>
            <a:pPr marL="0" indent="0" algn="l">
              <a:buNone/>
            </a:pPr>
            <a:r>
              <a:rPr lang="en-US" sz="850" dirty="0">
                <a:solidFill>
                  <a:srgbClr val="1C1C1C"/>
                </a:solidFill>
                <a:latin typeface="Courier New" pitchFamily="34" charset="0"/>
                <a:ea typeface="Courier New" pitchFamily="34" charset="-122"/>
                <a:cs typeface="Courier New" pitchFamily="34" charset="-120"/>
              </a:rPr>
              <a:t>commande ─► appro ─► fabrication ─► finition(premium) ─► assemblage ─► contrôle</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accept ─► arrêt humain (si posé) ─► expédition ─► métriques           │</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rework ─► retour en fabrication (UNE seule fois)  ◄────────────────────┘</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scrap  ─► rebut ─► métriques</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2450592"/>
          <a:ext cx="11430000" cy="1089660"/>
        </p:xfrm>
        <a:graphic>
          <a:graphicData uri="http://schemas.openxmlformats.org/drawingml/2006/table">
            <a:tbl>
              <a:tblPr/>
              <a:tblGrid>
                <a:gridCol w="20116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5760720">
                  <a:extLst>
                    <a:ext uri="{9D8B030D-6E8A-4147-A177-3AD203B41FA5}">
                      <a16:colId xmlns:a16="http://schemas.microsoft.com/office/drawing/2014/main" val="20004"/>
                    </a:ext>
                  </a:extLst>
                </a:gridCol>
              </a:tblGrid>
              <a:tr h="0">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Commande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Gamme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Qté</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Échéance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Ce qu'elle démontre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extLst>
                  <a:ext uri="{0D108BD9-81ED-4DB2-BD59-A6C34878D82A}">
                    <a16:rowId xmlns:a16="http://schemas.microsoft.com/office/drawing/2014/main" val="10000"/>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CMD-2026-001</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standard</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1C1C"/>
                          </a:solidFill>
                          <a:latin typeface="Calibri" pitchFamily="34" charset="0"/>
                          <a:ea typeface="Calibri" pitchFamily="34" charset="-122"/>
                          <a:cs typeface="Calibri" pitchFamily="34" charset="-120"/>
                        </a:rPr>
                        <a:t>300</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1C1C"/>
                          </a:solidFill>
                          <a:latin typeface="Calibri" pitchFamily="34" charset="0"/>
                          <a:ea typeface="Calibri" pitchFamily="34" charset="-122"/>
                          <a:cs typeface="Calibri" pitchFamily="34" charset="-120"/>
                        </a:rPr>
                        <a:t>40 j</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le chemin nominal, livré à temps</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CMD-2026-002</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premium</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ctr">
                        <a:buNone/>
                      </a:pPr>
                      <a:r>
                        <a:rPr lang="en-US" sz="950" dirty="0">
                          <a:solidFill>
                            <a:srgbClr val="1C1C1C"/>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ctr">
                        <a:buNone/>
                      </a:pPr>
                      <a:r>
                        <a:rPr lang="en-US" sz="950" dirty="0">
                          <a:solidFill>
                            <a:srgbClr val="1C1C1C"/>
                          </a:solidFill>
                          <a:latin typeface="Calibri" pitchFamily="34" charset="0"/>
                          <a:ea typeface="Calibri" pitchFamily="34" charset="-122"/>
                          <a:cs typeface="Calibri" pitchFamily="34" charset="-120"/>
                        </a:rPr>
                        <a:t>60 j</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branche premium + cycle : défaut réparé 1re passe, accepté 2e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2"/>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CMD-2026-003</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premium</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1C1C"/>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1C1C"/>
                          </a:solidFill>
                          <a:latin typeface="Calibri" pitchFamily="34" charset="0"/>
                          <a:ea typeface="Calibri" pitchFamily="34" charset="-122"/>
                          <a:cs typeface="Calibri" pitchFamily="34" charset="-120"/>
                        </a:rPr>
                        <a:t>30 j</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rebut (pièce irrécupérable) + arrêt humain (40 j appro &gt; 30 j)</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CMD-2026-004</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standard</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ctr">
                        <a:buNone/>
                      </a:pPr>
                      <a:r>
                        <a:rPr lang="en-US" sz="950" dirty="0">
                          <a:solidFill>
                            <a:srgbClr val="1C1C1C"/>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ctr">
                        <a:buNone/>
                      </a:pPr>
                      <a:r>
                        <a:rPr lang="en-US" sz="950" dirty="0">
                          <a:solidFill>
                            <a:srgbClr val="1C1C1C"/>
                          </a:solidFill>
                          <a:latin typeface="Calibri" pitchFamily="34" charset="0"/>
                          <a:ea typeface="Calibri" pitchFamily="34" charset="-122"/>
                          <a:cs typeface="Calibri" pitchFamily="34" charset="-120"/>
                        </a:rPr>
                        <a:t>10 j</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conforme mais en retard (20 j appro &gt; 10 j)</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4"/>
                  </a:ext>
                </a:extLst>
              </a:tr>
            </a:tbl>
          </a:graphicData>
        </a:graphic>
      </p:graphicFrame>
      <p:sp>
        <p:nvSpPr>
          <p:cNvPr id="9" name="Shape 6"/>
          <p:cNvSpPr/>
          <p:nvPr/>
        </p:nvSpPr>
        <p:spPr>
          <a:xfrm>
            <a:off x="365760" y="5303520"/>
            <a:ext cx="11430000" cy="1097280"/>
          </a:xfrm>
          <a:prstGeom prst="rect">
            <a:avLst/>
          </a:prstGeom>
          <a:solidFill>
            <a:srgbClr val="E8EDFF"/>
          </a:solidFill>
          <a:ln/>
        </p:spPr>
        <p:txBody>
          <a:bodyPr/>
          <a:lstStyle/>
          <a:p>
            <a:endParaRPr lang="fr-FR"/>
          </a:p>
        </p:txBody>
      </p:sp>
      <p:sp>
        <p:nvSpPr>
          <p:cNvPr id="10" name="Shape 7"/>
          <p:cNvSpPr/>
          <p:nvPr/>
        </p:nvSpPr>
        <p:spPr>
          <a:xfrm>
            <a:off x="365760" y="5303520"/>
            <a:ext cx="54864" cy="1097280"/>
          </a:xfrm>
          <a:prstGeom prst="rect">
            <a:avLst/>
          </a:prstGeom>
          <a:solidFill>
            <a:srgbClr val="003189"/>
          </a:solidFill>
          <a:ln/>
        </p:spPr>
        <p:txBody>
          <a:bodyPr/>
          <a:lstStyle/>
          <a:p>
            <a:endParaRPr lang="fr-FR"/>
          </a:p>
        </p:txBody>
      </p:sp>
      <p:sp>
        <p:nvSpPr>
          <p:cNvPr id="11" name="Text 8"/>
          <p:cNvSpPr/>
          <p:nvPr/>
        </p:nvSpPr>
        <p:spPr>
          <a:xfrm>
            <a:off x="512064" y="5367528"/>
            <a:ext cx="11201400" cy="969264"/>
          </a:xfrm>
          <a:prstGeom prst="rect">
            <a:avLst/>
          </a:prstGeom>
          <a:noFill/>
          <a:ln/>
        </p:spPr>
        <p:txBody>
          <a:bodyPr wrap="square" rtlCol="0" anchor="ctr"/>
          <a:lstStyle/>
          <a:p>
            <a:pPr marL="0" indent="0" algn="l">
              <a:buNone/>
            </a:pPr>
            <a:r>
              <a:rPr lang="en-US" sz="1100" i="1" dirty="0">
                <a:solidFill>
                  <a:srgbClr val="1C1C1C"/>
                </a:solidFill>
              </a:rPr>
              <a:t>Une seule reprise, pas trois : rework à la 1re passe, rebut à la 2e — borne écrite dans la règle métier ET dans la boucle. Aléa reproductible par contexte (commande, station, tentative) : le rejeu est démontrable, mais une reprise re-tire un aléa neuf. Même usine, deux moteurs : NB_T2a (Mistral Workflows), NB_T2b (LangGraph), tous deux important usine_lunettes.py — Python pur, zéro dépendance LLM.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Exécution durable · l'event log, et ce qu'il ne rejoue pas</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Event Sourcing (Fowler, 2005) · Idempotence = la condition, pas le bonus</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sp>
        <p:nvSpPr>
          <p:cNvPr id="6" name="Shape 4"/>
          <p:cNvSpPr/>
          <p:nvPr/>
        </p:nvSpPr>
        <p:spPr>
          <a:xfrm>
            <a:off x="365760" y="1261872"/>
            <a:ext cx="11430000" cy="1691640"/>
          </a:xfrm>
          <a:prstGeom prst="rect">
            <a:avLst/>
          </a:prstGeom>
          <a:solidFill>
            <a:srgbClr val="F2F4F8"/>
          </a:solidFill>
          <a:ln w="12700">
            <a:solidFill>
              <a:srgbClr val="CCCCCC"/>
            </a:solidFill>
            <a:prstDash val="solid"/>
          </a:ln>
        </p:spPr>
        <p:txBody>
          <a:bodyPr/>
          <a:lstStyle/>
          <a:p>
            <a:endParaRPr lang="fr-FR"/>
          </a:p>
        </p:txBody>
      </p:sp>
      <p:sp>
        <p:nvSpPr>
          <p:cNvPr id="7" name="Text 5"/>
          <p:cNvSpPr/>
          <p:nvPr/>
        </p:nvSpPr>
        <p:spPr>
          <a:xfrm>
            <a:off x="457200" y="1316736"/>
            <a:ext cx="11247120" cy="1581912"/>
          </a:xfrm>
          <a:prstGeom prst="rect">
            <a:avLst/>
          </a:prstGeom>
          <a:noFill/>
          <a:ln/>
        </p:spPr>
        <p:txBody>
          <a:bodyPr wrap="square" rtlCol="0" anchor="t"/>
          <a:lstStyle/>
          <a:p>
            <a:pPr marL="0" indent="0" algn="l">
              <a:buNone/>
            </a:pPr>
            <a:r>
              <a:rPr lang="en-US" sz="850" dirty="0">
                <a:solidFill>
                  <a:srgbClr val="1C1C1C"/>
                </a:solidFill>
                <a:latin typeface="Courier New" pitchFamily="34" charset="0"/>
                <a:ea typeface="Courier New" pitchFamily="34" charset="-122"/>
                <a:cs typeface="Courier New" pitchFamily="34" charset="-120"/>
              </a:rPr>
              <a:t>Event log (source de vérité immuable) :</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t=0    │ workflow.start   │ {commande: "CMD-2026-001", gamme: "standard"}</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t=12s  │ commande.OK      │ {ok: true, issues: []}</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t=45s  │ appro.OK         │ {delai_jours: 20}</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t=61s  │ fabrication ...  │ (en cours)</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 CRASH du worker ══════════════════════════════════════════</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t=+0   │ REJEU            │ commande et appro RELUS (non ré-exécutés)</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t=+14s │ fabrication.OK   │ {taux_rebut_pct: 3.2}</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t=+31s │ assemblage.OK    │ {ok: true}</a:t>
            </a:r>
            <a:endParaRPr lang="en-US" sz="850" dirty="0"/>
          </a:p>
        </p:txBody>
      </p:sp>
      <p:sp>
        <p:nvSpPr>
          <p:cNvPr id="8" name="Shape 6"/>
          <p:cNvSpPr/>
          <p:nvPr/>
        </p:nvSpPr>
        <p:spPr>
          <a:xfrm>
            <a:off x="365760" y="3108960"/>
            <a:ext cx="5577840" cy="2011680"/>
          </a:xfrm>
          <a:prstGeom prst="rect">
            <a:avLst/>
          </a:prstGeom>
          <a:solidFill>
            <a:srgbClr val="F0F4FF"/>
          </a:solidFill>
          <a:ln w="12700">
            <a:solidFill>
              <a:srgbClr val="BECDF0"/>
            </a:solidFill>
            <a:prstDash val="solid"/>
          </a:ln>
        </p:spPr>
        <p:txBody>
          <a:bodyPr/>
          <a:lstStyle/>
          <a:p>
            <a:endParaRPr lang="fr-FR"/>
          </a:p>
        </p:txBody>
      </p:sp>
      <p:sp>
        <p:nvSpPr>
          <p:cNvPr id="9" name="Text 7"/>
          <p:cNvSpPr/>
          <p:nvPr/>
        </p:nvSpPr>
        <p:spPr>
          <a:xfrm>
            <a:off x="502920" y="3154680"/>
            <a:ext cx="5303520" cy="201168"/>
          </a:xfrm>
          <a:prstGeom prst="rect">
            <a:avLst/>
          </a:prstGeom>
          <a:noFill/>
          <a:ln/>
        </p:spPr>
        <p:txBody>
          <a:bodyPr wrap="square" rtlCol="0" anchor="ctr"/>
          <a:lstStyle/>
          <a:p>
            <a:pPr marL="0" indent="0">
              <a:buNone/>
            </a:pPr>
            <a:r>
              <a:rPr lang="en-US" sz="1000" b="1" dirty="0">
                <a:solidFill>
                  <a:srgbClr val="003189"/>
                </a:solidFill>
              </a:rPr>
              <a:t>Idempotence : la condition du rejeu</a:t>
            </a:r>
            <a:endParaRPr lang="en-US" sz="1000" dirty="0"/>
          </a:p>
        </p:txBody>
      </p:sp>
      <p:sp>
        <p:nvSpPr>
          <p:cNvPr id="10" name="Text 8"/>
          <p:cNvSpPr/>
          <p:nvPr/>
        </p:nvSpPr>
        <p:spPr>
          <a:xfrm>
            <a:off x="502920" y="3355848"/>
            <a:ext cx="5303520" cy="1709928"/>
          </a:xfrm>
          <a:prstGeom prst="rect">
            <a:avLst/>
          </a:prstGeom>
          <a:noFill/>
          <a:ln/>
        </p:spPr>
        <p:txBody>
          <a:bodyPr wrap="square" rtlCol="0" anchor="ctr"/>
          <a:lstStyle/>
          <a:p>
            <a:pPr marL="0" indent="0">
              <a:lnSpc>
                <a:spcPct val="120000"/>
              </a:lnSpc>
              <a:buNone/>
            </a:pPr>
            <a:r>
              <a:rPr lang="en-US" sz="950" dirty="0">
                <a:solidFill>
                  <a:srgbClr val="1C1C1C"/>
                </a:solidFill>
              </a:rPr>
              <a:t>Une opération est idempotente si l'exécuter une fois ou dix produit le même état final. C'est ce qui rend le rejeu sûr : relancer une activité interrompue sans doublon, double débit ni double courrier.</a:t>
            </a:r>
            <a:endParaRPr lang="en-US" sz="950" dirty="0"/>
          </a:p>
          <a:p>
            <a:pPr marL="0" indent="0">
              <a:lnSpc>
                <a:spcPct val="120000"/>
              </a:lnSpc>
              <a:buNone/>
            </a:pPr>
            <a:endParaRPr lang="en-US" sz="950" dirty="0"/>
          </a:p>
          <a:p>
            <a:pPr marL="0" indent="0">
              <a:lnSpc>
                <a:spcPct val="120000"/>
              </a:lnSpc>
              <a:buNone/>
            </a:pPr>
            <a:r>
              <a:rPr lang="en-US" sz="950" dirty="0">
                <a:solidFill>
                  <a:srgbClr val="1C1C1C"/>
                </a:solidFill>
              </a:rPr>
              <a:t>Test en une ligne : appeler deux fois avec les mêmes arguments, comparer les retours. S'ils diffèrent, l'activité n'est pas rejouable, quel que soit le moteur.</a:t>
            </a:r>
            <a:endParaRPr lang="en-US" sz="950" dirty="0"/>
          </a:p>
        </p:txBody>
      </p:sp>
      <p:sp>
        <p:nvSpPr>
          <p:cNvPr id="11" name="Shape 9"/>
          <p:cNvSpPr/>
          <p:nvPr/>
        </p:nvSpPr>
        <p:spPr>
          <a:xfrm>
            <a:off x="6172200" y="3108960"/>
            <a:ext cx="5623560" cy="2011680"/>
          </a:xfrm>
          <a:prstGeom prst="rect">
            <a:avLst/>
          </a:prstGeom>
          <a:solidFill>
            <a:srgbClr val="F0F4FF"/>
          </a:solidFill>
          <a:ln w="12700">
            <a:solidFill>
              <a:srgbClr val="BECDF0"/>
            </a:solidFill>
            <a:prstDash val="solid"/>
          </a:ln>
        </p:spPr>
        <p:txBody>
          <a:bodyPr/>
          <a:lstStyle/>
          <a:p>
            <a:endParaRPr lang="fr-FR"/>
          </a:p>
        </p:txBody>
      </p:sp>
      <p:sp>
        <p:nvSpPr>
          <p:cNvPr id="12" name="Text 10"/>
          <p:cNvSpPr/>
          <p:nvPr/>
        </p:nvSpPr>
        <p:spPr>
          <a:xfrm>
            <a:off x="6309360" y="3154680"/>
            <a:ext cx="5349240" cy="201168"/>
          </a:xfrm>
          <a:prstGeom prst="rect">
            <a:avLst/>
          </a:prstGeom>
          <a:noFill/>
          <a:ln/>
        </p:spPr>
        <p:txBody>
          <a:bodyPr wrap="square" rtlCol="0" anchor="ctr"/>
          <a:lstStyle/>
          <a:p>
            <a:pPr marL="0" indent="0">
              <a:buNone/>
            </a:pPr>
            <a:r>
              <a:rPr lang="en-US" sz="1000" b="1" dirty="0">
                <a:solidFill>
                  <a:srgbClr val="003189"/>
                </a:solidFill>
              </a:rPr>
              <a:t>Les trois choses que le rejeu ne sauve pas</a:t>
            </a:r>
            <a:endParaRPr lang="en-US" sz="1000" dirty="0"/>
          </a:p>
        </p:txBody>
      </p:sp>
      <p:sp>
        <p:nvSpPr>
          <p:cNvPr id="13" name="Text 11"/>
          <p:cNvSpPr/>
          <p:nvPr/>
        </p:nvSpPr>
        <p:spPr>
          <a:xfrm>
            <a:off x="6309360" y="3355848"/>
            <a:ext cx="5349240" cy="1709928"/>
          </a:xfrm>
          <a:prstGeom prst="rect">
            <a:avLst/>
          </a:prstGeom>
          <a:noFill/>
          <a:ln/>
        </p:spPr>
        <p:txBody>
          <a:bodyPr wrap="square" rtlCol="0" anchor="ctr"/>
          <a:lstStyle/>
          <a:p>
            <a:pPr marL="0" indent="0">
              <a:lnSpc>
                <a:spcPct val="120000"/>
              </a:lnSpc>
              <a:buNone/>
            </a:pPr>
            <a:r>
              <a:rPr lang="en-US" sz="950" dirty="0">
                <a:solidFill>
                  <a:srgbClr val="1C1C1C"/>
                </a:solidFill>
              </a:rPr>
              <a:t>• Un effet de bord non idempotent (mail, débit sans clé) : le rejeu le refera.</a:t>
            </a:r>
            <a:endParaRPr lang="en-US" sz="950" dirty="0"/>
          </a:p>
          <a:p>
            <a:pPr marL="0" indent="0">
              <a:lnSpc>
                <a:spcPct val="120000"/>
              </a:lnSpc>
              <a:buNone/>
            </a:pPr>
            <a:r>
              <a:rPr lang="en-US" sz="950" dirty="0">
                <a:solidFill>
                  <a:srgbClr val="1C1C1C"/>
                </a:solidFill>
              </a:rPr>
              <a:t>• Un changement de code entre exécutions : insérer une étape au milieu d'un workflow lancé → erreur de non-déterminisme. D'où le versionnement des définitions.</a:t>
            </a:r>
            <a:endParaRPr lang="en-US" sz="950" dirty="0"/>
          </a:p>
          <a:p>
            <a:pPr marL="0" indent="0">
              <a:lnSpc>
                <a:spcPct val="120000"/>
              </a:lnSpc>
              <a:buNone/>
            </a:pPr>
            <a:r>
              <a:rPr lang="en-US" sz="950" dirty="0">
                <a:solidFill>
                  <a:srgbClr val="1C1C1C"/>
                </a:solidFill>
              </a:rPr>
              <a:t>• Le temps humain : 30 j de suspension ne se rejouent pas, ils ont été attendus.</a:t>
            </a:r>
            <a:endParaRPr lang="en-US" sz="950" dirty="0"/>
          </a:p>
        </p:txBody>
      </p:sp>
      <p:sp>
        <p:nvSpPr>
          <p:cNvPr id="14" name="Shape 12"/>
          <p:cNvSpPr/>
          <p:nvPr/>
        </p:nvSpPr>
        <p:spPr>
          <a:xfrm>
            <a:off x="365760" y="5303520"/>
            <a:ext cx="11430000" cy="1097280"/>
          </a:xfrm>
          <a:prstGeom prst="rect">
            <a:avLst/>
          </a:prstGeom>
          <a:solidFill>
            <a:srgbClr val="E8EDFF"/>
          </a:solidFill>
          <a:ln/>
        </p:spPr>
        <p:txBody>
          <a:bodyPr/>
          <a:lstStyle/>
          <a:p>
            <a:endParaRPr lang="fr-FR"/>
          </a:p>
        </p:txBody>
      </p:sp>
      <p:sp>
        <p:nvSpPr>
          <p:cNvPr id="15" name="Shape 13"/>
          <p:cNvSpPr/>
          <p:nvPr/>
        </p:nvSpPr>
        <p:spPr>
          <a:xfrm>
            <a:off x="365760" y="5303520"/>
            <a:ext cx="54864" cy="1097280"/>
          </a:xfrm>
          <a:prstGeom prst="rect">
            <a:avLst/>
          </a:prstGeom>
          <a:solidFill>
            <a:srgbClr val="003189"/>
          </a:solidFill>
          <a:ln/>
        </p:spPr>
        <p:txBody>
          <a:bodyPr/>
          <a:lstStyle/>
          <a:p>
            <a:endParaRPr lang="fr-FR"/>
          </a:p>
        </p:txBody>
      </p:sp>
      <p:sp>
        <p:nvSpPr>
          <p:cNvPr id="16" name="Text 14"/>
          <p:cNvSpPr/>
          <p:nvPr/>
        </p:nvSpPr>
        <p:spPr>
          <a:xfrm>
            <a:off x="512064" y="5367528"/>
            <a:ext cx="11201400" cy="969264"/>
          </a:xfrm>
          <a:prstGeom prst="rect">
            <a:avLst/>
          </a:prstGeom>
          <a:noFill/>
          <a:ln/>
        </p:spPr>
        <p:txBody>
          <a:bodyPr wrap="square" rtlCol="0" anchor="ctr"/>
          <a:lstStyle/>
          <a:p>
            <a:pPr marL="0" indent="0" algn="l">
              <a:buNone/>
            </a:pPr>
            <a:r>
              <a:rPr lang="en-US" sz="1100" i="1" dirty="0">
                <a:solidFill>
                  <a:srgbClr val="1C1C1C"/>
                </a:solidFill>
              </a:rPr>
              <a:t>L'exécution durable déplace le problème, elle ne le supprime pas. Le moteur garantit la reprise au bon endroit ; que la reprise soit sans dommage dépend de l'idempotence de chaque activité — et elle se teste.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Mistral Workflows · orchestrateur, activité, worker</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Temporal-powered (préversion publique, Studio avril 2026) · La frontière fait tous les pièges</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11430000" cy="1051560"/>
        </p:xfrm>
        <a:graphic>
          <a:graphicData uri="http://schemas.openxmlformats.org/drawingml/2006/table">
            <a:tbl>
              <a:tblPr/>
              <a:tblGrid>
                <a:gridCol w="164592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Concept</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Rôle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Code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Implication</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003189"/>
                          </a:solidFill>
                          <a:latin typeface="Calibri" pitchFamily="34" charset="0"/>
                          <a:ea typeface="Calibri" pitchFamily="34" charset="-122"/>
                          <a:cs typeface="Calibri" pitchFamily="34" charset="-120"/>
                        </a:rPr>
                        <a:t>Orchestrateur</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Décide l'ordre, rien d'autre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1C1C"/>
                          </a:solidFill>
                          <a:latin typeface="Courier New" pitchFamily="34" charset="0"/>
                          <a:ea typeface="Courier New" pitchFamily="34" charset="-122"/>
                          <a:cs typeface="Courier New" pitchFamily="34" charset="-120"/>
                        </a:rPr>
                        <a:t>@wf.workflow.define / entrypoint</a:t>
                      </a:r>
                      <a:endParaRPr lang="en-US" sz="80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Déterministe, sans effet de bord (rejoué en entier)</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003189"/>
                          </a:solidFill>
                          <a:latin typeface="Calibri" pitchFamily="34" charset="0"/>
                          <a:ea typeface="Calibri" pitchFamily="34" charset="-122"/>
                          <a:cs typeface="Calibri" pitchFamily="34" charset="-120"/>
                        </a:rPr>
                        <a:t>Activité</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Le travail réel : LLM, HTTP, base, fichiers</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800" dirty="0">
                          <a:solidFill>
                            <a:srgbClr val="1C1C1C"/>
                          </a:solidFill>
                          <a:latin typeface="Courier New" pitchFamily="34" charset="0"/>
                          <a:ea typeface="Courier New" pitchFamily="34" charset="-122"/>
                          <a:cs typeface="Courier New" pitchFamily="34" charset="-120"/>
                        </a:rPr>
                        <a:t>@wf.activity(...)</a:t>
                      </a:r>
                      <a:endParaRPr lang="en-US" sz="80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A le droit d'être non déterministe (journalisé une fois)</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003189"/>
                          </a:solidFill>
                          <a:latin typeface="Calibri" pitchFamily="34" charset="0"/>
                          <a:ea typeface="Calibri" pitchFamily="34" charset="-122"/>
                          <a:cs typeface="Calibri" pitchFamily="34" charset="-120"/>
                        </a:rPr>
                        <a:t>Worker</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Le processus qui exécute les activités</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1C1C"/>
                          </a:solidFill>
                          <a:latin typeface="Courier New" pitchFamily="34" charset="0"/>
                          <a:ea typeface="Courier New" pitchFamily="34" charset="-122"/>
                          <a:cs typeface="Courier New" pitchFamily="34" charset="-120"/>
                        </a:rPr>
                        <a:t>with wf.run_activities_locally()</a:t>
                      </a:r>
                      <a:endParaRPr lang="en-US" sz="80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Peut mourir sans emporter l'état : le log porte la vérité</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003189"/>
                          </a:solidFill>
                          <a:latin typeface="Calibri" pitchFamily="34" charset="0"/>
                          <a:ea typeface="Calibri" pitchFamily="34" charset="-122"/>
                          <a:cs typeface="Calibri" pitchFamily="34" charset="-120"/>
                        </a:rPr>
                        <a:t>Exécution</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Une instance : id, historique, résultat</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800" dirty="0">
                          <a:solidFill>
                            <a:srgbClr val="1C1C1C"/>
                          </a:solidFill>
                          <a:latin typeface="Courier New" pitchFamily="34" charset="0"/>
                          <a:ea typeface="Courier New" pitchFamily="34" charset="-122"/>
                          <a:cs typeface="Courier New" pitchFamily="34" charset="-120"/>
                        </a:rPr>
                        <a:t>await act_fabriquer(...)</a:t>
                      </a:r>
                      <a:endParaRPr lang="en-US" sz="80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S'appelle comme une fonction, passe par le moteur</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4"/>
                  </a:ext>
                </a:extLst>
              </a:tr>
            </a:tbl>
          </a:graphicData>
        </a:graphic>
      </p:graphicFrame>
      <p:sp>
        <p:nvSpPr>
          <p:cNvPr id="7" name="Shape 4"/>
          <p:cNvSpPr/>
          <p:nvPr/>
        </p:nvSpPr>
        <p:spPr>
          <a:xfrm>
            <a:off x="365760" y="4160520"/>
            <a:ext cx="5577840" cy="1051560"/>
          </a:xfrm>
          <a:prstGeom prst="rect">
            <a:avLst/>
          </a:prstGeom>
          <a:solidFill>
            <a:srgbClr val="F0F4FF"/>
          </a:solidFill>
          <a:ln w="12700">
            <a:solidFill>
              <a:srgbClr val="BECDF0"/>
            </a:solidFill>
            <a:prstDash val="solid"/>
          </a:ln>
        </p:spPr>
        <p:txBody>
          <a:bodyPr/>
          <a:lstStyle/>
          <a:p>
            <a:endParaRPr lang="fr-FR"/>
          </a:p>
        </p:txBody>
      </p:sp>
      <p:sp>
        <p:nvSpPr>
          <p:cNvPr id="8" name="Text 5"/>
          <p:cNvSpPr/>
          <p:nvPr/>
        </p:nvSpPr>
        <p:spPr>
          <a:xfrm>
            <a:off x="502920" y="4206240"/>
            <a:ext cx="5303520" cy="201168"/>
          </a:xfrm>
          <a:prstGeom prst="rect">
            <a:avLst/>
          </a:prstGeom>
          <a:noFill/>
          <a:ln/>
        </p:spPr>
        <p:txBody>
          <a:bodyPr wrap="square" rtlCol="0" anchor="ctr"/>
          <a:lstStyle/>
          <a:p>
            <a:pPr marL="0" indent="0">
              <a:buNone/>
            </a:pPr>
            <a:r>
              <a:rPr lang="en-US" sz="1000" b="1" dirty="0">
                <a:solidFill>
                  <a:srgbClr val="003189"/>
                </a:solidFill>
              </a:rPr>
              <a:t>Le piège des deux plafonds</a:t>
            </a:r>
            <a:endParaRPr lang="en-US" sz="1000" dirty="0"/>
          </a:p>
        </p:txBody>
      </p:sp>
      <p:sp>
        <p:nvSpPr>
          <p:cNvPr id="9" name="Text 6"/>
          <p:cNvSpPr/>
          <p:nvPr/>
        </p:nvSpPr>
        <p:spPr>
          <a:xfrm>
            <a:off x="502920" y="4407408"/>
            <a:ext cx="5303520" cy="749808"/>
          </a:xfrm>
          <a:prstGeom prst="rect">
            <a:avLst/>
          </a:prstGeom>
          <a:noFill/>
          <a:ln/>
        </p:spPr>
        <p:txBody>
          <a:bodyPr wrap="square" rtlCol="0" anchor="ctr"/>
          <a:lstStyle/>
          <a:p>
            <a:pPr marL="0" indent="0">
              <a:lnSpc>
                <a:spcPct val="120000"/>
              </a:lnSpc>
              <a:buNone/>
            </a:pPr>
            <a:r>
              <a:rPr lang="en-US" sz="950" dirty="0">
                <a:solidFill>
                  <a:srgbClr val="1C1C1C"/>
                </a:solidFill>
              </a:rPr>
              <a:t>start_to_close_timeout plafonne UNE activité. execution_timeout plafonne l'INSTANCE entière, pauses humaines comprises. Dans NB_T2a : production plafonnée à 2 h, attente humaine (30 j) dans un workflow séparé. Les réunir fait expirer l'arrêt humain — invisible à la relecture, seulement quand l'instance expire.</a:t>
            </a:r>
            <a:endParaRPr lang="en-US" sz="950" dirty="0"/>
          </a:p>
        </p:txBody>
      </p:sp>
      <p:sp>
        <p:nvSpPr>
          <p:cNvPr id="10" name="Shape 7"/>
          <p:cNvSpPr/>
          <p:nvPr/>
        </p:nvSpPr>
        <p:spPr>
          <a:xfrm>
            <a:off x="6172200" y="4160520"/>
            <a:ext cx="5623560" cy="1051560"/>
          </a:xfrm>
          <a:prstGeom prst="rect">
            <a:avLst/>
          </a:prstGeom>
          <a:solidFill>
            <a:srgbClr val="F0F4FF"/>
          </a:solidFill>
          <a:ln w="12700">
            <a:solidFill>
              <a:srgbClr val="BECDF0"/>
            </a:solidFill>
            <a:prstDash val="solid"/>
          </a:ln>
        </p:spPr>
        <p:txBody>
          <a:bodyPr/>
          <a:lstStyle/>
          <a:p>
            <a:endParaRPr lang="fr-FR"/>
          </a:p>
        </p:txBody>
      </p:sp>
      <p:sp>
        <p:nvSpPr>
          <p:cNvPr id="11" name="Text 8"/>
          <p:cNvSpPr/>
          <p:nvPr/>
        </p:nvSpPr>
        <p:spPr>
          <a:xfrm>
            <a:off x="6309360" y="4206240"/>
            <a:ext cx="5349240" cy="201168"/>
          </a:xfrm>
          <a:prstGeom prst="rect">
            <a:avLst/>
          </a:prstGeom>
          <a:noFill/>
          <a:ln/>
        </p:spPr>
        <p:txBody>
          <a:bodyPr wrap="square" rtlCol="0" anchor="ctr"/>
          <a:lstStyle/>
          <a:p>
            <a:pPr marL="0" indent="0">
              <a:buNone/>
            </a:pPr>
            <a:r>
              <a:rPr lang="en-US" sz="1000" b="1" dirty="0">
                <a:solidFill>
                  <a:srgbClr val="003189"/>
                </a:solidFill>
              </a:rPr>
              <a:t>État réel du notebook</a:t>
            </a:r>
            <a:endParaRPr lang="en-US" sz="1000" dirty="0"/>
          </a:p>
        </p:txBody>
      </p:sp>
      <p:sp>
        <p:nvSpPr>
          <p:cNvPr id="12" name="Text 9"/>
          <p:cNvSpPr/>
          <p:nvPr/>
        </p:nvSpPr>
        <p:spPr>
          <a:xfrm>
            <a:off x="6309360" y="4407408"/>
            <a:ext cx="5349240" cy="749808"/>
          </a:xfrm>
          <a:prstGeom prst="rect">
            <a:avLst/>
          </a:prstGeom>
          <a:noFill/>
          <a:ln/>
        </p:spPr>
        <p:txBody>
          <a:bodyPr wrap="square" rtlCol="0" anchor="ctr"/>
          <a:lstStyle/>
          <a:p>
            <a:pPr marL="0" indent="0">
              <a:lnSpc>
                <a:spcPct val="120000"/>
              </a:lnSpc>
              <a:buNone/>
            </a:pPr>
            <a:r>
              <a:rPr lang="en-US" sz="950" dirty="0">
                <a:solidFill>
                  <a:srgbClr val="1C1C1C"/>
                </a:solidFill>
              </a:rPr>
              <a:t>NB_T2a exécute vraiment les activités en local (run_activities_locally). L'orchestration complète demande un worker branché sur la plateforme : le notebook tente l'appel et explique l'échec au lieu de le masquer. La logique métier (usine_lunettes.py) ne demande ni réseau ni clé.</a:t>
            </a:r>
            <a:endParaRPr lang="en-US" sz="950" dirty="0"/>
          </a:p>
        </p:txBody>
      </p:sp>
      <p:sp>
        <p:nvSpPr>
          <p:cNvPr id="13" name="Shape 10"/>
          <p:cNvSpPr/>
          <p:nvPr/>
        </p:nvSpPr>
        <p:spPr>
          <a:xfrm>
            <a:off x="365760" y="5303520"/>
            <a:ext cx="11430000" cy="1097280"/>
          </a:xfrm>
          <a:prstGeom prst="rect">
            <a:avLst/>
          </a:prstGeom>
          <a:solidFill>
            <a:srgbClr val="E8EDFF"/>
          </a:solidFill>
          <a:ln/>
        </p:spPr>
        <p:txBody>
          <a:bodyPr/>
          <a:lstStyle/>
          <a:p>
            <a:endParaRPr lang="fr-FR"/>
          </a:p>
        </p:txBody>
      </p:sp>
      <p:sp>
        <p:nvSpPr>
          <p:cNvPr id="14" name="Shape 11"/>
          <p:cNvSpPr/>
          <p:nvPr/>
        </p:nvSpPr>
        <p:spPr>
          <a:xfrm>
            <a:off x="365760" y="5303520"/>
            <a:ext cx="54864" cy="1097280"/>
          </a:xfrm>
          <a:prstGeom prst="rect">
            <a:avLst/>
          </a:prstGeom>
          <a:solidFill>
            <a:srgbClr val="003189"/>
          </a:solidFill>
          <a:ln/>
        </p:spPr>
        <p:txBody>
          <a:bodyPr/>
          <a:lstStyle/>
          <a:p>
            <a:endParaRPr lang="fr-FR"/>
          </a:p>
        </p:txBody>
      </p:sp>
      <p:sp>
        <p:nvSpPr>
          <p:cNvPr id="15" name="Text 12"/>
          <p:cNvSpPr/>
          <p:nvPr/>
        </p:nvSpPr>
        <p:spPr>
          <a:xfrm>
            <a:off x="512064" y="5367528"/>
            <a:ext cx="11201400" cy="969264"/>
          </a:xfrm>
          <a:prstGeom prst="rect">
            <a:avLst/>
          </a:prstGeom>
          <a:noFill/>
          <a:ln/>
        </p:spPr>
        <p:txBody>
          <a:bodyPr wrap="square" rtlCol="0" anchor="ctr"/>
          <a:lstStyle/>
          <a:p>
            <a:pPr marL="0" indent="0" algn="l">
              <a:buNone/>
            </a:pPr>
            <a:r>
              <a:rPr lang="en-US" sz="1100" i="1" dirty="0">
                <a:solidFill>
                  <a:srgbClr val="1C1C1C"/>
                </a:solidFill>
              </a:rPr>
              <a:t>Mistral Workflows est bâti sur le moteur Temporal. SDK : paquet mistralai-workflows (PyPI, statut beta). Statut produit et documentation évoluent : vérifier docs.mistral.ai/studio/workflows à la date de la formation.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Anatomie d'une activité · la frontière déterministe</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Interdit dans l'orchestrateur · Substituts sûrs · Une activité = une unité de reprise</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sp>
        <p:nvSpPr>
          <p:cNvPr id="6" name="Shape 4"/>
          <p:cNvSpPr/>
          <p:nvPr/>
        </p:nvSpPr>
        <p:spPr>
          <a:xfrm>
            <a:off x="365760" y="1261872"/>
            <a:ext cx="5577840" cy="1965960"/>
          </a:xfrm>
          <a:prstGeom prst="rect">
            <a:avLst/>
          </a:prstGeom>
          <a:solidFill>
            <a:srgbClr val="FFF4F4"/>
          </a:solidFill>
          <a:ln w="12700">
            <a:solidFill>
              <a:srgbClr val="FFBCBC"/>
            </a:solidFill>
            <a:prstDash val="solid"/>
          </a:ln>
        </p:spPr>
        <p:txBody>
          <a:bodyPr/>
          <a:lstStyle/>
          <a:p>
            <a:endParaRPr lang="fr-FR"/>
          </a:p>
        </p:txBody>
      </p:sp>
      <p:sp>
        <p:nvSpPr>
          <p:cNvPr id="7" name="Text 5"/>
          <p:cNvSpPr/>
          <p:nvPr/>
        </p:nvSpPr>
        <p:spPr>
          <a:xfrm>
            <a:off x="502920" y="1307592"/>
            <a:ext cx="5303520" cy="201168"/>
          </a:xfrm>
          <a:prstGeom prst="rect">
            <a:avLst/>
          </a:prstGeom>
          <a:noFill/>
          <a:ln/>
        </p:spPr>
        <p:txBody>
          <a:bodyPr wrap="square" rtlCol="0" anchor="ctr"/>
          <a:lstStyle/>
          <a:p>
            <a:pPr marL="0" indent="0">
              <a:buNone/>
            </a:pPr>
            <a:r>
              <a:rPr lang="en-US" sz="1000" b="1" dirty="0">
                <a:solidFill>
                  <a:srgbClr val="003189"/>
                </a:solidFill>
              </a:rPr>
              <a:t>Interdit dans le corps du workflow</a:t>
            </a:r>
            <a:endParaRPr lang="en-US" sz="1000" dirty="0"/>
          </a:p>
        </p:txBody>
      </p:sp>
      <p:sp>
        <p:nvSpPr>
          <p:cNvPr id="8" name="Text 6"/>
          <p:cNvSpPr/>
          <p:nvPr/>
        </p:nvSpPr>
        <p:spPr>
          <a:xfrm>
            <a:off x="502920" y="1508760"/>
            <a:ext cx="5303520" cy="1664208"/>
          </a:xfrm>
          <a:prstGeom prst="rect">
            <a:avLst/>
          </a:prstGeom>
          <a:noFill/>
          <a:ln/>
        </p:spPr>
        <p:txBody>
          <a:bodyPr wrap="square" rtlCol="0" anchor="ctr"/>
          <a:lstStyle/>
          <a:p>
            <a:pPr marL="0" indent="0">
              <a:lnSpc>
                <a:spcPct val="120000"/>
              </a:lnSpc>
              <a:buNone/>
            </a:pPr>
            <a:r>
              <a:rPr lang="en-US" sz="950" dirty="0">
                <a:solidFill>
                  <a:srgbClr val="1C1C1C"/>
                </a:solidFill>
              </a:rPr>
              <a:t>• datetime.now() : heure réelle, différente à chaque rejeu</a:t>
            </a:r>
            <a:endParaRPr lang="en-US" sz="950" dirty="0"/>
          </a:p>
          <a:p>
            <a:pPr marL="0" indent="0">
              <a:lnSpc>
                <a:spcPct val="120000"/>
              </a:lnSpc>
              <a:buNone/>
            </a:pPr>
            <a:r>
              <a:rPr lang="en-US" sz="950" dirty="0">
                <a:solidFill>
                  <a:srgbClr val="1C1C1C"/>
                </a:solidFill>
              </a:rPr>
              <a:t>• random.random() : séquence non reproductible</a:t>
            </a:r>
            <a:endParaRPr lang="en-US" sz="950" dirty="0"/>
          </a:p>
          <a:p>
            <a:pPr marL="0" indent="0">
              <a:lnSpc>
                <a:spcPct val="120000"/>
              </a:lnSpc>
              <a:buNone/>
            </a:pPr>
            <a:r>
              <a:rPr lang="en-US" sz="950" dirty="0">
                <a:solidFill>
                  <a:srgbClr val="1C1C1C"/>
                </a:solidFill>
              </a:rPr>
              <a:t>• Appels HTTP, lectures fichiers, accès base : le résultat a pu changer</a:t>
            </a:r>
            <a:endParaRPr lang="en-US" sz="950" dirty="0"/>
          </a:p>
          <a:p>
            <a:pPr marL="0" indent="0">
              <a:lnSpc>
                <a:spcPct val="120000"/>
              </a:lnSpc>
              <a:buNone/>
            </a:pPr>
            <a:r>
              <a:rPr lang="en-US" sz="950" dirty="0">
                <a:solidFill>
                  <a:srgbClr val="1C1C1C"/>
                </a:solidFill>
              </a:rPr>
              <a:t>• Appels LLM directs : non déterministes par construction</a:t>
            </a:r>
            <a:endParaRPr lang="en-US" sz="950" dirty="0"/>
          </a:p>
          <a:p>
            <a:pPr marL="0" indent="0">
              <a:lnSpc>
                <a:spcPct val="120000"/>
              </a:lnSpc>
              <a:buNone/>
            </a:pPr>
            <a:endParaRPr lang="en-US" sz="950" dirty="0"/>
          </a:p>
          <a:p>
            <a:pPr marL="0" indent="0">
              <a:lnSpc>
                <a:spcPct val="120000"/>
              </a:lnSpc>
              <a:buNone/>
            </a:pPr>
            <a:r>
              <a:rPr lang="en-US" sz="950" dirty="0">
                <a:solidFill>
                  <a:srgbClr val="1C1C1C"/>
                </a:solidFill>
              </a:rPr>
              <a:t>Quatre catégories : le LLM est à part, tentant à appeler « juste pour décider ».</a:t>
            </a:r>
            <a:endParaRPr lang="en-US" sz="950" dirty="0"/>
          </a:p>
        </p:txBody>
      </p:sp>
      <p:sp>
        <p:nvSpPr>
          <p:cNvPr id="9" name="Shape 7"/>
          <p:cNvSpPr/>
          <p:nvPr/>
        </p:nvSpPr>
        <p:spPr>
          <a:xfrm>
            <a:off x="6172200" y="1261872"/>
            <a:ext cx="5623560" cy="1965960"/>
          </a:xfrm>
          <a:prstGeom prst="rect">
            <a:avLst/>
          </a:prstGeom>
          <a:solidFill>
            <a:srgbClr val="F0FFF4"/>
          </a:solidFill>
          <a:ln w="12700">
            <a:solidFill>
              <a:srgbClr val="A8DFB8"/>
            </a:solidFill>
            <a:prstDash val="solid"/>
          </a:ln>
        </p:spPr>
        <p:txBody>
          <a:bodyPr/>
          <a:lstStyle/>
          <a:p>
            <a:endParaRPr lang="fr-FR"/>
          </a:p>
        </p:txBody>
      </p:sp>
      <p:sp>
        <p:nvSpPr>
          <p:cNvPr id="10" name="Text 8"/>
          <p:cNvSpPr/>
          <p:nvPr/>
        </p:nvSpPr>
        <p:spPr>
          <a:xfrm>
            <a:off x="6309360" y="1307592"/>
            <a:ext cx="5349240" cy="201168"/>
          </a:xfrm>
          <a:prstGeom prst="rect">
            <a:avLst/>
          </a:prstGeom>
          <a:noFill/>
          <a:ln/>
        </p:spPr>
        <p:txBody>
          <a:bodyPr wrap="square" rtlCol="0" anchor="ctr"/>
          <a:lstStyle/>
          <a:p>
            <a:pPr marL="0" indent="0">
              <a:buNone/>
            </a:pPr>
            <a:r>
              <a:rPr lang="en-US" sz="1000" b="1" dirty="0">
                <a:solidFill>
                  <a:srgbClr val="003189"/>
                </a:solidFill>
              </a:rPr>
              <a:t>Substituts sûrs</a:t>
            </a:r>
            <a:endParaRPr lang="en-US" sz="1000" dirty="0"/>
          </a:p>
        </p:txBody>
      </p:sp>
      <p:sp>
        <p:nvSpPr>
          <p:cNvPr id="11" name="Text 9"/>
          <p:cNvSpPr/>
          <p:nvPr/>
        </p:nvSpPr>
        <p:spPr>
          <a:xfrm>
            <a:off x="6309360" y="1508760"/>
            <a:ext cx="5349240" cy="1664208"/>
          </a:xfrm>
          <a:prstGeom prst="rect">
            <a:avLst/>
          </a:prstGeom>
          <a:noFill/>
          <a:ln/>
        </p:spPr>
        <p:txBody>
          <a:bodyPr wrap="square" rtlCol="0" anchor="ctr"/>
          <a:lstStyle/>
          <a:p>
            <a:pPr marL="0" indent="0">
              <a:lnSpc>
                <a:spcPct val="120000"/>
              </a:lnSpc>
              <a:buNone/>
            </a:pPr>
            <a:r>
              <a:rPr lang="en-US" sz="950" dirty="0">
                <a:solidFill>
                  <a:srgbClr val="1C1C1C"/>
                </a:solidFill>
              </a:rPr>
              <a:t>• wf.workflow.now() : horloge déterministe, relue du log</a:t>
            </a:r>
            <a:endParaRPr lang="en-US" sz="950" dirty="0"/>
          </a:p>
          <a:p>
            <a:pPr marL="0" indent="0">
              <a:lnSpc>
                <a:spcPct val="120000"/>
              </a:lnSpc>
              <a:buNone/>
            </a:pPr>
            <a:r>
              <a:rPr lang="en-US" sz="950" dirty="0">
                <a:solidFill>
                  <a:srgbClr val="1C1C1C"/>
                </a:solidFill>
              </a:rPr>
              <a:t>• wf.workflow.random() : hasard reproductible</a:t>
            </a:r>
            <a:endParaRPr lang="en-US" sz="950" dirty="0"/>
          </a:p>
          <a:p>
            <a:pPr marL="0" indent="0">
              <a:lnSpc>
                <a:spcPct val="120000"/>
              </a:lnSpc>
              <a:buNone/>
            </a:pPr>
            <a:r>
              <a:rPr lang="en-US" sz="950" dirty="0">
                <a:solidFill>
                  <a:srgbClr val="1C1C1C"/>
                </a:solidFill>
              </a:rPr>
              <a:t>• Toute entrée-sortie passe dans une activité</a:t>
            </a:r>
            <a:endParaRPr lang="en-US" sz="950" dirty="0"/>
          </a:p>
          <a:p>
            <a:pPr marL="0" indent="0">
              <a:lnSpc>
                <a:spcPct val="120000"/>
              </a:lnSpc>
              <a:buNone/>
            </a:pPr>
            <a:r>
              <a:rPr lang="en-US" sz="950" dirty="0">
                <a:solidFill>
                  <a:srgbClr val="1C1C1C"/>
                </a:solidFill>
              </a:rPr>
              <a:t>• Tout appel LLM passe dans une activité, dont la branche consomme le résultat</a:t>
            </a:r>
            <a:endParaRPr lang="en-US" sz="950" dirty="0"/>
          </a:p>
          <a:p>
            <a:pPr marL="0" indent="0">
              <a:lnSpc>
                <a:spcPct val="120000"/>
              </a:lnSpc>
              <a:buNone/>
            </a:pPr>
            <a:endParaRPr lang="en-US" sz="950" dirty="0"/>
          </a:p>
          <a:p>
            <a:pPr marL="0" indent="0">
              <a:lnSpc>
                <a:spcPct val="120000"/>
              </a:lnSpc>
              <a:buNone/>
            </a:pPr>
            <a:r>
              <a:rPr lang="en-US" sz="950" dirty="0">
                <a:solidFill>
                  <a:srgbClr val="1C1C1C"/>
                </a:solidFill>
              </a:rPr>
              <a:t>Le moteur compare chaque opération à l'historique attendu : une divergence fait échouer le workflow.</a:t>
            </a:r>
            <a:endParaRPr lang="en-US" sz="950" dirty="0"/>
          </a:p>
        </p:txBody>
      </p:sp>
      <p:grpSp>
        <p:nvGrpSpPr>
          <p:cNvPr id="17" name="Group 16">
            <a:extLst>
              <a:ext uri="{FF2B5EF4-FFF2-40B4-BE49-F238E27FC236}">
                <a16:creationId xmlns:a16="http://schemas.microsoft.com/office/drawing/2014/main" id="{3A1C119C-2481-25EB-FAFB-F753F6737C33}"/>
              </a:ext>
            </a:extLst>
          </p:cNvPr>
          <p:cNvGrpSpPr/>
          <p:nvPr/>
        </p:nvGrpSpPr>
        <p:grpSpPr>
          <a:xfrm>
            <a:off x="365760" y="3337560"/>
            <a:ext cx="11430000" cy="1869948"/>
            <a:chOff x="365760" y="3337560"/>
            <a:chExt cx="11430000" cy="1508760"/>
          </a:xfrm>
        </p:grpSpPr>
        <p:sp>
          <p:nvSpPr>
            <p:cNvPr id="12" name="Shape 10"/>
            <p:cNvSpPr/>
            <p:nvPr/>
          </p:nvSpPr>
          <p:spPr>
            <a:xfrm>
              <a:off x="365760" y="3337560"/>
              <a:ext cx="11430000" cy="1508760"/>
            </a:xfrm>
            <a:prstGeom prst="rect">
              <a:avLst/>
            </a:prstGeom>
            <a:solidFill>
              <a:srgbClr val="F2F4F8"/>
            </a:solidFill>
            <a:ln w="12700">
              <a:solidFill>
                <a:srgbClr val="CCCCCC"/>
              </a:solidFill>
              <a:prstDash val="solid"/>
            </a:ln>
          </p:spPr>
          <p:txBody>
            <a:bodyPr/>
            <a:lstStyle/>
            <a:p>
              <a:endParaRPr lang="fr-FR"/>
            </a:p>
          </p:txBody>
        </p:sp>
        <p:sp>
          <p:nvSpPr>
            <p:cNvPr id="13" name="Text 11"/>
            <p:cNvSpPr/>
            <p:nvPr/>
          </p:nvSpPr>
          <p:spPr>
            <a:xfrm>
              <a:off x="457200" y="3392424"/>
              <a:ext cx="11247120" cy="1399032"/>
            </a:xfrm>
            <a:prstGeom prst="rect">
              <a:avLst/>
            </a:prstGeom>
            <a:noFill/>
            <a:ln/>
          </p:spPr>
          <p:txBody>
            <a:bodyPr wrap="square" rtlCol="0" anchor="t"/>
            <a:lstStyle/>
            <a:p>
              <a:pPr marL="0" indent="0" algn="l">
                <a:buNone/>
              </a:pPr>
              <a:r>
                <a:rPr lang="en-US" sz="800" dirty="0">
                  <a:solidFill>
                    <a:srgbClr val="1C1C1C"/>
                  </a:solidFill>
                  <a:latin typeface="Courier New" pitchFamily="34" charset="0"/>
                  <a:ea typeface="Courier New" pitchFamily="34" charset="-122"/>
                  <a:cs typeface="Courier New" pitchFamily="34" charset="-120"/>
                </a:rPr>
                <a:t>@wf.activity(name="fabriquer-avec-sla",</a:t>
              </a:r>
              <a:endParaRPr lang="en-US" sz="800" dirty="0"/>
            </a:p>
            <a:p>
              <a:pPr marL="0" indent="0" algn="l">
                <a:buNone/>
              </a:pPr>
              <a:r>
                <a:rPr lang="en-US" sz="800" dirty="0">
                  <a:solidFill>
                    <a:srgbClr val="1C1C1C"/>
                  </a:solidFill>
                  <a:latin typeface="Courier New" pitchFamily="34" charset="0"/>
                  <a:ea typeface="Courier New" pitchFamily="34" charset="-122"/>
                  <a:cs typeface="Courier New" pitchFamily="34" charset="-120"/>
                </a:rPr>
                <a:t>    start_to_close_timeout=timedelta(minutes=5),   # délai max d'UNE exécution</a:t>
              </a:r>
              <a:endParaRPr lang="en-US" sz="800" dirty="0"/>
            </a:p>
            <a:p>
              <a:pPr marL="0" indent="0" algn="l">
                <a:buNone/>
              </a:pPr>
              <a:r>
                <a:rPr lang="en-US" sz="800" dirty="0">
                  <a:solidFill>
                    <a:srgbClr val="1C1C1C"/>
                  </a:solidFill>
                  <a:latin typeface="Courier New" pitchFamily="34" charset="0"/>
                  <a:ea typeface="Courier New" pitchFamily="34" charset="-122"/>
                  <a:cs typeface="Courier New" pitchFamily="34" charset="-120"/>
                </a:rPr>
                <a:t>    retry_policy_max_attempts=3,                    # 1 tentative + 2 reprises</a:t>
              </a:r>
              <a:endParaRPr lang="en-US" sz="800" dirty="0"/>
            </a:p>
            <a:p>
              <a:pPr marL="0" indent="0" algn="l">
                <a:buNone/>
              </a:pPr>
              <a:r>
                <a:rPr lang="en-US" sz="800" dirty="0">
                  <a:solidFill>
                    <a:srgbClr val="1C1C1C"/>
                  </a:solidFill>
                  <a:latin typeface="Courier New" pitchFamily="34" charset="0"/>
                  <a:ea typeface="Courier New" pitchFamily="34" charset="-122"/>
                  <a:cs typeface="Courier New" pitchFamily="34" charset="-120"/>
                </a:rPr>
                <a:t>    retry_policy_backoff_coefficient=2.0,           # attentes : 1 s puis 2 s</a:t>
              </a:r>
              <a:endParaRPr lang="en-US" sz="800" dirty="0"/>
            </a:p>
            <a:p>
              <a:pPr marL="0" indent="0" algn="l">
                <a:buNone/>
              </a:pPr>
              <a:r>
                <a:rPr lang="en-US" sz="800" dirty="0">
                  <a:solidFill>
                    <a:srgbClr val="1C1C1C"/>
                  </a:solidFill>
                  <a:latin typeface="Courier New" pitchFamily="34" charset="0"/>
                  <a:ea typeface="Courier New" pitchFamily="34" charset="-122"/>
                  <a:cs typeface="Courier New" pitchFamily="34" charset="-120"/>
                </a:rPr>
                <a:t>    heartbeat_timeout=timedelta(seconds=60))        # pour les activités longues</a:t>
              </a:r>
              <a:endParaRPr lang="en-US" sz="800" dirty="0"/>
            </a:p>
            <a:p>
              <a:pPr marL="0" indent="0" algn="l">
                <a:buNone/>
              </a:pPr>
              <a:r>
                <a:rPr lang="en-US" sz="800" dirty="0">
                  <a:solidFill>
                    <a:srgbClr val="1C1C1C"/>
                  </a:solidFill>
                  <a:latin typeface="Courier New" pitchFamily="34" charset="0"/>
                  <a:ea typeface="Courier New" pitchFamily="34" charset="-122"/>
                  <a:cs typeface="Courier New" pitchFamily="34" charset="-120"/>
                </a:rPr>
                <a:t>async def act_fabriquer_sla(lot: dict) -&gt; dict: ...  # seul endroit pour LLM/API/fichier</a:t>
              </a:r>
              <a:endParaRPr lang="en-US" sz="800" dirty="0"/>
            </a:p>
            <a:p>
              <a:pPr marL="0" indent="0" algn="l">
                <a:buNone/>
              </a:pPr>
              <a:endParaRPr lang="en-US" sz="800" dirty="0"/>
            </a:p>
            <a:p>
              <a:pPr marL="0" indent="0" algn="l">
                <a:buNone/>
              </a:pPr>
              <a:r>
                <a:rPr lang="en-US" sz="800" dirty="0">
                  <a:solidFill>
                    <a:srgbClr val="1C1C1C"/>
                  </a:solidFill>
                  <a:latin typeface="Courier New" pitchFamily="34" charset="0"/>
                  <a:ea typeface="Courier New" pitchFamily="34" charset="-122"/>
                  <a:cs typeface="Courier New" pitchFamily="34" charset="-120"/>
                </a:rPr>
                <a:t>@wf.workflow.define(name="manufacture", execution_timeout=timedelta(hours=2))</a:t>
              </a:r>
              <a:endParaRPr lang="en-US" sz="800" dirty="0"/>
            </a:p>
            <a:p>
              <a:pPr marL="0" indent="0" algn="l">
                <a:buNone/>
              </a:pPr>
              <a:r>
                <a:rPr lang="en-US" sz="800" dirty="0">
                  <a:solidFill>
                    <a:srgbClr val="1C1C1C"/>
                  </a:solidFill>
                  <a:latin typeface="Courier New" pitchFamily="34" charset="0"/>
                  <a:ea typeface="Courier New" pitchFamily="34" charset="-122"/>
                  <a:cs typeface="Courier New" pitchFamily="34" charset="-120"/>
                </a:rPr>
                <a:t>class Manufacture:</a:t>
              </a:r>
              <a:endParaRPr lang="en-US" sz="800" dirty="0"/>
            </a:p>
            <a:p>
              <a:pPr marL="0" indent="0" algn="l">
                <a:buNone/>
              </a:pPr>
              <a:r>
                <a:rPr lang="en-US" sz="800" dirty="0">
                  <a:solidFill>
                    <a:srgbClr val="1C1C1C"/>
                  </a:solidFill>
                  <a:latin typeface="Courier New" pitchFamily="34" charset="0"/>
                  <a:ea typeface="Courier New" pitchFamily="34" charset="-122"/>
                  <a:cs typeface="Courier New" pitchFamily="34" charset="-120"/>
                </a:rPr>
                <a:t>    @wf.workflow.entrypoint</a:t>
              </a:r>
              <a:endParaRPr lang="en-US" sz="800" dirty="0"/>
            </a:p>
            <a:p>
              <a:pPr marL="0" indent="0" algn="l">
                <a:buNone/>
              </a:pPr>
              <a:r>
                <a:rPr lang="en-US" sz="800" dirty="0">
                  <a:solidFill>
                    <a:srgbClr val="1C1C1C"/>
                  </a:solidFill>
                  <a:latin typeface="Courier New" pitchFamily="34" charset="0"/>
                  <a:ea typeface="Courier New" pitchFamily="34" charset="-122"/>
                  <a:cs typeface="Courier New" pitchFamily="34" charset="-120"/>
                </a:rPr>
                <a:t>    async def run(self, params):        # aucune I/O ici : rejoué intégralement</a:t>
              </a:r>
              <a:endParaRPr lang="en-US" sz="800" dirty="0"/>
            </a:p>
            <a:p>
              <a:pPr marL="0" indent="0" algn="l">
                <a:buNone/>
              </a:pPr>
              <a:r>
                <a:rPr lang="en-US" sz="800" dirty="0">
                  <a:solidFill>
                    <a:srgbClr val="1C1C1C"/>
                  </a:solidFill>
                  <a:latin typeface="Courier New" pitchFamily="34" charset="0"/>
                  <a:ea typeface="Courier New" pitchFamily="34" charset="-122"/>
                  <a:cs typeface="Courier New" pitchFamily="34" charset="-120"/>
                </a:rPr>
                <a:t>        for tentative in range(2):      # 1 passe + 1 reprise : la borne du cycle</a:t>
              </a:r>
              <a:endParaRPr lang="en-US" sz="800" dirty="0"/>
            </a:p>
            <a:p>
              <a:pPr marL="0" indent="0" algn="l">
                <a:buNone/>
              </a:pPr>
              <a:r>
                <a:rPr lang="en-US" sz="800" dirty="0">
                  <a:solidFill>
                    <a:srgbClr val="1C1C1C"/>
                  </a:solidFill>
                  <a:latin typeface="Courier New" pitchFamily="34" charset="0"/>
                  <a:ea typeface="Courier New" pitchFamily="34" charset="-122"/>
                  <a:cs typeface="Courier New" pitchFamily="34" charset="-120"/>
                </a:rPr>
                <a:t>            res = await act_fabriquer_sla({"id": params.id_commande, "n": tentative})</a:t>
              </a:r>
              <a:endParaRPr lang="en-US" sz="800" dirty="0"/>
            </a:p>
          </p:txBody>
        </p:sp>
      </p:grpSp>
      <p:sp>
        <p:nvSpPr>
          <p:cNvPr id="14" name="Shape 12"/>
          <p:cNvSpPr/>
          <p:nvPr/>
        </p:nvSpPr>
        <p:spPr>
          <a:xfrm>
            <a:off x="365760" y="5303520"/>
            <a:ext cx="11430000" cy="1097280"/>
          </a:xfrm>
          <a:prstGeom prst="rect">
            <a:avLst/>
          </a:prstGeom>
          <a:solidFill>
            <a:srgbClr val="E8EDFF"/>
          </a:solidFill>
          <a:ln/>
        </p:spPr>
        <p:txBody>
          <a:bodyPr/>
          <a:lstStyle/>
          <a:p>
            <a:endParaRPr lang="fr-FR"/>
          </a:p>
        </p:txBody>
      </p:sp>
      <p:sp>
        <p:nvSpPr>
          <p:cNvPr id="15" name="Shape 13"/>
          <p:cNvSpPr/>
          <p:nvPr/>
        </p:nvSpPr>
        <p:spPr>
          <a:xfrm>
            <a:off x="365760" y="5303520"/>
            <a:ext cx="54864" cy="1097280"/>
          </a:xfrm>
          <a:prstGeom prst="rect">
            <a:avLst/>
          </a:prstGeom>
          <a:solidFill>
            <a:srgbClr val="003189"/>
          </a:solidFill>
          <a:ln/>
        </p:spPr>
        <p:txBody>
          <a:bodyPr/>
          <a:lstStyle/>
          <a:p>
            <a:endParaRPr lang="fr-FR"/>
          </a:p>
        </p:txBody>
      </p:sp>
      <p:sp>
        <p:nvSpPr>
          <p:cNvPr id="16" name="Text 14"/>
          <p:cNvSpPr/>
          <p:nvPr/>
        </p:nvSpPr>
        <p:spPr>
          <a:xfrm>
            <a:off x="512064" y="5367528"/>
            <a:ext cx="11201400" cy="969264"/>
          </a:xfrm>
          <a:prstGeom prst="rect">
            <a:avLst/>
          </a:prstGeom>
          <a:noFill/>
          <a:ln/>
        </p:spPr>
        <p:txBody>
          <a:bodyPr wrap="square" rtlCol="0" anchor="ctr"/>
          <a:lstStyle/>
          <a:p>
            <a:pPr marL="0" indent="0" algn="l">
              <a:buNone/>
            </a:pPr>
            <a:r>
              <a:rPr lang="en-US" sz="1100" i="1" dirty="0">
                <a:solidFill>
                  <a:srgbClr val="1C1C1C"/>
                </a:solidFill>
              </a:rPr>
              <a:t>Granularité : une activité = une unité de reprise. Regrouper appel API + traitement + écriture rejoue les trois au moindre échec. Une sous-activité imbriquée n'a pas de politique de reprise propre : pour lui en donner une, l'appeler depuis l'orchestrateur.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Fiabilité · quatre mécanismes, quatre pannes</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Trop lent · échoue vite · se fige sans échouer · échec définitif après des succès</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11430000" cy="1531620"/>
        </p:xfrm>
        <a:graphic>
          <a:graphicData uri="http://schemas.openxmlformats.org/drawingml/2006/table">
            <a:tbl>
              <a:tblPr/>
              <a:tblGrid>
                <a:gridCol w="21031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0">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Mécanisme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Panne traitée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Ne traite pas</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Le piège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extLst>
                  <a:ext uri="{0D108BD9-81ED-4DB2-BD59-A6C34878D82A}">
                    <a16:rowId xmlns:a16="http://schemas.microsoft.com/office/drawing/2014/main" val="10000"/>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Timeout</a:t>
                      </a:r>
                      <a:endParaRPr lang="en-US" sz="850" dirty="0">
                        <a:latin typeface="Calibri" charset="0"/>
                        <a:ea typeface="Calibri" charset="0"/>
                        <a:cs typeface="Calibri" charset="0"/>
                      </a:endParaRPr>
                    </a:p>
                    <a:p>
                      <a:pPr marL="0" indent="0" algn="l">
                        <a:buNone/>
                      </a:pPr>
                      <a:r>
                        <a:rPr lang="en-US" sz="850" b="1" dirty="0">
                          <a:solidFill>
                            <a:srgbClr val="003189"/>
                          </a:solidFill>
                          <a:latin typeface="Calibri" pitchFamily="34" charset="0"/>
                          <a:ea typeface="Calibri" pitchFamily="34" charset="-122"/>
                          <a:cs typeface="Calibri" pitchFamily="34" charset="-120"/>
                        </a:rPr>
                        <a:t>(start_to_close)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 trop lent » — plafonne UNE exécution</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La durée totale (execution_timeout)</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Trop court : une lenteur normale devient une série de reprises. Se calibre au pire centile.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Retry</a:t>
                      </a:r>
                      <a:endParaRPr lang="en-US" sz="850" dirty="0">
                        <a:latin typeface="Calibri" charset="0"/>
                        <a:ea typeface="Calibri" charset="0"/>
                        <a:cs typeface="Calibri" charset="0"/>
                      </a:endParaRPr>
                    </a:p>
                    <a:p>
                      <a:pPr marL="0" indent="0" algn="l">
                        <a:buNone/>
                      </a:pPr>
                      <a:r>
                        <a:rPr lang="en-US" sz="850" b="1" dirty="0">
                          <a:solidFill>
                            <a:srgbClr val="003189"/>
                          </a:solidFill>
                          <a:latin typeface="Calibri" pitchFamily="34" charset="0"/>
                          <a:ea typeface="Calibri" pitchFamily="34" charset="-122"/>
                          <a:cs typeface="Calibri" pitchFamily="34" charset="-120"/>
                        </a:rPr>
                        <a:t>(max_attempts, backoff)</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 échoue vite » — relance en espaçant</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Une erreur métier (3× la même erreur)</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max_attempts=3 = 1 tentative + 2 reprises = 2 attentes (1 s puis 2 s, intervalle initial 1 s par défaut). Le 4 s n'est jamais atteint.</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2"/>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Heartbeat</a:t>
                      </a:r>
                      <a:endParaRPr lang="en-US" sz="850" dirty="0">
                        <a:latin typeface="Calibri" charset="0"/>
                        <a:ea typeface="Calibri" charset="0"/>
                        <a:cs typeface="Calibri" charset="0"/>
                      </a:endParaRPr>
                    </a:p>
                    <a:p>
                      <a:pPr marL="0" indent="0" algn="l">
                        <a:buNone/>
                      </a:pPr>
                      <a:r>
                        <a:rPr lang="en-US" sz="850" b="1" dirty="0">
                          <a:solidFill>
                            <a:srgbClr val="003189"/>
                          </a:solidFill>
                          <a:latin typeface="Calibri" pitchFamily="34" charset="0"/>
                          <a:ea typeface="Calibri" pitchFamily="34" charset="-122"/>
                          <a:cs typeface="Calibri" pitchFamily="34" charset="-120"/>
                        </a:rPr>
                        <a:t>(heartbeat_timeout)</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 se fige sans échouer » — replanifie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Ce que le retry voit déjà (une exception)</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Déclarer sans ÉMETTRE de battement fait échouer à 60 s, systématiquement.</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Compensation</a:t>
                      </a:r>
                      <a:endParaRPr lang="en-US" sz="850" dirty="0">
                        <a:latin typeface="Calibri" charset="0"/>
                        <a:ea typeface="Calibri" charset="0"/>
                        <a:cs typeface="Calibri" charset="0"/>
                      </a:endParaRPr>
                    </a:p>
                    <a:p>
                      <a:pPr marL="0" indent="0" algn="l">
                        <a:buNone/>
                      </a:pPr>
                      <a:r>
                        <a:rPr lang="en-US" sz="850" b="1" dirty="0">
                          <a:solidFill>
                            <a:srgbClr val="003189"/>
                          </a:solidFill>
                          <a:latin typeface="Calibri" pitchFamily="34" charset="0"/>
                          <a:ea typeface="Calibri" pitchFamily="34" charset="-122"/>
                          <a:cs typeface="Calibri" pitchFamily="34" charset="-120"/>
                        </a:rPr>
                        <a:t>(pattern Saga)</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 échec définitif après des succès » — action inverse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Un rollback transactionnel (rien n'est annulé par le moteur)</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Certaines étapes n'ont pas d'inverse (un courrier parti). Se conçoit, ne se détecte pas.</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4"/>
                  </a:ext>
                </a:extLst>
              </a:tr>
            </a:tbl>
          </a:graphicData>
        </a:graphic>
      </p:graphicFrame>
      <p:sp>
        <p:nvSpPr>
          <p:cNvPr id="7" name="Shape 4"/>
          <p:cNvSpPr/>
          <p:nvPr/>
        </p:nvSpPr>
        <p:spPr>
          <a:xfrm>
            <a:off x="365760" y="5303520"/>
            <a:ext cx="11430000" cy="1097280"/>
          </a:xfrm>
          <a:prstGeom prst="rect">
            <a:avLst/>
          </a:prstGeom>
          <a:solidFill>
            <a:srgbClr val="E8EDFF"/>
          </a:solidFill>
          <a:ln/>
        </p:spPr>
        <p:txBody>
          <a:bodyPr/>
          <a:lstStyle/>
          <a:p>
            <a:endParaRPr lang="fr-FR"/>
          </a:p>
        </p:txBody>
      </p:sp>
      <p:sp>
        <p:nvSpPr>
          <p:cNvPr id="6" name="Shape 5"/>
          <p:cNvSpPr/>
          <p:nvPr/>
        </p:nvSpPr>
        <p:spPr>
          <a:xfrm>
            <a:off x="365760" y="5303520"/>
            <a:ext cx="54864" cy="1097280"/>
          </a:xfrm>
          <a:prstGeom prst="rect">
            <a:avLst/>
          </a:prstGeom>
          <a:solidFill>
            <a:srgbClr val="003189"/>
          </a:solidFill>
          <a:ln/>
        </p:spPr>
        <p:txBody>
          <a:bodyPr/>
          <a:lstStyle/>
          <a:p>
            <a:endParaRPr lang="fr-FR"/>
          </a:p>
        </p:txBody>
      </p:sp>
      <p:sp>
        <p:nvSpPr>
          <p:cNvPr id="9" name="Text 6"/>
          <p:cNvSpPr/>
          <p:nvPr/>
        </p:nvSpPr>
        <p:spPr>
          <a:xfrm>
            <a:off x="512064" y="5367528"/>
            <a:ext cx="11201400" cy="969264"/>
          </a:xfrm>
          <a:prstGeom prst="rect">
            <a:avLst/>
          </a:prstGeom>
          <a:noFill/>
          <a:ln/>
        </p:spPr>
        <p:txBody>
          <a:bodyPr wrap="square" rtlCol="0" anchor="ctr"/>
          <a:lstStyle/>
          <a:p>
            <a:pPr marL="0" indent="0" algn="l">
              <a:buNone/>
            </a:pPr>
            <a:r>
              <a:rPr lang="en-US" sz="1100" i="1" dirty="0">
                <a:solidFill>
                  <a:srgbClr val="1C1C1C"/>
                </a:solidFill>
              </a:rPr>
              <a:t>L'ordre de lecture est celui de la panne. Dans NB_T2a, une seule activité porte les trois premiers ; la compensation (Garcia-Molina &amp; Salem, 1987) est absente des deux notebooks — l'usine met au rebut sans rien défaire à l'extérieur. Un dispositif de fiabilité se calibre étape par étape, il ne se déploie pas uniformément.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Topologie · séquence, branche, cycle, point d'arrêt</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Quatre figures couvrent presque tout processus métier · La topologie est un livrable</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11430000" cy="1463040"/>
        </p:xfrm>
        <a:graphic>
          <a:graphicData uri="http://schemas.openxmlformats.org/drawingml/2006/table">
            <a:tbl>
              <a:tblPr/>
              <a:tblGrid>
                <a:gridCol w="18288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Figure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Forme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Quand</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Le piège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003189"/>
                          </a:solidFill>
                          <a:latin typeface="Calibri" pitchFamily="34" charset="0"/>
                          <a:ea typeface="Calibri" pitchFamily="34" charset="-122"/>
                          <a:cs typeface="Calibri" pitchFamily="34" charset="-120"/>
                        </a:rPr>
                        <a:t>1 · Séquence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A → B → C, enchaînement fixe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L'ordre est une contrainte métier</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Dix étapes dans une seule activité = une étape (une seule reprise)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003189"/>
                          </a:solidFill>
                          <a:latin typeface="Calibri" pitchFamily="34" charset="0"/>
                          <a:ea typeface="Calibri" pitchFamily="34" charset="-122"/>
                          <a:cs typeface="Calibri" pitchFamily="34" charset="-120"/>
                        </a:rPr>
                        <a:t>2 · Branche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Chemin selon l'état ; routage PUR (pas de LLM)</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Le chemin dépend d'une donnée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Valeur absente du mapping → échec à l'exécution, pas à la compilation</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003189"/>
                          </a:solidFill>
                          <a:latin typeface="Calibri" pitchFamily="34" charset="0"/>
                          <a:ea typeface="Calibri" pitchFamily="34" charset="-122"/>
                          <a:cs typeface="Calibri" pitchFamily="34" charset="-120"/>
                        </a:rPr>
                        <a:t>3 · Cycle borné</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Retour arrière plafonné (1 reprise puis rebut)</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Reprise possible mais limitée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Cycle LangGraph sans compteur dans l'état → tourne jusqu'à la limite de récursion</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003189"/>
                          </a:solidFill>
                          <a:latin typeface="Calibri" pitchFamily="34" charset="0"/>
                          <a:ea typeface="Calibri" pitchFamily="34" charset="-122"/>
                          <a:cs typeface="Calibri" pitchFamily="34" charset="-120"/>
                        </a:rPr>
                        <a:t>4 · Arrêt humain</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Suspension, garde l'état, attend une décision</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Décision qui engage / non réductible à une règle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Seule figure dont la durée ne dépend pas de vous : tout ce qui la borne s'écrit à l'avance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4"/>
                  </a:ext>
                </a:extLst>
              </a:tr>
            </a:tbl>
          </a:graphicData>
        </a:graphic>
      </p:graphicFrame>
      <p:sp>
        <p:nvSpPr>
          <p:cNvPr id="7" name="Shape 4"/>
          <p:cNvSpPr/>
          <p:nvPr/>
        </p:nvSpPr>
        <p:spPr>
          <a:xfrm>
            <a:off x="365760" y="5303520"/>
            <a:ext cx="11430000" cy="1097280"/>
          </a:xfrm>
          <a:prstGeom prst="rect">
            <a:avLst/>
          </a:prstGeom>
          <a:solidFill>
            <a:srgbClr val="E8EDFF"/>
          </a:solidFill>
          <a:ln/>
        </p:spPr>
        <p:txBody>
          <a:bodyPr/>
          <a:lstStyle/>
          <a:p>
            <a:endParaRPr lang="fr-FR"/>
          </a:p>
        </p:txBody>
      </p:sp>
      <p:sp>
        <p:nvSpPr>
          <p:cNvPr id="8" name="Shape 5"/>
          <p:cNvSpPr/>
          <p:nvPr/>
        </p:nvSpPr>
        <p:spPr>
          <a:xfrm>
            <a:off x="365760" y="5303520"/>
            <a:ext cx="54864" cy="1097280"/>
          </a:xfrm>
          <a:prstGeom prst="rect">
            <a:avLst/>
          </a:prstGeom>
          <a:solidFill>
            <a:srgbClr val="003189"/>
          </a:solidFill>
          <a:ln/>
        </p:spPr>
        <p:txBody>
          <a:bodyPr/>
          <a:lstStyle/>
          <a:p>
            <a:endParaRPr lang="fr-FR"/>
          </a:p>
        </p:txBody>
      </p:sp>
      <p:sp>
        <p:nvSpPr>
          <p:cNvPr id="6" name="Text 6"/>
          <p:cNvSpPr/>
          <p:nvPr/>
        </p:nvSpPr>
        <p:spPr>
          <a:xfrm>
            <a:off x="512064" y="5367528"/>
            <a:ext cx="11201400" cy="969264"/>
          </a:xfrm>
          <a:prstGeom prst="rect">
            <a:avLst/>
          </a:prstGeom>
          <a:noFill/>
          <a:ln/>
        </p:spPr>
        <p:txBody>
          <a:bodyPr wrap="square" rtlCol="0" anchor="ctr"/>
          <a:lstStyle/>
          <a:p>
            <a:pPr marL="0" indent="0" algn="l">
              <a:buNone/>
            </a:pPr>
            <a:r>
              <a:rPr lang="en-US" sz="1100" i="1" dirty="0">
                <a:solidFill>
                  <a:srgbClr val="1C1C1C"/>
                </a:solidFill>
              </a:rPr>
              <a:t>La borne du cycle n'est pas au même endroit selon le moteur : chez Mistral dans l'orchestrateur (boucle de tentatives), chez LangGraph dans la règle métier (compteur dans l'état, car la topologie contient un vrai cycle). La topologie se dessine avant le code et se fait relire par le métier : c'est la partie du système qu'on valide sans parler d'IA.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HITL · suspendre sans perdre l'état</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Décision + auteur + horodatage dans le même historique · Le timeout est la décision par défaut</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sp>
        <p:nvSpPr>
          <p:cNvPr id="6" name="Shape 4"/>
          <p:cNvSpPr/>
          <p:nvPr/>
        </p:nvSpPr>
        <p:spPr>
          <a:xfrm>
            <a:off x="365760" y="1261872"/>
            <a:ext cx="5577840" cy="2011680"/>
          </a:xfrm>
          <a:prstGeom prst="rect">
            <a:avLst/>
          </a:prstGeom>
          <a:solidFill>
            <a:srgbClr val="F0F4FF"/>
          </a:solidFill>
          <a:ln w="12700">
            <a:solidFill>
              <a:srgbClr val="BECDF0"/>
            </a:solidFill>
            <a:prstDash val="solid"/>
          </a:ln>
        </p:spPr>
        <p:txBody>
          <a:bodyPr/>
          <a:lstStyle/>
          <a:p>
            <a:endParaRPr lang="fr-FR"/>
          </a:p>
        </p:txBody>
      </p:sp>
      <p:sp>
        <p:nvSpPr>
          <p:cNvPr id="7" name="Text 5"/>
          <p:cNvSpPr/>
          <p:nvPr/>
        </p:nvSpPr>
        <p:spPr>
          <a:xfrm>
            <a:off x="502920" y="1307592"/>
            <a:ext cx="5303520" cy="201168"/>
          </a:xfrm>
          <a:prstGeom prst="rect">
            <a:avLst/>
          </a:prstGeom>
          <a:noFill/>
          <a:ln/>
        </p:spPr>
        <p:txBody>
          <a:bodyPr wrap="square" rtlCol="0" anchor="ctr"/>
          <a:lstStyle/>
          <a:p>
            <a:pPr marL="0" indent="0">
              <a:buNone/>
            </a:pPr>
            <a:r>
              <a:rPr lang="en-US" sz="1000" b="1" dirty="0">
                <a:solidFill>
                  <a:srgbClr val="003189"/>
                </a:solidFill>
              </a:rPr>
              <a:t>Mistral Workflows</a:t>
            </a:r>
            <a:endParaRPr lang="en-US" sz="1000" dirty="0"/>
          </a:p>
        </p:txBody>
      </p:sp>
      <p:sp>
        <p:nvSpPr>
          <p:cNvPr id="8" name="Text 6"/>
          <p:cNvSpPr/>
          <p:nvPr/>
        </p:nvSpPr>
        <p:spPr>
          <a:xfrm>
            <a:off x="502920" y="1508760"/>
            <a:ext cx="5303520" cy="1709928"/>
          </a:xfrm>
          <a:prstGeom prst="rect">
            <a:avLst/>
          </a:prstGeom>
          <a:noFill/>
          <a:ln/>
        </p:spPr>
        <p:txBody>
          <a:bodyPr wrap="square" rtlCol="0" anchor="ctr"/>
          <a:lstStyle/>
          <a:p>
            <a:pPr marL="0" indent="0">
              <a:lnSpc>
                <a:spcPct val="120000"/>
              </a:lnSpc>
              <a:buNone/>
            </a:pPr>
            <a:r>
              <a:rPr lang="en-US" sz="950" dirty="0">
                <a:solidFill>
                  <a:srgbClr val="1C1C1C"/>
                </a:solidFill>
              </a:rPr>
              <a:t>La classe hérite de wf.InteractiveWorkflow. Suspension = attente ordinaire :</a:t>
            </a:r>
            <a:endParaRPr lang="en-US" sz="950" dirty="0"/>
          </a:p>
          <a:p>
            <a:pPr marL="0" indent="0">
              <a:lnSpc>
                <a:spcPct val="120000"/>
              </a:lnSpc>
              <a:buNone/>
            </a:pPr>
            <a:r>
              <a:rPr lang="en-US" sz="950" dirty="0">
                <a:solidFill>
                  <a:srgbClr val="1C1C1C"/>
                </a:solidFill>
              </a:rPr>
              <a:t>await self.wait_for_input(prompt, timeout=timedelta(days=30))</a:t>
            </a:r>
            <a:endParaRPr lang="en-US" sz="950" dirty="0"/>
          </a:p>
          <a:p>
            <a:pPr marL="0" indent="0">
              <a:lnSpc>
                <a:spcPct val="120000"/>
              </a:lnSpc>
              <a:buNone/>
            </a:pPr>
            <a:endParaRPr lang="en-US" sz="950" dirty="0"/>
          </a:p>
          <a:p>
            <a:pPr marL="0" indent="0">
              <a:lnSpc>
                <a:spcPct val="120000"/>
              </a:lnSpc>
              <a:buNone/>
            </a:pPr>
            <a:r>
              <a:rPr lang="en-US" sz="950" dirty="0">
                <a:solidFill>
                  <a:srgbClr val="1C1C1C"/>
                </a:solidFill>
              </a:rPr>
              <a:t>Trois primitives : wait_for_input (suspend et attend), query (lit l'état sans le modifier), signal (notifie sans attendre). Ce trio rend un dossier interrogeable pendant sa suspension → un écran « où en est ma demande ».</a:t>
            </a:r>
            <a:endParaRPr lang="en-US" sz="950" dirty="0"/>
          </a:p>
        </p:txBody>
      </p:sp>
      <p:sp>
        <p:nvSpPr>
          <p:cNvPr id="9" name="Shape 7"/>
          <p:cNvSpPr/>
          <p:nvPr/>
        </p:nvSpPr>
        <p:spPr>
          <a:xfrm>
            <a:off x="6172200" y="1261872"/>
            <a:ext cx="5623560" cy="2011680"/>
          </a:xfrm>
          <a:prstGeom prst="rect">
            <a:avLst/>
          </a:prstGeom>
          <a:solidFill>
            <a:srgbClr val="F0F4FF"/>
          </a:solidFill>
          <a:ln w="12700">
            <a:solidFill>
              <a:srgbClr val="BECDF0"/>
            </a:solidFill>
            <a:prstDash val="solid"/>
          </a:ln>
        </p:spPr>
        <p:txBody>
          <a:bodyPr/>
          <a:lstStyle/>
          <a:p>
            <a:endParaRPr lang="fr-FR"/>
          </a:p>
        </p:txBody>
      </p:sp>
      <p:sp>
        <p:nvSpPr>
          <p:cNvPr id="10" name="Text 8"/>
          <p:cNvSpPr/>
          <p:nvPr/>
        </p:nvSpPr>
        <p:spPr>
          <a:xfrm>
            <a:off x="6309360" y="1307592"/>
            <a:ext cx="5349240" cy="201168"/>
          </a:xfrm>
          <a:prstGeom prst="rect">
            <a:avLst/>
          </a:prstGeom>
          <a:noFill/>
          <a:ln/>
        </p:spPr>
        <p:txBody>
          <a:bodyPr wrap="square" rtlCol="0" anchor="ctr"/>
          <a:lstStyle/>
          <a:p>
            <a:pPr marL="0" indent="0">
              <a:buNone/>
            </a:pPr>
            <a:r>
              <a:rPr lang="en-US" sz="1000" b="1" dirty="0">
                <a:solidFill>
                  <a:srgbClr val="003189"/>
                </a:solidFill>
              </a:rPr>
              <a:t>LangGraph</a:t>
            </a:r>
            <a:endParaRPr lang="en-US" sz="1000" dirty="0"/>
          </a:p>
        </p:txBody>
      </p:sp>
      <p:sp>
        <p:nvSpPr>
          <p:cNvPr id="11" name="Text 9"/>
          <p:cNvSpPr/>
          <p:nvPr/>
        </p:nvSpPr>
        <p:spPr>
          <a:xfrm>
            <a:off x="6309360" y="1508760"/>
            <a:ext cx="5349240" cy="1709928"/>
          </a:xfrm>
          <a:prstGeom prst="rect">
            <a:avLst/>
          </a:prstGeom>
          <a:noFill/>
          <a:ln/>
        </p:spPr>
        <p:txBody>
          <a:bodyPr wrap="square" rtlCol="0" anchor="ctr"/>
          <a:lstStyle/>
          <a:p>
            <a:pPr marL="0" indent="0">
              <a:lnSpc>
                <a:spcPct val="120000"/>
              </a:lnSpc>
              <a:buNone/>
            </a:pPr>
            <a:r>
              <a:rPr lang="en-US" sz="950" dirty="0">
                <a:solidFill>
                  <a:srgbClr val="1C1C1C"/>
                </a:solidFill>
              </a:rPr>
              <a:t>interrupt({...}) dans un nœud suspend le graphe. La reprise transmet la réponse par Command(resume=valeur), sur le MÊME thread_id.</a:t>
            </a:r>
            <a:endParaRPr lang="en-US" sz="950" dirty="0"/>
          </a:p>
          <a:p>
            <a:pPr marL="0" indent="0">
              <a:lnSpc>
                <a:spcPct val="120000"/>
              </a:lnSpc>
              <a:buNone/>
            </a:pPr>
            <a:endParaRPr lang="en-US" sz="950" dirty="0"/>
          </a:p>
          <a:p>
            <a:pPr marL="0" indent="0">
              <a:lnSpc>
                <a:spcPct val="120000"/>
              </a:lnSpc>
              <a:buNone/>
            </a:pPr>
            <a:r>
              <a:rPr lang="en-US" sz="950" dirty="0">
                <a:solidFill>
                  <a:srgbClr val="1C1C1C"/>
                </a:solidFill>
              </a:rPr>
              <a:t>interrupt exige un checkpointer : sans lui, aucun endroit où reprendre. Les trois éléments sont solidaires — et c'est là que les démos trompent, car en mémoire tout marche dans la même session.</a:t>
            </a:r>
            <a:endParaRPr lang="en-US" sz="950" dirty="0"/>
          </a:p>
        </p:txBody>
      </p:sp>
      <p:sp>
        <p:nvSpPr>
          <p:cNvPr id="12" name="Shape 10"/>
          <p:cNvSpPr/>
          <p:nvPr/>
        </p:nvSpPr>
        <p:spPr>
          <a:xfrm>
            <a:off x="365760" y="3383280"/>
            <a:ext cx="5577840" cy="1737360"/>
          </a:xfrm>
          <a:prstGeom prst="rect">
            <a:avLst/>
          </a:prstGeom>
          <a:solidFill>
            <a:srgbClr val="F0F4FF"/>
          </a:solidFill>
          <a:ln w="12700">
            <a:solidFill>
              <a:srgbClr val="BECDF0"/>
            </a:solidFill>
            <a:prstDash val="solid"/>
          </a:ln>
        </p:spPr>
        <p:txBody>
          <a:bodyPr/>
          <a:lstStyle/>
          <a:p>
            <a:endParaRPr lang="fr-FR"/>
          </a:p>
        </p:txBody>
      </p:sp>
      <p:sp>
        <p:nvSpPr>
          <p:cNvPr id="13" name="Text 11"/>
          <p:cNvSpPr/>
          <p:nvPr/>
        </p:nvSpPr>
        <p:spPr>
          <a:xfrm>
            <a:off x="502920" y="3429000"/>
            <a:ext cx="5303520" cy="201168"/>
          </a:xfrm>
          <a:prstGeom prst="rect">
            <a:avLst/>
          </a:prstGeom>
          <a:noFill/>
          <a:ln/>
        </p:spPr>
        <p:txBody>
          <a:bodyPr wrap="square" rtlCol="0" anchor="ctr"/>
          <a:lstStyle/>
          <a:p>
            <a:pPr marL="0" indent="0">
              <a:buNone/>
            </a:pPr>
            <a:r>
              <a:rPr lang="en-US" sz="1000" b="1" dirty="0">
                <a:solidFill>
                  <a:srgbClr val="003189"/>
                </a:solidFill>
              </a:rPr>
              <a:t>Le timeout = la décision par défaut</a:t>
            </a:r>
            <a:endParaRPr lang="en-US" sz="1000" dirty="0"/>
          </a:p>
        </p:txBody>
      </p:sp>
      <p:sp>
        <p:nvSpPr>
          <p:cNvPr id="14" name="Text 12"/>
          <p:cNvSpPr/>
          <p:nvPr/>
        </p:nvSpPr>
        <p:spPr>
          <a:xfrm>
            <a:off x="502920" y="3630168"/>
            <a:ext cx="5303520" cy="1435608"/>
          </a:xfrm>
          <a:prstGeom prst="rect">
            <a:avLst/>
          </a:prstGeom>
          <a:noFill/>
          <a:ln/>
        </p:spPr>
        <p:txBody>
          <a:bodyPr wrap="square" rtlCol="0" anchor="ctr"/>
          <a:lstStyle/>
          <a:p>
            <a:pPr marL="0" indent="0">
              <a:lnSpc>
                <a:spcPct val="120000"/>
              </a:lnSpc>
              <a:buNone/>
            </a:pPr>
            <a:r>
              <a:rPr lang="en-US" sz="950" dirty="0">
                <a:solidFill>
                  <a:srgbClr val="1C1C1C"/>
                </a:solidFill>
              </a:rPr>
              <a:t>Trois questions à trancher avec le métier avant tout déploiement : à l'expiration, on continue / annule / escalade ? Qui est notifié ? Le compteur inclut-il week-ends et congés ? Un workflow suspendu pendant l'absence de la seule personne habilitée est le mode d'échec organisationnel le plus courant — aucun moteur ne le corrige.</a:t>
            </a:r>
            <a:endParaRPr lang="en-US" sz="950" dirty="0"/>
          </a:p>
        </p:txBody>
      </p:sp>
      <p:sp>
        <p:nvSpPr>
          <p:cNvPr id="15" name="Shape 13"/>
          <p:cNvSpPr/>
          <p:nvPr/>
        </p:nvSpPr>
        <p:spPr>
          <a:xfrm>
            <a:off x="6172200" y="3383280"/>
            <a:ext cx="5623560" cy="1737360"/>
          </a:xfrm>
          <a:prstGeom prst="rect">
            <a:avLst/>
          </a:prstGeom>
          <a:solidFill>
            <a:srgbClr val="F0F4FF"/>
          </a:solidFill>
          <a:ln w="12700">
            <a:solidFill>
              <a:srgbClr val="BECDF0"/>
            </a:solidFill>
            <a:prstDash val="solid"/>
          </a:ln>
        </p:spPr>
        <p:txBody>
          <a:bodyPr/>
          <a:lstStyle/>
          <a:p>
            <a:endParaRPr lang="fr-FR"/>
          </a:p>
        </p:txBody>
      </p:sp>
      <p:sp>
        <p:nvSpPr>
          <p:cNvPr id="16" name="Text 14"/>
          <p:cNvSpPr/>
          <p:nvPr/>
        </p:nvSpPr>
        <p:spPr>
          <a:xfrm>
            <a:off x="6309360" y="3429000"/>
            <a:ext cx="5349240" cy="201168"/>
          </a:xfrm>
          <a:prstGeom prst="rect">
            <a:avLst/>
          </a:prstGeom>
          <a:noFill/>
          <a:ln/>
        </p:spPr>
        <p:txBody>
          <a:bodyPr wrap="square" rtlCol="0" anchor="ctr"/>
          <a:lstStyle/>
          <a:p>
            <a:pPr marL="0" indent="0">
              <a:buNone/>
            </a:pPr>
            <a:r>
              <a:rPr lang="en-US" sz="1000" b="1" dirty="0">
                <a:solidFill>
                  <a:srgbClr val="003189"/>
                </a:solidFill>
              </a:rPr>
              <a:t>Le coût que les métriques ne voient pas</a:t>
            </a:r>
            <a:endParaRPr lang="en-US" sz="1000" dirty="0"/>
          </a:p>
        </p:txBody>
      </p:sp>
      <p:sp>
        <p:nvSpPr>
          <p:cNvPr id="17" name="Text 15"/>
          <p:cNvSpPr/>
          <p:nvPr/>
        </p:nvSpPr>
        <p:spPr>
          <a:xfrm>
            <a:off x="6309360" y="3630168"/>
            <a:ext cx="5349240" cy="1435608"/>
          </a:xfrm>
          <a:prstGeom prst="rect">
            <a:avLst/>
          </a:prstGeom>
          <a:noFill/>
          <a:ln/>
        </p:spPr>
        <p:txBody>
          <a:bodyPr wrap="square" rtlCol="0" anchor="ctr"/>
          <a:lstStyle/>
          <a:p>
            <a:pPr marL="0" indent="0">
              <a:lnSpc>
                <a:spcPct val="120000"/>
              </a:lnSpc>
              <a:buNone/>
            </a:pPr>
            <a:r>
              <a:rPr lang="en-US" sz="950" dirty="0">
                <a:solidFill>
                  <a:srgbClr val="1C1C1C"/>
                </a:solidFill>
              </a:rPr>
              <a:t>Dans NB_T2b, l'arrêt est journalisé comme une étape ordinaire, mais son nom n'est pas dans la table des stations (coûts et durées) : sa contribution vaut zéro euro et zéro minute. L'attente humaine apparaît gratuite et instantanée. C'est faux — un tableau de bord doit l'expliciter.</a:t>
            </a:r>
            <a:endParaRPr lang="en-US" sz="950" dirty="0"/>
          </a:p>
        </p:txBody>
      </p:sp>
      <p:sp>
        <p:nvSpPr>
          <p:cNvPr id="18" name="Shape 16"/>
          <p:cNvSpPr/>
          <p:nvPr/>
        </p:nvSpPr>
        <p:spPr>
          <a:xfrm>
            <a:off x="365760" y="5303520"/>
            <a:ext cx="11430000" cy="1097280"/>
          </a:xfrm>
          <a:prstGeom prst="rect">
            <a:avLst/>
          </a:prstGeom>
          <a:solidFill>
            <a:srgbClr val="E8EDFF"/>
          </a:solidFill>
          <a:ln/>
        </p:spPr>
        <p:txBody>
          <a:bodyPr/>
          <a:lstStyle/>
          <a:p>
            <a:endParaRPr lang="fr-FR"/>
          </a:p>
        </p:txBody>
      </p:sp>
      <p:sp>
        <p:nvSpPr>
          <p:cNvPr id="19" name="Shape 17"/>
          <p:cNvSpPr/>
          <p:nvPr/>
        </p:nvSpPr>
        <p:spPr>
          <a:xfrm>
            <a:off x="365760" y="5303520"/>
            <a:ext cx="54864" cy="1097280"/>
          </a:xfrm>
          <a:prstGeom prst="rect">
            <a:avLst/>
          </a:prstGeom>
          <a:solidFill>
            <a:srgbClr val="003189"/>
          </a:solidFill>
          <a:ln/>
        </p:spPr>
        <p:txBody>
          <a:bodyPr/>
          <a:lstStyle/>
          <a:p>
            <a:endParaRPr lang="fr-FR"/>
          </a:p>
        </p:txBody>
      </p:sp>
      <p:sp>
        <p:nvSpPr>
          <p:cNvPr id="20" name="Text 18"/>
          <p:cNvSpPr/>
          <p:nvPr/>
        </p:nvSpPr>
        <p:spPr>
          <a:xfrm>
            <a:off x="512064" y="5367528"/>
            <a:ext cx="11201400" cy="969264"/>
          </a:xfrm>
          <a:prstGeom prst="rect">
            <a:avLst/>
          </a:prstGeom>
          <a:noFill/>
          <a:ln/>
        </p:spPr>
        <p:txBody>
          <a:bodyPr wrap="square" rtlCol="0" anchor="ctr"/>
          <a:lstStyle/>
          <a:p>
            <a:pPr marL="0" indent="0" algn="l">
              <a:buNone/>
            </a:pPr>
            <a:r>
              <a:rPr lang="en-US" sz="1100" i="1" dirty="0">
                <a:solidFill>
                  <a:srgbClr val="1C1C1C"/>
                </a:solidFill>
              </a:rPr>
              <a:t>Où placer le point d'arrêt est un choix de conception. Arrêter tôt économise du travail engagé ; arrêter tard économise de l'attention humaine. L'attention humaine est la ressource rare.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LangGraph · le graphe d'état de l'usine</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La topologie devient une DONNÉE : dessinable, diffusable, relisable par le métier</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sp>
        <p:nvSpPr>
          <p:cNvPr id="6" name="Shape 4"/>
          <p:cNvSpPr/>
          <p:nvPr/>
        </p:nvSpPr>
        <p:spPr>
          <a:xfrm>
            <a:off x="365760" y="1261872"/>
            <a:ext cx="11430000" cy="914400"/>
          </a:xfrm>
          <a:prstGeom prst="rect">
            <a:avLst/>
          </a:prstGeom>
          <a:solidFill>
            <a:srgbClr val="F2F4F8"/>
          </a:solidFill>
          <a:ln w="12700">
            <a:solidFill>
              <a:srgbClr val="CCCCCC"/>
            </a:solidFill>
            <a:prstDash val="solid"/>
          </a:ln>
        </p:spPr>
        <p:txBody>
          <a:bodyPr/>
          <a:lstStyle/>
          <a:p>
            <a:endParaRPr lang="fr-FR"/>
          </a:p>
        </p:txBody>
      </p:sp>
      <p:sp>
        <p:nvSpPr>
          <p:cNvPr id="7" name="Text 5"/>
          <p:cNvSpPr/>
          <p:nvPr/>
        </p:nvSpPr>
        <p:spPr>
          <a:xfrm>
            <a:off x="457200" y="1316736"/>
            <a:ext cx="11247120" cy="804672"/>
          </a:xfrm>
          <a:prstGeom prst="rect">
            <a:avLst/>
          </a:prstGeom>
          <a:noFill/>
          <a:ln/>
        </p:spPr>
        <p:txBody>
          <a:bodyPr wrap="square" rtlCol="0" anchor="t"/>
          <a:lstStyle/>
          <a:p>
            <a:pPr marL="0" indent="0" algn="l">
              <a:buNone/>
            </a:pPr>
            <a:r>
              <a:rPr lang="en-US" sz="850" dirty="0">
                <a:solidFill>
                  <a:srgbClr val="1C1C1C"/>
                </a:solidFill>
                <a:latin typeface="Courier New" pitchFamily="34" charset="0"/>
                <a:ea typeface="Courier New" pitchFamily="34" charset="-122"/>
                <a:cs typeface="Courier New" pitchFamily="34" charset="-120"/>
              </a:rPr>
              <a:t>START ─► commande ─► appro ─► fabrication ─► finition(premium) ─► assemblage ─► controle</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accept ─► hitl ─► expedition ─► metriques ─► END</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rework ─► rework ↩ fabrication (le cycle)</a:t>
            </a:r>
            <a:endParaRPr lang="en-US" sz="850" dirty="0"/>
          </a:p>
          <a:p>
            <a:pPr marL="0" indent="0" algn="l">
              <a:buNone/>
            </a:pPr>
            <a:r>
              <a:rPr lang="en-US" sz="850" dirty="0">
                <a:solidFill>
                  <a:srgbClr val="1C1C1C"/>
                </a:solidFill>
                <a:latin typeface="Courier New" pitchFamily="34" charset="0"/>
                <a:ea typeface="Courier New" pitchFamily="34" charset="-122"/>
                <a:cs typeface="Courier New" pitchFamily="34" charset="-120"/>
              </a:rPr>
              <a:t>   scrap  ─► metriques</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2286000"/>
          <a:ext cx="11430000" cy="1261872"/>
        </p:xfrm>
        <a:graphic>
          <a:graphicData uri="http://schemas.openxmlformats.org/drawingml/2006/table">
            <a:tbl>
              <a:tblPr/>
              <a:tblGrid>
                <a:gridCol w="22860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Concept</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Rôle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Code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003189"/>
                          </a:solidFill>
                          <a:latin typeface="Calibri" pitchFamily="34" charset="0"/>
                          <a:ea typeface="Calibri" pitchFamily="34" charset="-122"/>
                          <a:cs typeface="Calibri" pitchFamily="34" charset="-120"/>
                        </a:rPr>
                        <a:t>StateGraph</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Le conteneur ; son argument est VOTRE type d'état (TypedDict)</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1C1C"/>
                          </a:solidFill>
                          <a:latin typeface="Courier New" pitchFamily="34" charset="0"/>
                          <a:ea typeface="Courier New" pitchFamily="34" charset="-122"/>
                          <a:cs typeface="Courier New" pitchFamily="34" charset="-120"/>
                        </a:rPr>
                        <a:t>StateGraph(CommandeState)</a:t>
                      </a:r>
                      <a:endParaRPr lang="en-US" sz="80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003189"/>
                          </a:solidFill>
                          <a:latin typeface="Calibri" pitchFamily="34" charset="0"/>
                          <a:ea typeface="Calibri" pitchFamily="34" charset="-122"/>
                          <a:cs typeface="Calibri" pitchFamily="34" charset="-120"/>
                        </a:rPr>
                        <a:t>Nœuds</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Fonctions Python : lisent l'état, rendent une mise à jour partielle. Testables une par une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800" dirty="0">
                          <a:solidFill>
                            <a:srgbClr val="1C1C1C"/>
                          </a:solidFill>
                          <a:latin typeface="Courier New" pitchFamily="34" charset="0"/>
                          <a:ea typeface="Courier New" pitchFamily="34" charset="-122"/>
                          <a:cs typeface="Courier New" pitchFamily="34" charset="-120"/>
                        </a:rPr>
                        <a:t>g.add_node("fabrication", fn)</a:t>
                      </a:r>
                      <a:endParaRPr lang="en-US" sz="80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003189"/>
                          </a:solidFill>
                          <a:latin typeface="Calibri" pitchFamily="34" charset="0"/>
                          <a:ea typeface="Calibri" pitchFamily="34" charset="-122"/>
                          <a:cs typeface="Calibri" pitchFamily="34" charset="-120"/>
                        </a:rPr>
                        <a:t>Arêtes conditionnelles</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Fonction de routage pure + dictionnaire étiquette → nœud</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1C1C"/>
                          </a:solidFill>
                          <a:latin typeface="Courier New" pitchFamily="34" charset="0"/>
                          <a:ea typeface="Courier New" pitchFamily="34" charset="-122"/>
                          <a:cs typeface="Courier New" pitchFamily="34" charset="-120"/>
                        </a:rPr>
                        <a:t>g.add_conditional_edges(...)</a:t>
                      </a:r>
                      <a:endParaRPr lang="en-US" sz="80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003189"/>
                          </a:solidFill>
                          <a:latin typeface="Calibri" pitchFamily="34" charset="0"/>
                          <a:ea typeface="Calibri" pitchFamily="34" charset="-122"/>
                          <a:cs typeface="Calibri" pitchFamily="34" charset="-120"/>
                        </a:rPr>
                        <a:t>Reducers</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Sur l'historique uniquement ; les autres champs sont écrasés par la dernière écriture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800" dirty="0">
                          <a:solidFill>
                            <a:srgbClr val="1C1C1C"/>
                          </a:solidFill>
                          <a:latin typeface="Courier New" pitchFamily="34" charset="0"/>
                          <a:ea typeface="Courier New" pitchFamily="34" charset="-122"/>
                          <a:cs typeface="Courier New" pitchFamily="34" charset="-120"/>
                        </a:rPr>
                        <a:t>Annotated[list, operator.add]</a:t>
                      </a:r>
                      <a:endParaRPr lang="en-US" sz="80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4"/>
                  </a:ext>
                </a:extLst>
              </a:tr>
              <a:tr h="0">
                <a:tc>
                  <a:txBody>
                    <a:bodyPr/>
                    <a:lstStyle/>
                    <a:p>
                      <a:pPr marL="0" indent="0" algn="l">
                        <a:buNone/>
                      </a:pPr>
                      <a:r>
                        <a:rPr lang="en-US" sz="900" b="1" dirty="0">
                          <a:solidFill>
                            <a:srgbClr val="003189"/>
                          </a:solidFill>
                          <a:latin typeface="Calibri" pitchFamily="34" charset="0"/>
                          <a:ea typeface="Calibri" pitchFamily="34" charset="-122"/>
                          <a:cs typeface="Calibri" pitchFamily="34" charset="-120"/>
                        </a:rPr>
                        <a:t>Compilation</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Valide la topologie (nœud inatteignable, arête inconnue), pas les valeurs de routage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1C1C"/>
                          </a:solidFill>
                          <a:latin typeface="Courier New" pitchFamily="34" charset="0"/>
                          <a:ea typeface="Courier New" pitchFamily="34" charset="-122"/>
                          <a:cs typeface="Courier New" pitchFamily="34" charset="-120"/>
                        </a:rPr>
                        <a:t>g.compile(checkpointer=...)</a:t>
                      </a:r>
                      <a:endParaRPr lang="en-US" sz="80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6"/>
          <p:cNvSpPr/>
          <p:nvPr/>
        </p:nvSpPr>
        <p:spPr>
          <a:xfrm>
            <a:off x="365760" y="5303520"/>
            <a:ext cx="11430000" cy="1097280"/>
          </a:xfrm>
          <a:prstGeom prst="rect">
            <a:avLst/>
          </a:prstGeom>
          <a:solidFill>
            <a:srgbClr val="E8EDFF"/>
          </a:solidFill>
          <a:ln/>
        </p:spPr>
        <p:txBody>
          <a:bodyPr/>
          <a:lstStyle/>
          <a:p>
            <a:endParaRPr lang="fr-FR"/>
          </a:p>
        </p:txBody>
      </p:sp>
      <p:sp>
        <p:nvSpPr>
          <p:cNvPr id="10" name="Shape 7"/>
          <p:cNvSpPr/>
          <p:nvPr/>
        </p:nvSpPr>
        <p:spPr>
          <a:xfrm>
            <a:off x="365760" y="5303520"/>
            <a:ext cx="54864" cy="1097280"/>
          </a:xfrm>
          <a:prstGeom prst="rect">
            <a:avLst/>
          </a:prstGeom>
          <a:solidFill>
            <a:srgbClr val="003189"/>
          </a:solidFill>
          <a:ln/>
        </p:spPr>
        <p:txBody>
          <a:bodyPr/>
          <a:lstStyle/>
          <a:p>
            <a:endParaRPr lang="fr-FR"/>
          </a:p>
        </p:txBody>
      </p:sp>
      <p:sp>
        <p:nvSpPr>
          <p:cNvPr id="8" name="Text 8"/>
          <p:cNvSpPr/>
          <p:nvPr/>
        </p:nvSpPr>
        <p:spPr>
          <a:xfrm>
            <a:off x="512064" y="5367528"/>
            <a:ext cx="11201400" cy="969264"/>
          </a:xfrm>
          <a:prstGeom prst="rect">
            <a:avLst/>
          </a:prstGeom>
          <a:noFill/>
          <a:ln/>
        </p:spPr>
        <p:txBody>
          <a:bodyPr wrap="square" rtlCol="0" anchor="ctr"/>
          <a:lstStyle/>
          <a:p>
            <a:pPr marL="0" indent="0" algn="l">
              <a:buNone/>
            </a:pPr>
            <a:r>
              <a:rPr lang="en-US" sz="1100" i="1" dirty="0">
                <a:solidFill>
                  <a:srgbClr val="1C1C1C"/>
                </a:solidFill>
              </a:rPr>
              <a:t>Ce que le graphe explicite rend : une topologie dessinable (seul document relisable par le métier sans lire du Python), des nœuds testables isolément, un état inspectable. Ce qu'il coûte : vous déclarez l'état, les reducers, la borne du cycle et la persistance. Un champ scalaire écrit par deux branches concurrentes perd silencieusement une valeur.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LangGraph · persistance, reprise, interruption</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MIT · ligne 1.x en disponibilité générale (22/10/2025) · cours épinglé 0.6.11 (compat Ragas)</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11430000" cy="1418844"/>
        </p:xfrm>
        <a:graphic>
          <a:graphicData uri="http://schemas.openxmlformats.org/drawingml/2006/table">
            <a:tbl>
              <a:tblPr/>
              <a:tblGrid>
                <a:gridCol w="2011680">
                  <a:extLst>
                    <a:ext uri="{9D8B030D-6E8A-4147-A177-3AD203B41FA5}">
                      <a16:colId xmlns:a16="http://schemas.microsoft.com/office/drawing/2014/main" val="20000"/>
                    </a:ext>
                  </a:extLst>
                </a:gridCol>
                <a:gridCol w="66751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Mécanisme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Rôle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Code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extLst>
                  <a:ext uri="{0D108BD9-81ED-4DB2-BD59-A6C34878D82A}">
                    <a16:rowId xmlns:a16="http://schemas.microsoft.com/office/drawing/2014/main" val="10000"/>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MemorySaver</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Checkpointer en mémoire vive. Le seul utilisé dans NB_T2b ; perdu au redémarrage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750" dirty="0">
                          <a:solidFill>
                            <a:srgbClr val="1C1C1C"/>
                          </a:solidFill>
                          <a:latin typeface="Courier New" pitchFamily="34" charset="0"/>
                          <a:ea typeface="Courier New" pitchFamily="34" charset="-122"/>
                          <a:cs typeface="Courier New" pitchFamily="34" charset="-120"/>
                        </a:rPr>
                        <a:t>compile(checkpointer=MemorySaver())</a:t>
                      </a:r>
                      <a:endParaRPr lang="en-US" sz="75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SqliteSaver</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Durable en local, un fichier. Reprise le lendemain</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750" dirty="0">
                          <a:solidFill>
                            <a:srgbClr val="1C1C1C"/>
                          </a:solidFill>
                          <a:latin typeface="Courier New" pitchFamily="34" charset="0"/>
                          <a:ea typeface="Courier New" pitchFamily="34" charset="-122"/>
                          <a:cs typeface="Courier New" pitchFamily="34" charset="-120"/>
                        </a:rPr>
                        <a:t>SqliteSaver(conn)</a:t>
                      </a:r>
                      <a:endParaRPr lang="en-US" sz="75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2"/>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PostgresSaver</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La cible de production. Même interface : un argument de compile()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750" dirty="0">
                          <a:solidFill>
                            <a:srgbClr val="1C1C1C"/>
                          </a:solidFill>
                          <a:latin typeface="Courier New" pitchFamily="34" charset="0"/>
                          <a:ea typeface="Courier New" pitchFamily="34" charset="-122"/>
                          <a:cs typeface="Courier New" pitchFamily="34" charset="-120"/>
                        </a:rPr>
                        <a:t>PostgresSaver(pool)</a:t>
                      </a:r>
                      <a:endParaRPr lang="en-US" sz="75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thread_id</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Clé primaire de la persistance. Sans elle, rien à sauvegarder ni reprendre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750" dirty="0">
                          <a:solidFill>
                            <a:srgbClr val="1C1C1C"/>
                          </a:solidFill>
                          <a:latin typeface="Courier New" pitchFamily="34" charset="0"/>
                          <a:ea typeface="Courier New" pitchFamily="34" charset="-122"/>
                          <a:cs typeface="Courier New" pitchFamily="34" charset="-120"/>
                        </a:rPr>
                        <a:t>{"configurable": {"thread_id": ...}}</a:t>
                      </a:r>
                      <a:endParaRPr lang="en-US" sz="75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4"/>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RetryPolicy</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Déclarative et par nœud ; sur le seul nœud fabrication. 1 tentative + 2 reprises</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750" dirty="0">
                          <a:solidFill>
                            <a:srgbClr val="1C1C1C"/>
                          </a:solidFill>
                          <a:latin typeface="Courier New" pitchFamily="34" charset="0"/>
                          <a:ea typeface="Courier New" pitchFamily="34" charset="-122"/>
                          <a:cs typeface="Courier New" pitchFamily="34" charset="-120"/>
                        </a:rPr>
                        <a:t>RetryPolicy(max_attempts=3)</a:t>
                      </a:r>
                      <a:endParaRPr lang="en-US" sz="75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interrupt</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Suspend le graphe ; exige un checkpointer ; reprend sur le même thread</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750" dirty="0">
                          <a:solidFill>
                            <a:srgbClr val="1C1C1C"/>
                          </a:solidFill>
                          <a:latin typeface="Courier New" pitchFamily="34" charset="0"/>
                          <a:ea typeface="Courier New" pitchFamily="34" charset="-122"/>
                          <a:cs typeface="Courier New" pitchFamily="34" charset="-120"/>
                        </a:rPr>
                        <a:t>interrupt({...}) → Command(resume=...)</a:t>
                      </a:r>
                      <a:endParaRPr lang="en-US" sz="75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6"/>
                  </a:ext>
                </a:extLst>
              </a:tr>
            </a:tbl>
          </a:graphicData>
        </a:graphic>
      </p:graphicFrame>
      <p:sp>
        <p:nvSpPr>
          <p:cNvPr id="7" name="Shape 4"/>
          <p:cNvSpPr/>
          <p:nvPr/>
        </p:nvSpPr>
        <p:spPr>
          <a:xfrm>
            <a:off x="365760" y="5303520"/>
            <a:ext cx="11430000" cy="1097280"/>
          </a:xfrm>
          <a:prstGeom prst="rect">
            <a:avLst/>
          </a:prstGeom>
          <a:solidFill>
            <a:srgbClr val="E8EDFF"/>
          </a:solidFill>
          <a:ln/>
        </p:spPr>
        <p:txBody>
          <a:bodyPr/>
          <a:lstStyle/>
          <a:p>
            <a:endParaRPr lang="fr-FR"/>
          </a:p>
        </p:txBody>
      </p:sp>
      <p:sp>
        <p:nvSpPr>
          <p:cNvPr id="8" name="Shape 5"/>
          <p:cNvSpPr/>
          <p:nvPr/>
        </p:nvSpPr>
        <p:spPr>
          <a:xfrm>
            <a:off x="365760" y="5303520"/>
            <a:ext cx="54864" cy="1097280"/>
          </a:xfrm>
          <a:prstGeom prst="rect">
            <a:avLst/>
          </a:prstGeom>
          <a:solidFill>
            <a:srgbClr val="003189"/>
          </a:solidFill>
          <a:ln/>
        </p:spPr>
        <p:txBody>
          <a:bodyPr/>
          <a:lstStyle/>
          <a:p>
            <a:endParaRPr lang="fr-FR"/>
          </a:p>
        </p:txBody>
      </p:sp>
      <p:sp>
        <p:nvSpPr>
          <p:cNvPr id="9" name="Text 6"/>
          <p:cNvSpPr/>
          <p:nvPr/>
        </p:nvSpPr>
        <p:spPr>
          <a:xfrm>
            <a:off x="512064" y="5367528"/>
            <a:ext cx="11201400" cy="969264"/>
          </a:xfrm>
          <a:prstGeom prst="rect">
            <a:avLst/>
          </a:prstGeom>
          <a:noFill/>
          <a:ln/>
        </p:spPr>
        <p:txBody>
          <a:bodyPr wrap="square" rtlCol="0" anchor="ctr"/>
          <a:lstStyle/>
          <a:p>
            <a:pPr marL="0" indent="0" algn="l">
              <a:buNone/>
            </a:pPr>
            <a:r>
              <a:rPr lang="en-US" sz="1100" i="1" dirty="0">
                <a:solidFill>
                  <a:srgbClr val="1C1C1C"/>
                </a:solidFill>
              </a:rPr>
              <a:t>Le piège des trois lignes solidaires : une interruption + un checkpointer en mémoire + un thread_id oublié = ça marche en cellule, rien ne reprend après redémarrage. Le vrai test : tuer le processus entre l'interruption et la reprise. Changer de checkpointer ne modifie pas le graphe — passer à Postgres est une décision d'exploitation (sauvegardes, rétention, effacement), pas une ligne de code.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Mesurer · un harnais golden déterministe</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Un workflow produit des FAITS, pas des réponses à juger · Le cas favorable de l'évaluation</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sp>
        <p:nvSpPr>
          <p:cNvPr id="6" name="Shape 4"/>
          <p:cNvSpPr/>
          <p:nvPr/>
        </p:nvSpPr>
        <p:spPr>
          <a:xfrm>
            <a:off x="365760" y="1261872"/>
            <a:ext cx="5577840" cy="1417320"/>
          </a:xfrm>
          <a:prstGeom prst="rect">
            <a:avLst/>
          </a:prstGeom>
          <a:solidFill>
            <a:srgbClr val="F0FFF4"/>
          </a:solidFill>
          <a:ln w="12700">
            <a:solidFill>
              <a:srgbClr val="A8DFB8"/>
            </a:solidFill>
            <a:prstDash val="solid"/>
          </a:ln>
        </p:spPr>
        <p:txBody>
          <a:bodyPr/>
          <a:lstStyle/>
          <a:p>
            <a:endParaRPr lang="fr-FR"/>
          </a:p>
        </p:txBody>
      </p:sp>
      <p:sp>
        <p:nvSpPr>
          <p:cNvPr id="7" name="Text 5"/>
          <p:cNvSpPr/>
          <p:nvPr/>
        </p:nvSpPr>
        <p:spPr>
          <a:xfrm>
            <a:off x="502920" y="1307592"/>
            <a:ext cx="5303520" cy="201168"/>
          </a:xfrm>
          <a:prstGeom prst="rect">
            <a:avLst/>
          </a:prstGeom>
          <a:noFill/>
          <a:ln/>
        </p:spPr>
        <p:txBody>
          <a:bodyPr wrap="square" rtlCol="0" anchor="ctr"/>
          <a:lstStyle/>
          <a:p>
            <a:pPr marL="0" indent="0">
              <a:buNone/>
            </a:pPr>
            <a:r>
              <a:rPr lang="en-US" sz="1000" b="1" dirty="0">
                <a:solidFill>
                  <a:srgbClr val="003189"/>
                </a:solidFill>
              </a:rPr>
              <a:t>Ce que le déterminisme achète</a:t>
            </a:r>
            <a:endParaRPr lang="en-US" sz="1000" dirty="0"/>
          </a:p>
        </p:txBody>
      </p:sp>
      <p:sp>
        <p:nvSpPr>
          <p:cNvPr id="8" name="Text 6"/>
          <p:cNvSpPr/>
          <p:nvPr/>
        </p:nvSpPr>
        <p:spPr>
          <a:xfrm>
            <a:off x="502920" y="1508760"/>
            <a:ext cx="5303520" cy="1115568"/>
          </a:xfrm>
          <a:prstGeom prst="rect">
            <a:avLst/>
          </a:prstGeom>
          <a:noFill/>
          <a:ln/>
        </p:spPr>
        <p:txBody>
          <a:bodyPr wrap="square" rtlCol="0" anchor="ctr"/>
          <a:lstStyle/>
          <a:p>
            <a:pPr marL="0" indent="0">
              <a:lnSpc>
                <a:spcPct val="120000"/>
              </a:lnSpc>
              <a:buNone/>
            </a:pPr>
            <a:r>
              <a:rPr lang="en-US" sz="950" dirty="0">
                <a:solidFill>
                  <a:srgbClr val="1C1C1C"/>
                </a:solidFill>
              </a:rPr>
              <a:t>• Une régression est binaire : le harnais passe ou casse.</a:t>
            </a:r>
            <a:endParaRPr lang="en-US" sz="950" dirty="0"/>
          </a:p>
          <a:p>
            <a:pPr marL="0" indent="0">
              <a:lnSpc>
                <a:spcPct val="120000"/>
              </a:lnSpc>
              <a:buNone/>
            </a:pPr>
            <a:r>
              <a:rPr lang="en-US" sz="950" dirty="0">
                <a:solidFill>
                  <a:srgbClr val="1C1C1C"/>
                </a:solidFill>
              </a:rPr>
              <a:t>• Le test tourne en secondes, sans clé ni réseau, à chaque commit.</a:t>
            </a:r>
            <a:endParaRPr lang="en-US" sz="950" dirty="0"/>
          </a:p>
          <a:p>
            <a:pPr marL="0" indent="0">
              <a:lnSpc>
                <a:spcPct val="120000"/>
              </a:lnSpc>
              <a:buNone/>
            </a:pPr>
            <a:r>
              <a:rPr lang="en-US" sz="950" dirty="0">
                <a:solidFill>
                  <a:srgbClr val="1C1C1C"/>
                </a:solidFill>
              </a:rPr>
              <a:t>• Aucune variance : un écart est forcément une modification du code, jamais du bruit.</a:t>
            </a:r>
            <a:endParaRPr lang="en-US" sz="950" dirty="0"/>
          </a:p>
        </p:txBody>
      </p:sp>
      <p:sp>
        <p:nvSpPr>
          <p:cNvPr id="9" name="Shape 7"/>
          <p:cNvSpPr/>
          <p:nvPr/>
        </p:nvSpPr>
        <p:spPr>
          <a:xfrm>
            <a:off x="6172200" y="1261872"/>
            <a:ext cx="5623560" cy="1417320"/>
          </a:xfrm>
          <a:prstGeom prst="rect">
            <a:avLst/>
          </a:prstGeom>
          <a:solidFill>
            <a:srgbClr val="FFF4F4"/>
          </a:solidFill>
          <a:ln w="12700">
            <a:solidFill>
              <a:srgbClr val="FFBCBC"/>
            </a:solidFill>
            <a:prstDash val="solid"/>
          </a:ln>
        </p:spPr>
        <p:txBody>
          <a:bodyPr/>
          <a:lstStyle/>
          <a:p>
            <a:endParaRPr lang="fr-FR"/>
          </a:p>
        </p:txBody>
      </p:sp>
      <p:sp>
        <p:nvSpPr>
          <p:cNvPr id="10" name="Text 8"/>
          <p:cNvSpPr/>
          <p:nvPr/>
        </p:nvSpPr>
        <p:spPr>
          <a:xfrm>
            <a:off x="6309360" y="1307592"/>
            <a:ext cx="5349240" cy="201168"/>
          </a:xfrm>
          <a:prstGeom prst="rect">
            <a:avLst/>
          </a:prstGeom>
          <a:noFill/>
          <a:ln/>
        </p:spPr>
        <p:txBody>
          <a:bodyPr wrap="square" rtlCol="0" anchor="ctr"/>
          <a:lstStyle/>
          <a:p>
            <a:pPr marL="0" indent="0">
              <a:buNone/>
            </a:pPr>
            <a:r>
              <a:rPr lang="en-US" sz="1000" b="1" dirty="0">
                <a:solidFill>
                  <a:srgbClr val="003189"/>
                </a:solidFill>
              </a:rPr>
              <a:t>Ce qu'il ne mesure pas</a:t>
            </a:r>
            <a:endParaRPr lang="en-US" sz="1000" dirty="0"/>
          </a:p>
        </p:txBody>
      </p:sp>
      <p:sp>
        <p:nvSpPr>
          <p:cNvPr id="11" name="Text 9"/>
          <p:cNvSpPr/>
          <p:nvPr/>
        </p:nvSpPr>
        <p:spPr>
          <a:xfrm>
            <a:off x="6309360" y="1508760"/>
            <a:ext cx="5349240" cy="1115568"/>
          </a:xfrm>
          <a:prstGeom prst="rect">
            <a:avLst/>
          </a:prstGeom>
          <a:noFill/>
          <a:ln/>
        </p:spPr>
        <p:txBody>
          <a:bodyPr wrap="square" rtlCol="0" anchor="ctr"/>
          <a:lstStyle/>
          <a:p>
            <a:pPr marL="0" indent="0">
              <a:lnSpc>
                <a:spcPct val="120000"/>
              </a:lnSpc>
              <a:buNone/>
            </a:pPr>
            <a:r>
              <a:rPr lang="en-US" sz="950" dirty="0">
                <a:solidFill>
                  <a:srgbClr val="1C1C1C"/>
                </a:solidFill>
              </a:rPr>
              <a:t>• La qualité d'un LLM dans une activité → le juge de T1, sur cette station seule.</a:t>
            </a:r>
            <a:endParaRPr lang="en-US" sz="950" dirty="0"/>
          </a:p>
          <a:p>
            <a:pPr marL="0" indent="0">
              <a:lnSpc>
                <a:spcPct val="120000"/>
              </a:lnSpc>
              <a:buNone/>
            </a:pPr>
            <a:r>
              <a:rPr lang="en-US" sz="950" dirty="0">
                <a:solidFill>
                  <a:srgbClr val="1C1C1C"/>
                </a:solidFill>
              </a:rPr>
              <a:t>• Le temps humain : l'arrêt compte pour zéro minute.</a:t>
            </a:r>
            <a:endParaRPr lang="en-US" sz="950" dirty="0"/>
          </a:p>
          <a:p>
            <a:pPr marL="0" indent="0">
              <a:lnSpc>
                <a:spcPct val="120000"/>
              </a:lnSpc>
              <a:buNone/>
            </a:pPr>
            <a:r>
              <a:rPr lang="en-US" sz="950" dirty="0">
                <a:solidFill>
                  <a:srgbClr val="1C1C1C"/>
                </a:solidFill>
              </a:rPr>
              <a:t>• Le coût réel : les valeurs de coût et de durée sont indicatives, choisies pour la lisibilité (le module le dit lui-même).</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2834640"/>
          <a:ext cx="114300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Métrique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Ce qu'elle compte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Le piège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extLst>
                  <a:ext uri="{0D108BD9-81ED-4DB2-BD59-A6C34878D82A}">
                    <a16:rowId xmlns:a16="http://schemas.microsoft.com/office/drawing/2014/main" val="10000"/>
                  </a:ext>
                </a:extLst>
              </a:tr>
              <a:tr h="0">
                <a:tc>
                  <a:txBody>
                    <a:bodyPr/>
                    <a:lstStyle/>
                    <a:p>
                      <a:pPr marL="0" indent="0" algn="l">
                        <a:buNone/>
                      </a:pPr>
                      <a:r>
                        <a:rPr lang="en-US" sz="800" b="1" dirty="0">
                          <a:solidFill>
                            <a:srgbClr val="003189"/>
                          </a:solidFill>
                          <a:latin typeface="Courier New" pitchFamily="34" charset="0"/>
                          <a:ea typeface="Courier New" pitchFamily="34" charset="-122"/>
                          <a:cs typeface="Courier New" pitchFamily="34" charset="-120"/>
                        </a:rPr>
                        <a:t>taux_succes</a:t>
                      </a:r>
                      <a:endParaRPr lang="en-US" sz="80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Étapes réussies / total exécuté, reprises comprises</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Taux de « premier coup », pas de conformité</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800" b="1" dirty="0">
                          <a:solidFill>
                            <a:srgbClr val="003189"/>
                          </a:solidFill>
                          <a:latin typeface="Courier New" pitchFamily="34" charset="0"/>
                          <a:ea typeface="Courier New" pitchFamily="34" charset="-122"/>
                          <a:cs typeface="Courier New" pitchFamily="34" charset="-120"/>
                        </a:rPr>
                        <a:t>cout_eur</a:t>
                      </a:r>
                      <a:endParaRPr lang="en-US" sz="80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Somme des coûts de station de l'historique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Chaque reprise repasse fabrication + contrôle ; un rebut paie tout sauf l'expédition</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2"/>
                  </a:ext>
                </a:extLst>
              </a:tr>
              <a:tr h="0">
                <a:tc>
                  <a:txBody>
                    <a:bodyPr/>
                    <a:lstStyle/>
                    <a:p>
                      <a:pPr marL="0" indent="0" algn="l">
                        <a:buNone/>
                      </a:pPr>
                      <a:r>
                        <a:rPr lang="en-US" sz="800" b="1" dirty="0">
                          <a:solidFill>
                            <a:srgbClr val="003189"/>
                          </a:solidFill>
                          <a:latin typeface="Courier New" pitchFamily="34" charset="0"/>
                          <a:ea typeface="Courier New" pitchFamily="34" charset="-122"/>
                          <a:cs typeface="Courier New" pitchFamily="34" charset="-120"/>
                        </a:rPr>
                        <a:t>delai_min</a:t>
                      </a:r>
                      <a:endParaRPr lang="en-US" sz="80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Somme des minutes de cycle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Temps machine seul : ni les 20-40 j d'appro, ni l'attente humaine. Ne jamais additionner min et jours</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800" b="1" dirty="0">
                          <a:solidFill>
                            <a:srgbClr val="003189"/>
                          </a:solidFill>
                          <a:latin typeface="Courier New" pitchFamily="34" charset="0"/>
                          <a:ea typeface="Courier New" pitchFamily="34" charset="-122"/>
                          <a:cs typeface="Courier New" pitchFamily="34" charset="-120"/>
                        </a:rPr>
                        <a:t>a_temps</a:t>
                      </a:r>
                      <a:endParaRPr lang="en-US" sz="800" dirty="0">
                        <a:latin typeface="Courier New" charset="0"/>
                        <a:ea typeface="Courier New" charset="0"/>
                        <a:cs typeface="Courier New"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Délai d'appro ≤ échéance</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900" dirty="0">
                          <a:solidFill>
                            <a:srgbClr val="1C1C1C"/>
                          </a:solidFill>
                          <a:latin typeface="Calibri" pitchFamily="34" charset="0"/>
                          <a:ea typeface="Calibri" pitchFamily="34" charset="-122"/>
                          <a:cs typeface="Calibri" pitchFamily="34" charset="-120"/>
                        </a:rPr>
                        <a:t>Vit dans l'état, pas dans les agrégats — pourtant le seul qui parle au demandeur</a:t>
                      </a:r>
                      <a:endParaRPr lang="en-US" sz="90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4"/>
                  </a:ext>
                </a:extLst>
              </a:tr>
            </a:tbl>
          </a:graphicData>
        </a:graphic>
      </p:graphicFrame>
      <p:sp>
        <p:nvSpPr>
          <p:cNvPr id="12" name="Shape 10"/>
          <p:cNvSpPr/>
          <p:nvPr/>
        </p:nvSpPr>
        <p:spPr>
          <a:xfrm>
            <a:off x="365760" y="5303520"/>
            <a:ext cx="11430000" cy="1097280"/>
          </a:xfrm>
          <a:prstGeom prst="rect">
            <a:avLst/>
          </a:prstGeom>
          <a:solidFill>
            <a:srgbClr val="E8EDFF"/>
          </a:solidFill>
          <a:ln/>
        </p:spPr>
        <p:txBody>
          <a:bodyPr/>
          <a:lstStyle/>
          <a:p>
            <a:endParaRPr lang="fr-FR"/>
          </a:p>
        </p:txBody>
      </p:sp>
      <p:sp>
        <p:nvSpPr>
          <p:cNvPr id="14" name="Shape 11"/>
          <p:cNvSpPr/>
          <p:nvPr/>
        </p:nvSpPr>
        <p:spPr>
          <a:xfrm>
            <a:off x="365760" y="5303520"/>
            <a:ext cx="54864" cy="1097280"/>
          </a:xfrm>
          <a:prstGeom prst="rect">
            <a:avLst/>
          </a:prstGeom>
          <a:solidFill>
            <a:srgbClr val="003189"/>
          </a:solidFill>
          <a:ln/>
        </p:spPr>
        <p:txBody>
          <a:bodyPr/>
          <a:lstStyle/>
          <a:p>
            <a:endParaRPr lang="fr-FR"/>
          </a:p>
        </p:txBody>
      </p:sp>
      <p:sp>
        <p:nvSpPr>
          <p:cNvPr id="15" name="Text 12"/>
          <p:cNvSpPr/>
          <p:nvPr/>
        </p:nvSpPr>
        <p:spPr>
          <a:xfrm>
            <a:off x="512064" y="5367528"/>
            <a:ext cx="11201400" cy="969264"/>
          </a:xfrm>
          <a:prstGeom prst="rect">
            <a:avLst/>
          </a:prstGeom>
          <a:noFill/>
          <a:ln/>
        </p:spPr>
        <p:txBody>
          <a:bodyPr wrap="square" rtlCol="0" anchor="ctr"/>
          <a:lstStyle/>
          <a:p>
            <a:pPr marL="0" indent="0" algn="l">
              <a:buNone/>
            </a:pPr>
            <a:r>
              <a:rPr lang="en-US" sz="1100" i="1" dirty="0">
                <a:solidFill>
                  <a:srgbClr val="1C1C1C"/>
                </a:solidFill>
              </a:rPr>
              <a:t>Le harnais, dans l'ordre : figer les cas avant de coder (couverture des chemins, pas représentativité), enregistrer la référence (le golden), rejouer à chaque modif, ajouter le cas qui a cassé, sortir du harnais dès qu'un LLM entre dans une station. Un chiffre exact et une note de juge ne cohabitent pas dans la même colonne.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Choisir · les deux moteurs, et la question souveraine</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Ni supérieur ni inférieur · Le choix porte sur ce qu'on devra EXPLOITER</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1143000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0">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Critère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Mistral Workflows</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LangGraph</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extLst>
                  <a:ext uri="{0D108BD9-81ED-4DB2-BD59-A6C34878D82A}">
                    <a16:rowId xmlns:a16="http://schemas.microsoft.com/office/drawing/2014/main" val="10000"/>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Maturité et licence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SDK propriétaire, préversion publique (2026), Temporal-powered</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Licence MIT, ligne 1.x en disponibilité générale (22/10/2025)</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Documentation</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docs.mistral.ai/studio/workflows (récente) + concepts Temporal</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Complète et versionnée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2"/>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Où vit l'orchestration</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Plan de contrôle opéré par la plateforme ; vos activités chez vous</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Tout dans votre processus ; l'état où vous branchez le checkpointer</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Ce que vous déclarez</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Peu : le moteur porte l'état et la reprise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L'état, les reducers, la borne du cycle, la persistance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4"/>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Choix du modèle</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L'écosystème Mistral</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N'importe quel fournisseur, y compris auto-hébergé</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850" b="1" dirty="0">
                          <a:solidFill>
                            <a:srgbClr val="003189"/>
                          </a:solidFill>
                          <a:latin typeface="Calibri" pitchFamily="34" charset="0"/>
                          <a:ea typeface="Calibri" pitchFamily="34" charset="-122"/>
                          <a:cs typeface="Calibri" pitchFamily="34" charset="-120"/>
                        </a:rPr>
                        <a:t>Interopérabilité</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Bâti sur Temporal</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tc>
                  <a:txBody>
                    <a:bodyPr/>
                    <a:lstStyle/>
                    <a:p>
                      <a:pPr marL="0" indent="0" algn="l">
                        <a:buNone/>
                      </a:pPr>
                      <a:r>
                        <a:rPr lang="en-US" sz="850" dirty="0">
                          <a:solidFill>
                            <a:srgbClr val="1C1C1C"/>
                          </a:solidFill>
                          <a:latin typeface="Calibri" pitchFamily="34" charset="0"/>
                          <a:ea typeface="Calibri" pitchFamily="34" charset="-122"/>
                          <a:cs typeface="Calibri" pitchFamily="34" charset="-120"/>
                        </a:rPr>
                        <a:t>Peut tourner sur Temporal via le plugin Temporal (préversion, fourni par Temporal — pas natif)</a:t>
                      </a:r>
                      <a:endParaRPr lang="en-US" sz="8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6"/>
                  </a:ext>
                </a:extLst>
              </a:tr>
            </a:tbl>
          </a:graphicData>
        </a:graphic>
      </p:graphicFrame>
      <p:sp>
        <p:nvSpPr>
          <p:cNvPr id="7" name="Shape 4"/>
          <p:cNvSpPr/>
          <p:nvPr/>
        </p:nvSpPr>
        <p:spPr>
          <a:xfrm>
            <a:off x="365760" y="5303520"/>
            <a:ext cx="11430000" cy="1097280"/>
          </a:xfrm>
          <a:prstGeom prst="rect">
            <a:avLst/>
          </a:prstGeom>
          <a:solidFill>
            <a:srgbClr val="E8EDFF"/>
          </a:solidFill>
          <a:ln/>
        </p:spPr>
        <p:txBody>
          <a:bodyPr/>
          <a:lstStyle/>
          <a:p>
            <a:endParaRPr lang="fr-FR"/>
          </a:p>
        </p:txBody>
      </p:sp>
      <p:sp>
        <p:nvSpPr>
          <p:cNvPr id="8" name="Shape 5"/>
          <p:cNvSpPr/>
          <p:nvPr/>
        </p:nvSpPr>
        <p:spPr>
          <a:xfrm>
            <a:off x="365760" y="5303520"/>
            <a:ext cx="54864" cy="1097280"/>
          </a:xfrm>
          <a:prstGeom prst="rect">
            <a:avLst/>
          </a:prstGeom>
          <a:solidFill>
            <a:srgbClr val="003189"/>
          </a:solidFill>
          <a:ln/>
        </p:spPr>
        <p:txBody>
          <a:bodyPr/>
          <a:lstStyle/>
          <a:p>
            <a:endParaRPr lang="fr-FR"/>
          </a:p>
        </p:txBody>
      </p:sp>
      <p:sp>
        <p:nvSpPr>
          <p:cNvPr id="9" name="Text 6"/>
          <p:cNvSpPr/>
          <p:nvPr/>
        </p:nvSpPr>
        <p:spPr>
          <a:xfrm>
            <a:off x="512064" y="5367528"/>
            <a:ext cx="11201400" cy="969264"/>
          </a:xfrm>
          <a:prstGeom prst="rect">
            <a:avLst/>
          </a:prstGeom>
          <a:noFill/>
          <a:ln/>
        </p:spPr>
        <p:txBody>
          <a:bodyPr wrap="square" rtlCol="0" anchor="ctr"/>
          <a:lstStyle/>
          <a:p>
            <a:pPr marL="0" indent="0" algn="l">
              <a:buNone/>
            </a:pPr>
            <a:r>
              <a:rPr lang="en-US" sz="1100" i="1" dirty="0">
                <a:solidFill>
                  <a:srgbClr val="1C1C1C"/>
                </a:solidFill>
              </a:rPr>
              <a:t>La question souveraine, dans l'ordre : ① quelles données entrent dans les charges utiles d'activités ? ② où vit l'historique, et combien de temps ? ③ qui héberge quoi ? ④ qui décide (DPO + RSSI, sur l'analyse d'impact, avant le choix technique). La sensibilité des données oriente l'hébergement ; la maturité de l'outil et la capacité de l'équipe orientent le moteur. Ne pas justifier un choix technique par un argument réglementaire qu'on n'a pas.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À retenir · T2 Workflows</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4 réflexes</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sp>
        <p:nvSpPr>
          <p:cNvPr id="6" name="Text 4"/>
          <p:cNvSpPr/>
          <p:nvPr/>
        </p:nvSpPr>
        <p:spPr>
          <a:xfrm>
            <a:off x="365760" y="1280160"/>
            <a:ext cx="5577840" cy="201168"/>
          </a:xfrm>
          <a:prstGeom prst="rect">
            <a:avLst/>
          </a:prstGeom>
          <a:noFill/>
          <a:ln/>
        </p:spPr>
        <p:txBody>
          <a:bodyPr wrap="square" rtlCol="0" anchor="ctr"/>
          <a:lstStyle/>
          <a:p>
            <a:pPr marL="0" indent="0">
              <a:buNone/>
            </a:pPr>
            <a:r>
              <a:rPr lang="en-US" sz="1000" b="1" dirty="0">
                <a:solidFill>
                  <a:srgbClr val="003189"/>
                </a:solidFill>
              </a:rPr>
              <a:t>Workflow ou agent = garantie</a:t>
            </a:r>
            <a:endParaRPr lang="en-US" sz="1000" dirty="0"/>
          </a:p>
        </p:txBody>
      </p:sp>
      <p:sp>
        <p:nvSpPr>
          <p:cNvPr id="7" name="Text 5"/>
          <p:cNvSpPr/>
          <p:nvPr/>
        </p:nvSpPr>
        <p:spPr>
          <a:xfrm>
            <a:off x="365760" y="1481328"/>
            <a:ext cx="5577840" cy="713232"/>
          </a:xfrm>
          <a:prstGeom prst="rect">
            <a:avLst/>
          </a:prstGeom>
          <a:noFill/>
          <a:ln/>
        </p:spPr>
        <p:txBody>
          <a:bodyPr wrap="square" rtlCol="0" anchor="ctr"/>
          <a:lstStyle/>
          <a:p>
            <a:pPr marL="0" indent="0">
              <a:lnSpc>
                <a:spcPct val="112000"/>
              </a:lnSpc>
              <a:buNone/>
            </a:pPr>
            <a:r>
              <a:rPr lang="en-US" sz="900" dirty="0">
                <a:solidFill>
                  <a:srgbClr val="1C1C1C"/>
                </a:solidFill>
              </a:rPr>
              <a:t>Repris après incident et rejoué devant un tiers → workflow. Le critère est la reprise, pas la durée. Rien n'est une obligation juridique en soi.</a:t>
            </a:r>
            <a:endParaRPr lang="en-US" sz="900" dirty="0"/>
          </a:p>
        </p:txBody>
      </p:sp>
      <p:sp>
        <p:nvSpPr>
          <p:cNvPr id="8" name="Text 6"/>
          <p:cNvSpPr/>
          <p:nvPr/>
        </p:nvSpPr>
        <p:spPr>
          <a:xfrm>
            <a:off x="365760" y="2267712"/>
            <a:ext cx="5577840" cy="201168"/>
          </a:xfrm>
          <a:prstGeom prst="rect">
            <a:avLst/>
          </a:prstGeom>
          <a:noFill/>
          <a:ln/>
        </p:spPr>
        <p:txBody>
          <a:bodyPr wrap="square" rtlCol="0" anchor="ctr"/>
          <a:lstStyle/>
          <a:p>
            <a:pPr marL="0" indent="0">
              <a:buNone/>
            </a:pPr>
            <a:r>
              <a:rPr lang="en-US" sz="1000" b="1" dirty="0">
                <a:solidFill>
                  <a:srgbClr val="003189"/>
                </a:solidFill>
              </a:rPr>
              <a:t>L'event log</a:t>
            </a:r>
            <a:endParaRPr lang="en-US" sz="1000" dirty="0"/>
          </a:p>
        </p:txBody>
      </p:sp>
      <p:sp>
        <p:nvSpPr>
          <p:cNvPr id="9" name="Text 7"/>
          <p:cNvSpPr/>
          <p:nvPr/>
        </p:nvSpPr>
        <p:spPr>
          <a:xfrm>
            <a:off x="365760" y="2468880"/>
            <a:ext cx="5577840" cy="713232"/>
          </a:xfrm>
          <a:prstGeom prst="rect">
            <a:avLst/>
          </a:prstGeom>
          <a:noFill/>
          <a:ln/>
        </p:spPr>
        <p:txBody>
          <a:bodyPr wrap="square" rtlCol="0" anchor="ctr"/>
          <a:lstStyle/>
          <a:p>
            <a:pPr marL="0" indent="0">
              <a:lnSpc>
                <a:spcPct val="112000"/>
              </a:lnSpc>
              <a:buNone/>
            </a:pPr>
            <a:r>
              <a:rPr lang="en-US" sz="900" dirty="0">
                <a:solidFill>
                  <a:srgbClr val="1C1C1C"/>
                </a:solidFill>
              </a:rPr>
              <a:t>Après incident, le moteur relit l'acquis et ne ré-exécute que le reste. Sans dommage seulement si chaque activité est idempotente (test : deux appels, deux retours identiques).</a:t>
            </a:r>
            <a:endParaRPr lang="en-US" sz="900" dirty="0"/>
          </a:p>
        </p:txBody>
      </p:sp>
      <p:sp>
        <p:nvSpPr>
          <p:cNvPr id="10" name="Text 8"/>
          <p:cNvSpPr/>
          <p:nvPr/>
        </p:nvSpPr>
        <p:spPr>
          <a:xfrm>
            <a:off x="365760" y="3255264"/>
            <a:ext cx="5577840" cy="201168"/>
          </a:xfrm>
          <a:prstGeom prst="rect">
            <a:avLst/>
          </a:prstGeom>
          <a:noFill/>
          <a:ln/>
        </p:spPr>
        <p:txBody>
          <a:bodyPr wrap="square" rtlCol="0" anchor="ctr"/>
          <a:lstStyle/>
          <a:p>
            <a:pPr marL="0" indent="0">
              <a:buNone/>
            </a:pPr>
            <a:r>
              <a:rPr lang="en-US" sz="1000" b="1" dirty="0">
                <a:solidFill>
                  <a:srgbClr val="003189"/>
                </a:solidFill>
              </a:rPr>
              <a:t>Une frontière stricte</a:t>
            </a:r>
            <a:endParaRPr lang="en-US" sz="1000" dirty="0"/>
          </a:p>
        </p:txBody>
      </p:sp>
      <p:sp>
        <p:nvSpPr>
          <p:cNvPr id="11" name="Text 9"/>
          <p:cNvSpPr/>
          <p:nvPr/>
        </p:nvSpPr>
        <p:spPr>
          <a:xfrm>
            <a:off x="365760" y="3456432"/>
            <a:ext cx="5577840" cy="713232"/>
          </a:xfrm>
          <a:prstGeom prst="rect">
            <a:avLst/>
          </a:prstGeom>
          <a:noFill/>
          <a:ln/>
        </p:spPr>
        <p:txBody>
          <a:bodyPr wrap="square" rtlCol="0" anchor="ctr"/>
          <a:lstStyle/>
          <a:p>
            <a:pPr marL="0" indent="0">
              <a:lnSpc>
                <a:spcPct val="112000"/>
              </a:lnSpc>
              <a:buNone/>
            </a:pPr>
            <a:r>
              <a:rPr lang="en-US" sz="900" dirty="0">
                <a:solidFill>
                  <a:srgbClr val="1C1C1C"/>
                </a:solidFill>
              </a:rPr>
              <a:t>L'orchestrateur décide, sans effet de bord (rejoué en entier). Les activités portent tout le reste. Une I/O qui fuit dans l'orchestrateur ne se voit qu'au rejeu.</a:t>
            </a:r>
            <a:endParaRPr lang="en-US" sz="900" dirty="0"/>
          </a:p>
        </p:txBody>
      </p:sp>
      <p:sp>
        <p:nvSpPr>
          <p:cNvPr id="12" name="Text 10"/>
          <p:cNvSpPr/>
          <p:nvPr/>
        </p:nvSpPr>
        <p:spPr>
          <a:xfrm>
            <a:off x="365760" y="4242816"/>
            <a:ext cx="5577840" cy="201168"/>
          </a:xfrm>
          <a:prstGeom prst="rect">
            <a:avLst/>
          </a:prstGeom>
          <a:noFill/>
          <a:ln/>
        </p:spPr>
        <p:txBody>
          <a:bodyPr wrap="square" rtlCol="0" anchor="ctr"/>
          <a:lstStyle/>
          <a:p>
            <a:pPr marL="0" indent="0">
              <a:buNone/>
            </a:pPr>
            <a:r>
              <a:rPr lang="en-US" sz="1000" b="1" dirty="0">
                <a:solidFill>
                  <a:srgbClr val="003189"/>
                </a:solidFill>
              </a:rPr>
              <a:t>Une activité = une unité de reprise</a:t>
            </a:r>
            <a:endParaRPr lang="en-US" sz="1000" dirty="0"/>
          </a:p>
        </p:txBody>
      </p:sp>
      <p:sp>
        <p:nvSpPr>
          <p:cNvPr id="13" name="Text 11"/>
          <p:cNvSpPr/>
          <p:nvPr/>
        </p:nvSpPr>
        <p:spPr>
          <a:xfrm>
            <a:off x="365760" y="4443984"/>
            <a:ext cx="5577840" cy="713232"/>
          </a:xfrm>
          <a:prstGeom prst="rect">
            <a:avLst/>
          </a:prstGeom>
          <a:noFill/>
          <a:ln/>
        </p:spPr>
        <p:txBody>
          <a:bodyPr wrap="square" rtlCol="0" anchor="ctr"/>
          <a:lstStyle/>
          <a:p>
            <a:pPr marL="0" indent="0">
              <a:lnSpc>
                <a:spcPct val="112000"/>
              </a:lnSpc>
              <a:buNone/>
            </a:pPr>
            <a:r>
              <a:rPr lang="en-US" sz="900" dirty="0">
                <a:solidFill>
                  <a:srgbClr val="1C1C1C"/>
                </a:solidFill>
              </a:rPr>
              <a:t>Plus les activités sont petites, plus la reprise est ciblée. Une sous-activité imbriquée n'a pas de politique propre : l'appeler depuis l'orchestrateur.</a:t>
            </a:r>
            <a:endParaRPr lang="en-US" sz="900" dirty="0"/>
          </a:p>
        </p:txBody>
      </p:sp>
      <p:sp>
        <p:nvSpPr>
          <p:cNvPr id="14" name="Text 12"/>
          <p:cNvSpPr/>
          <p:nvPr/>
        </p:nvSpPr>
        <p:spPr>
          <a:xfrm>
            <a:off x="6172200" y="1280160"/>
            <a:ext cx="5577840" cy="201168"/>
          </a:xfrm>
          <a:prstGeom prst="rect">
            <a:avLst/>
          </a:prstGeom>
          <a:noFill/>
          <a:ln/>
        </p:spPr>
        <p:txBody>
          <a:bodyPr wrap="square" rtlCol="0" anchor="ctr"/>
          <a:lstStyle/>
          <a:p>
            <a:pPr marL="0" indent="0">
              <a:buNone/>
            </a:pPr>
            <a:r>
              <a:rPr lang="en-US" sz="1000" b="1" dirty="0">
                <a:solidFill>
                  <a:srgbClr val="003189"/>
                </a:solidFill>
              </a:rPr>
              <a:t>4 mécanismes, 4 pannes</a:t>
            </a:r>
            <a:endParaRPr lang="en-US" sz="1000" dirty="0"/>
          </a:p>
        </p:txBody>
      </p:sp>
      <p:sp>
        <p:nvSpPr>
          <p:cNvPr id="15" name="Text 13"/>
          <p:cNvSpPr/>
          <p:nvPr/>
        </p:nvSpPr>
        <p:spPr>
          <a:xfrm>
            <a:off x="6172200" y="1481328"/>
            <a:ext cx="5577840" cy="713232"/>
          </a:xfrm>
          <a:prstGeom prst="rect">
            <a:avLst/>
          </a:prstGeom>
          <a:noFill/>
          <a:ln/>
        </p:spPr>
        <p:txBody>
          <a:bodyPr wrap="square" rtlCol="0" anchor="ctr"/>
          <a:lstStyle/>
          <a:p>
            <a:pPr marL="0" indent="0">
              <a:lnSpc>
                <a:spcPct val="112000"/>
              </a:lnSpc>
              <a:buNone/>
            </a:pPr>
            <a:r>
              <a:rPr lang="en-US" sz="900" dirty="0">
                <a:solidFill>
                  <a:srgbClr val="1C1C1C"/>
                </a:solidFill>
              </a:rPr>
              <a:t>Timeout (trop lent), retry (échec passager), heartbeat (blocage silencieux), compensation (échec définitif après succès). La compensation est absente des deux notebooks.</a:t>
            </a:r>
            <a:endParaRPr lang="en-US" sz="900" dirty="0"/>
          </a:p>
        </p:txBody>
      </p:sp>
      <p:sp>
        <p:nvSpPr>
          <p:cNvPr id="16" name="Text 14"/>
          <p:cNvSpPr/>
          <p:nvPr/>
        </p:nvSpPr>
        <p:spPr>
          <a:xfrm>
            <a:off x="6172200" y="2267712"/>
            <a:ext cx="5577840" cy="201168"/>
          </a:xfrm>
          <a:prstGeom prst="rect">
            <a:avLst/>
          </a:prstGeom>
          <a:noFill/>
          <a:ln/>
        </p:spPr>
        <p:txBody>
          <a:bodyPr wrap="square" rtlCol="0" anchor="ctr"/>
          <a:lstStyle/>
          <a:p>
            <a:pPr marL="0" indent="0">
              <a:buNone/>
            </a:pPr>
            <a:r>
              <a:rPr lang="en-US" sz="1000" b="1" dirty="0">
                <a:solidFill>
                  <a:srgbClr val="003189"/>
                </a:solidFill>
              </a:rPr>
              <a:t>La topologie est un livrable</a:t>
            </a:r>
            <a:endParaRPr lang="en-US" sz="1000" dirty="0"/>
          </a:p>
        </p:txBody>
      </p:sp>
      <p:sp>
        <p:nvSpPr>
          <p:cNvPr id="17" name="Text 15"/>
          <p:cNvSpPr/>
          <p:nvPr/>
        </p:nvSpPr>
        <p:spPr>
          <a:xfrm>
            <a:off x="6172200" y="2468880"/>
            <a:ext cx="5577840" cy="713232"/>
          </a:xfrm>
          <a:prstGeom prst="rect">
            <a:avLst/>
          </a:prstGeom>
          <a:noFill/>
          <a:ln/>
        </p:spPr>
        <p:txBody>
          <a:bodyPr wrap="square" rtlCol="0" anchor="ctr"/>
          <a:lstStyle/>
          <a:p>
            <a:pPr marL="0" indent="0">
              <a:lnSpc>
                <a:spcPct val="112000"/>
              </a:lnSpc>
              <a:buNone/>
            </a:pPr>
            <a:r>
              <a:rPr lang="en-US" sz="900" dirty="0">
                <a:solidFill>
                  <a:srgbClr val="1C1C1C"/>
                </a:solidFill>
              </a:rPr>
              <a:t>Séquence, branche, cycle borné, arrêt humain. Se dessine avant le code, se fait relire par le métier. Un cycle non borné est un défaut classique d'un workflow réel.</a:t>
            </a:r>
            <a:endParaRPr lang="en-US" sz="900" dirty="0"/>
          </a:p>
        </p:txBody>
      </p:sp>
      <p:sp>
        <p:nvSpPr>
          <p:cNvPr id="18" name="Text 16"/>
          <p:cNvSpPr/>
          <p:nvPr/>
        </p:nvSpPr>
        <p:spPr>
          <a:xfrm>
            <a:off x="6172200" y="3255264"/>
            <a:ext cx="5577840" cy="201168"/>
          </a:xfrm>
          <a:prstGeom prst="rect">
            <a:avLst/>
          </a:prstGeom>
          <a:noFill/>
          <a:ln/>
        </p:spPr>
        <p:txBody>
          <a:bodyPr wrap="square" rtlCol="0" anchor="ctr"/>
          <a:lstStyle/>
          <a:p>
            <a:pPr marL="0" indent="0">
              <a:buNone/>
            </a:pPr>
            <a:r>
              <a:rPr lang="en-US" sz="1000" b="1" dirty="0">
                <a:solidFill>
                  <a:srgbClr val="003189"/>
                </a:solidFill>
              </a:rPr>
              <a:t>Un harnais golden déterministe</a:t>
            </a:r>
            <a:endParaRPr lang="en-US" sz="1000" dirty="0"/>
          </a:p>
        </p:txBody>
      </p:sp>
      <p:sp>
        <p:nvSpPr>
          <p:cNvPr id="19" name="Text 17"/>
          <p:cNvSpPr/>
          <p:nvPr/>
        </p:nvSpPr>
        <p:spPr>
          <a:xfrm>
            <a:off x="6172200" y="3456432"/>
            <a:ext cx="5577840" cy="713232"/>
          </a:xfrm>
          <a:prstGeom prst="rect">
            <a:avLst/>
          </a:prstGeom>
          <a:noFill/>
          <a:ln/>
        </p:spPr>
        <p:txBody>
          <a:bodyPr wrap="square" rtlCol="0" anchor="ctr"/>
          <a:lstStyle/>
          <a:p>
            <a:pPr marL="0" indent="0">
              <a:lnSpc>
                <a:spcPct val="112000"/>
              </a:lnSpc>
              <a:buNone/>
            </a:pPr>
            <a:r>
              <a:rPr lang="en-US" sz="900" dirty="0">
                <a:solidFill>
                  <a:srgbClr val="1C1C1C"/>
                </a:solidFill>
              </a:rPr>
              <a:t>Pas de juge, pas de calibration, pas de variance : des faits qui se comparent exactement. Le cas favorable de l'évaluation, tant qu'aucun LLM n'entre dans une station.</a:t>
            </a:r>
            <a:endParaRPr lang="en-US" sz="900" dirty="0"/>
          </a:p>
        </p:txBody>
      </p:sp>
      <p:sp>
        <p:nvSpPr>
          <p:cNvPr id="20" name="Text 18"/>
          <p:cNvSpPr/>
          <p:nvPr/>
        </p:nvSpPr>
        <p:spPr>
          <a:xfrm>
            <a:off x="6172200" y="4242816"/>
            <a:ext cx="5577840" cy="201168"/>
          </a:xfrm>
          <a:prstGeom prst="rect">
            <a:avLst/>
          </a:prstGeom>
          <a:noFill/>
          <a:ln/>
        </p:spPr>
        <p:txBody>
          <a:bodyPr wrap="square" rtlCol="0" anchor="ctr"/>
          <a:lstStyle/>
          <a:p>
            <a:pPr marL="0" indent="0">
              <a:buNone/>
            </a:pPr>
            <a:r>
              <a:rPr lang="en-US" sz="1000" b="1" dirty="0">
                <a:solidFill>
                  <a:srgbClr val="003189"/>
                </a:solidFill>
              </a:rPr>
              <a:t>Réflexes</a:t>
            </a:r>
            <a:endParaRPr lang="en-US" sz="1000" dirty="0"/>
          </a:p>
        </p:txBody>
      </p:sp>
      <p:sp>
        <p:nvSpPr>
          <p:cNvPr id="21" name="Text 19"/>
          <p:cNvSpPr/>
          <p:nvPr/>
        </p:nvSpPr>
        <p:spPr>
          <a:xfrm>
            <a:off x="6172200" y="4443984"/>
            <a:ext cx="5577840" cy="713232"/>
          </a:xfrm>
          <a:prstGeom prst="rect">
            <a:avLst/>
          </a:prstGeom>
          <a:noFill/>
          <a:ln/>
        </p:spPr>
        <p:txBody>
          <a:bodyPr wrap="square" rtlCol="0" anchor="ctr"/>
          <a:lstStyle/>
          <a:p>
            <a:pPr marL="0" indent="0">
              <a:lnSpc>
                <a:spcPct val="112000"/>
              </a:lnSpc>
              <a:buNone/>
            </a:pPr>
            <a:r>
              <a:rPr lang="en-US" sz="900" dirty="0">
                <a:solidFill>
                  <a:srgbClr val="1C1C1C"/>
                </a:solidFill>
              </a:rPr>
              <a:t>① Dessiner la topologie avant le code. ② Tester l'idempotence, pas que le résultat. ③ Figer le jeu golden avant, le faire grossir des incidents. ④ Écrire la décision par défaut de chaque arrêt humain.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Références · T2 Workflows</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Sources primaires vérifiées</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sp>
        <p:nvSpPr>
          <p:cNvPr id="6" name="Text 4"/>
          <p:cNvSpPr/>
          <p:nvPr/>
        </p:nvSpPr>
        <p:spPr>
          <a:xfrm>
            <a:off x="365760" y="1371600"/>
            <a:ext cx="5532120" cy="219456"/>
          </a:xfrm>
          <a:prstGeom prst="rect">
            <a:avLst/>
          </a:prstGeom>
          <a:noFill/>
          <a:ln/>
        </p:spPr>
        <p:txBody>
          <a:bodyPr wrap="square" rtlCol="0" anchor="ctr"/>
          <a:lstStyle/>
          <a:p>
            <a:pPr marL="0" indent="0">
              <a:buNone/>
            </a:pPr>
            <a:r>
              <a:rPr lang="en-US" sz="950" b="1" dirty="0">
                <a:solidFill>
                  <a:srgbClr val="003189"/>
                </a:solidFill>
              </a:rPr>
              <a:t>Fowler, M. (2005) :</a:t>
            </a:r>
            <a:endParaRPr lang="en-US" sz="950" dirty="0"/>
          </a:p>
        </p:txBody>
      </p:sp>
      <p:sp>
        <p:nvSpPr>
          <p:cNvPr id="7" name="Text 5"/>
          <p:cNvSpPr/>
          <p:nvPr/>
        </p:nvSpPr>
        <p:spPr>
          <a:xfrm>
            <a:off x="365760" y="1572768"/>
            <a:ext cx="5532120" cy="603504"/>
          </a:xfrm>
          <a:prstGeom prst="rect">
            <a:avLst/>
          </a:prstGeom>
          <a:noFill/>
          <a:ln/>
        </p:spPr>
        <p:txBody>
          <a:bodyPr wrap="square" rtlCol="0" anchor="ctr"/>
          <a:lstStyle/>
          <a:p>
            <a:pPr marL="0" indent="0">
              <a:lnSpc>
                <a:spcPct val="110000"/>
              </a:lnSpc>
              <a:buNone/>
            </a:pPr>
            <a:r>
              <a:rPr lang="en-US" sz="850" dirty="0">
                <a:solidFill>
                  <a:srgbClr val="1C1C1C"/>
                </a:solidFill>
              </a:rPr>
              <a:t>« Event Sourcing », martinfowler.com/eaaDev/EventSourcing.html (12 déc. 2005).</a:t>
            </a:r>
            <a:endParaRPr lang="en-US" sz="850" dirty="0"/>
          </a:p>
        </p:txBody>
      </p:sp>
      <p:sp>
        <p:nvSpPr>
          <p:cNvPr id="8" name="Text 6"/>
          <p:cNvSpPr/>
          <p:nvPr/>
        </p:nvSpPr>
        <p:spPr>
          <a:xfrm>
            <a:off x="365760" y="2240280"/>
            <a:ext cx="5532120" cy="219456"/>
          </a:xfrm>
          <a:prstGeom prst="rect">
            <a:avLst/>
          </a:prstGeom>
          <a:noFill/>
          <a:ln/>
        </p:spPr>
        <p:txBody>
          <a:bodyPr wrap="square" rtlCol="0" anchor="ctr"/>
          <a:lstStyle/>
          <a:p>
            <a:pPr marL="0" indent="0">
              <a:buNone/>
            </a:pPr>
            <a:r>
              <a:rPr lang="en-US" sz="950" b="1" dirty="0">
                <a:solidFill>
                  <a:srgbClr val="003189"/>
                </a:solidFill>
              </a:rPr>
              <a:t>Garcia-Molina &amp; Salem (1987) :</a:t>
            </a:r>
            <a:endParaRPr lang="en-US" sz="950" dirty="0"/>
          </a:p>
        </p:txBody>
      </p:sp>
      <p:sp>
        <p:nvSpPr>
          <p:cNvPr id="9" name="Text 7"/>
          <p:cNvSpPr/>
          <p:nvPr/>
        </p:nvSpPr>
        <p:spPr>
          <a:xfrm>
            <a:off x="365760" y="2441448"/>
            <a:ext cx="5532120" cy="603504"/>
          </a:xfrm>
          <a:prstGeom prst="rect">
            <a:avLst/>
          </a:prstGeom>
          <a:noFill/>
          <a:ln/>
        </p:spPr>
        <p:txBody>
          <a:bodyPr wrap="square" rtlCol="0" anchor="ctr"/>
          <a:lstStyle/>
          <a:p>
            <a:pPr marL="0" indent="0">
              <a:lnSpc>
                <a:spcPct val="110000"/>
              </a:lnSpc>
              <a:buNone/>
            </a:pPr>
            <a:r>
              <a:rPr lang="en-US" sz="850" dirty="0">
                <a:solidFill>
                  <a:srgbClr val="1C1C1C"/>
                </a:solidFill>
              </a:rPr>
              <a:t>« Sagas », ACM SIGMOD Record, Vol. 16(3), DOI 10.1145/38714.38742 — version Record (et non Proceedings).</a:t>
            </a:r>
            <a:endParaRPr lang="en-US" sz="850" dirty="0"/>
          </a:p>
        </p:txBody>
      </p:sp>
      <p:sp>
        <p:nvSpPr>
          <p:cNvPr id="10" name="Text 8"/>
          <p:cNvSpPr/>
          <p:nvPr/>
        </p:nvSpPr>
        <p:spPr>
          <a:xfrm>
            <a:off x="365760" y="3108960"/>
            <a:ext cx="5532120" cy="219456"/>
          </a:xfrm>
          <a:prstGeom prst="rect">
            <a:avLst/>
          </a:prstGeom>
          <a:noFill/>
          <a:ln/>
        </p:spPr>
        <p:txBody>
          <a:bodyPr wrap="square" rtlCol="0" anchor="ctr"/>
          <a:lstStyle/>
          <a:p>
            <a:pPr marL="0" indent="0">
              <a:buNone/>
            </a:pPr>
            <a:r>
              <a:rPr lang="en-US" sz="950" b="1" dirty="0">
                <a:solidFill>
                  <a:srgbClr val="003189"/>
                </a:solidFill>
              </a:rPr>
              <a:t>Richardson, C. (2018) :</a:t>
            </a:r>
            <a:endParaRPr lang="en-US" sz="950" dirty="0"/>
          </a:p>
        </p:txBody>
      </p:sp>
      <p:sp>
        <p:nvSpPr>
          <p:cNvPr id="11" name="Text 9"/>
          <p:cNvSpPr/>
          <p:nvPr/>
        </p:nvSpPr>
        <p:spPr>
          <a:xfrm>
            <a:off x="365760" y="3310128"/>
            <a:ext cx="5532120" cy="603504"/>
          </a:xfrm>
          <a:prstGeom prst="rect">
            <a:avLst/>
          </a:prstGeom>
          <a:noFill/>
          <a:ln/>
        </p:spPr>
        <p:txBody>
          <a:bodyPr wrap="square" rtlCol="0" anchor="ctr"/>
          <a:lstStyle/>
          <a:p>
            <a:pPr marL="0" indent="0">
              <a:lnSpc>
                <a:spcPct val="110000"/>
              </a:lnSpc>
              <a:buNone/>
            </a:pPr>
            <a:r>
              <a:rPr lang="en-US" sz="850" dirty="0">
                <a:solidFill>
                  <a:srgbClr val="1C1C1C"/>
                </a:solidFill>
              </a:rPr>
              <a:t>Microservices Patterns, Manning — chapitre 4 « Managing transactions with sagas ».</a:t>
            </a:r>
            <a:endParaRPr lang="en-US" sz="850" dirty="0"/>
          </a:p>
        </p:txBody>
      </p:sp>
      <p:sp>
        <p:nvSpPr>
          <p:cNvPr id="12" name="Text 10"/>
          <p:cNvSpPr/>
          <p:nvPr/>
        </p:nvSpPr>
        <p:spPr>
          <a:xfrm>
            <a:off x="365760" y="3977640"/>
            <a:ext cx="5532120" cy="219456"/>
          </a:xfrm>
          <a:prstGeom prst="rect">
            <a:avLst/>
          </a:prstGeom>
          <a:noFill/>
          <a:ln/>
        </p:spPr>
        <p:txBody>
          <a:bodyPr wrap="square" rtlCol="0" anchor="ctr"/>
          <a:lstStyle/>
          <a:p>
            <a:pPr marL="0" indent="0">
              <a:buNone/>
            </a:pPr>
            <a:r>
              <a:rPr lang="en-US" sz="950" b="1" dirty="0">
                <a:solidFill>
                  <a:srgbClr val="003189"/>
                </a:solidFill>
              </a:rPr>
              <a:t>Temporal :</a:t>
            </a:r>
            <a:endParaRPr lang="en-US" sz="950" dirty="0"/>
          </a:p>
        </p:txBody>
      </p:sp>
      <p:sp>
        <p:nvSpPr>
          <p:cNvPr id="13" name="Text 11"/>
          <p:cNvSpPr/>
          <p:nvPr/>
        </p:nvSpPr>
        <p:spPr>
          <a:xfrm>
            <a:off x="365760" y="4178808"/>
            <a:ext cx="5532120" cy="603504"/>
          </a:xfrm>
          <a:prstGeom prst="rect">
            <a:avLst/>
          </a:prstGeom>
          <a:noFill/>
          <a:ln/>
        </p:spPr>
        <p:txBody>
          <a:bodyPr wrap="square" rtlCol="0" anchor="ctr"/>
          <a:lstStyle/>
          <a:p>
            <a:pPr marL="0" indent="0">
              <a:lnSpc>
                <a:spcPct val="110000"/>
              </a:lnSpc>
              <a:buNone/>
            </a:pPr>
            <a:r>
              <a:rPr lang="en-US" sz="850" dirty="0">
                <a:solidFill>
                  <a:srgbClr val="1C1C1C"/>
                </a:solidFill>
              </a:rPr>
              <a:t>« The definitive guide to Durable Execution », temporal.io — concepts d'exécution durable.</a:t>
            </a:r>
            <a:endParaRPr lang="en-US" sz="850" dirty="0"/>
          </a:p>
        </p:txBody>
      </p:sp>
      <p:sp>
        <p:nvSpPr>
          <p:cNvPr id="14" name="Text 12"/>
          <p:cNvSpPr/>
          <p:nvPr/>
        </p:nvSpPr>
        <p:spPr>
          <a:xfrm>
            <a:off x="365760" y="4846320"/>
            <a:ext cx="5532120" cy="219456"/>
          </a:xfrm>
          <a:prstGeom prst="rect">
            <a:avLst/>
          </a:prstGeom>
          <a:noFill/>
          <a:ln/>
        </p:spPr>
        <p:txBody>
          <a:bodyPr wrap="square" rtlCol="0" anchor="ctr"/>
          <a:lstStyle/>
          <a:p>
            <a:pPr marL="0" indent="0">
              <a:buNone/>
            </a:pPr>
            <a:r>
              <a:rPr lang="en-US" sz="950" b="1" dirty="0">
                <a:solidFill>
                  <a:srgbClr val="003189"/>
                </a:solidFill>
              </a:rPr>
              <a:t>Temporal LangGraph Plugin (2026) :</a:t>
            </a:r>
            <a:endParaRPr lang="en-US" sz="950" dirty="0"/>
          </a:p>
        </p:txBody>
      </p:sp>
      <p:sp>
        <p:nvSpPr>
          <p:cNvPr id="15" name="Text 13"/>
          <p:cNvSpPr/>
          <p:nvPr/>
        </p:nvSpPr>
        <p:spPr>
          <a:xfrm>
            <a:off x="365760" y="5047488"/>
            <a:ext cx="5532120" cy="603504"/>
          </a:xfrm>
          <a:prstGeom prst="rect">
            <a:avLst/>
          </a:prstGeom>
          <a:noFill/>
          <a:ln/>
        </p:spPr>
        <p:txBody>
          <a:bodyPr wrap="square" rtlCol="0" anchor="ctr"/>
          <a:lstStyle/>
          <a:p>
            <a:pPr marL="0" indent="0">
              <a:lnSpc>
                <a:spcPct val="110000"/>
              </a:lnSpc>
              <a:buNone/>
            </a:pPr>
            <a:r>
              <a:rPr lang="en-US" sz="850" dirty="0">
                <a:solidFill>
                  <a:srgbClr val="1C1C1C"/>
                </a:solidFill>
              </a:rPr>
              <a:t>temporal.io/blog — exécuter un StateGraph LangGraph sur Temporal ; préversion publique, fourni par Temporal.</a:t>
            </a:r>
            <a:endParaRPr lang="en-US" sz="850" dirty="0"/>
          </a:p>
        </p:txBody>
      </p:sp>
      <p:sp>
        <p:nvSpPr>
          <p:cNvPr id="16" name="Text 14"/>
          <p:cNvSpPr/>
          <p:nvPr/>
        </p:nvSpPr>
        <p:spPr>
          <a:xfrm>
            <a:off x="6263640" y="1371600"/>
            <a:ext cx="5532120" cy="219456"/>
          </a:xfrm>
          <a:prstGeom prst="rect">
            <a:avLst/>
          </a:prstGeom>
          <a:noFill/>
          <a:ln/>
        </p:spPr>
        <p:txBody>
          <a:bodyPr wrap="square" rtlCol="0" anchor="ctr"/>
          <a:lstStyle/>
          <a:p>
            <a:pPr marL="0" indent="0">
              <a:buNone/>
            </a:pPr>
            <a:r>
              <a:rPr lang="en-US" sz="950" b="1" dirty="0">
                <a:solidFill>
                  <a:srgbClr val="003189"/>
                </a:solidFill>
              </a:rPr>
              <a:t>Mistral Workflows :</a:t>
            </a:r>
            <a:endParaRPr lang="en-US" sz="950" dirty="0"/>
          </a:p>
        </p:txBody>
      </p:sp>
      <p:sp>
        <p:nvSpPr>
          <p:cNvPr id="17" name="Text 15"/>
          <p:cNvSpPr/>
          <p:nvPr/>
        </p:nvSpPr>
        <p:spPr>
          <a:xfrm>
            <a:off x="6263640" y="1572768"/>
            <a:ext cx="5532120" cy="603504"/>
          </a:xfrm>
          <a:prstGeom prst="rect">
            <a:avLst/>
          </a:prstGeom>
          <a:noFill/>
          <a:ln/>
        </p:spPr>
        <p:txBody>
          <a:bodyPr wrap="square" rtlCol="0" anchor="ctr"/>
          <a:lstStyle/>
          <a:p>
            <a:pPr marL="0" indent="0">
              <a:lnSpc>
                <a:spcPct val="110000"/>
              </a:lnSpc>
              <a:buNone/>
            </a:pPr>
            <a:r>
              <a:rPr lang="en-US" sz="850" dirty="0">
                <a:solidFill>
                  <a:srgbClr val="1C1C1C"/>
                </a:solidFill>
              </a:rPr>
              <a:t>mistral.ai/news/workflows + paquet mistralai-workflows (PyPI, beta) ; préversion publique Studio (avril 2026).</a:t>
            </a:r>
            <a:endParaRPr lang="en-US" sz="850" dirty="0"/>
          </a:p>
        </p:txBody>
      </p:sp>
      <p:sp>
        <p:nvSpPr>
          <p:cNvPr id="18" name="Text 16"/>
          <p:cNvSpPr/>
          <p:nvPr/>
        </p:nvSpPr>
        <p:spPr>
          <a:xfrm>
            <a:off x="6263640" y="2240280"/>
            <a:ext cx="5532120" cy="219456"/>
          </a:xfrm>
          <a:prstGeom prst="rect">
            <a:avLst/>
          </a:prstGeom>
          <a:noFill/>
          <a:ln/>
        </p:spPr>
        <p:txBody>
          <a:bodyPr wrap="square" rtlCol="0" anchor="ctr"/>
          <a:lstStyle/>
          <a:p>
            <a:pPr marL="0" indent="0">
              <a:buNone/>
            </a:pPr>
            <a:r>
              <a:rPr lang="en-US" sz="950" b="1" dirty="0">
                <a:solidFill>
                  <a:srgbClr val="003189"/>
                </a:solidFill>
              </a:rPr>
              <a:t>LangGraph :</a:t>
            </a:r>
            <a:endParaRPr lang="en-US" sz="950" dirty="0"/>
          </a:p>
        </p:txBody>
      </p:sp>
      <p:sp>
        <p:nvSpPr>
          <p:cNvPr id="19" name="Text 17"/>
          <p:cNvSpPr/>
          <p:nvPr/>
        </p:nvSpPr>
        <p:spPr>
          <a:xfrm>
            <a:off x="6263640" y="2441448"/>
            <a:ext cx="5532120" cy="603504"/>
          </a:xfrm>
          <a:prstGeom prst="rect">
            <a:avLst/>
          </a:prstGeom>
          <a:noFill/>
          <a:ln/>
        </p:spPr>
        <p:txBody>
          <a:bodyPr wrap="square" rtlCol="0" anchor="ctr"/>
          <a:lstStyle/>
          <a:p>
            <a:pPr marL="0" indent="0">
              <a:lnSpc>
                <a:spcPct val="110000"/>
              </a:lnSpc>
              <a:buNone/>
            </a:pPr>
            <a:r>
              <a:rPr lang="en-US" sz="850" dirty="0">
                <a:solidFill>
                  <a:srgbClr val="1C1C1C"/>
                </a:solidFill>
              </a:rPr>
              <a:t>docs.langchain.com — MIT ; 1.0 en disponibilité générale (22/10/2025). Cours épinglé 0.6.11 (compat Ragas).</a:t>
            </a:r>
            <a:endParaRPr lang="en-US" sz="850" dirty="0"/>
          </a:p>
        </p:txBody>
      </p:sp>
      <p:sp>
        <p:nvSpPr>
          <p:cNvPr id="20" name="Text 18"/>
          <p:cNvSpPr/>
          <p:nvPr/>
        </p:nvSpPr>
        <p:spPr>
          <a:xfrm>
            <a:off x="6263640" y="3108960"/>
            <a:ext cx="5532120" cy="219456"/>
          </a:xfrm>
          <a:prstGeom prst="rect">
            <a:avLst/>
          </a:prstGeom>
          <a:noFill/>
          <a:ln/>
        </p:spPr>
        <p:txBody>
          <a:bodyPr wrap="square" rtlCol="0" anchor="ctr"/>
          <a:lstStyle/>
          <a:p>
            <a:pPr marL="0" indent="0">
              <a:buNone/>
            </a:pPr>
            <a:r>
              <a:rPr lang="en-US" sz="950" b="1" dirty="0">
                <a:solidFill>
                  <a:srgbClr val="003189"/>
                </a:solidFill>
              </a:rPr>
              <a:t>Morez / lunetterie :</a:t>
            </a:r>
            <a:endParaRPr lang="en-US" sz="950" dirty="0"/>
          </a:p>
        </p:txBody>
      </p:sp>
      <p:sp>
        <p:nvSpPr>
          <p:cNvPr id="21" name="Text 19"/>
          <p:cNvSpPr/>
          <p:nvPr/>
        </p:nvSpPr>
        <p:spPr>
          <a:xfrm>
            <a:off x="6263640" y="3310128"/>
            <a:ext cx="5532120" cy="603504"/>
          </a:xfrm>
          <a:prstGeom prst="rect">
            <a:avLst/>
          </a:prstGeom>
          <a:noFill/>
          <a:ln/>
        </p:spPr>
        <p:txBody>
          <a:bodyPr wrap="square" rtlCol="0" anchor="ctr"/>
          <a:lstStyle/>
          <a:p>
            <a:pPr marL="0" indent="0">
              <a:lnSpc>
                <a:spcPct val="110000"/>
              </a:lnSpc>
              <a:buNone/>
            </a:pPr>
            <a:r>
              <a:rPr lang="en-US" sz="850" dirty="0">
                <a:solidFill>
                  <a:srgbClr val="1C1C1C"/>
                </a:solidFill>
              </a:rPr>
              <a:t>Musée de la Lunette de Morez (Jura) — capitale historique de la lunetterie française (depuis 1796).</a:t>
            </a:r>
            <a:endParaRPr lang="en-US" sz="850" dirty="0"/>
          </a:p>
        </p:txBody>
      </p:sp>
      <p:sp>
        <p:nvSpPr>
          <p:cNvPr id="22" name="Text 20"/>
          <p:cNvSpPr/>
          <p:nvPr/>
        </p:nvSpPr>
        <p:spPr>
          <a:xfrm>
            <a:off x="6263640" y="3977640"/>
            <a:ext cx="5532120" cy="219456"/>
          </a:xfrm>
          <a:prstGeom prst="rect">
            <a:avLst/>
          </a:prstGeom>
          <a:noFill/>
          <a:ln/>
        </p:spPr>
        <p:txBody>
          <a:bodyPr wrap="square" rtlCol="0" anchor="ctr"/>
          <a:lstStyle/>
          <a:p>
            <a:pPr marL="0" indent="0">
              <a:buNone/>
            </a:pPr>
            <a:r>
              <a:rPr lang="en-US" sz="950" b="1" dirty="0">
                <a:solidFill>
                  <a:srgbClr val="003189"/>
                </a:solidFill>
              </a:rPr>
              <a:t>Sources du fil rouge :</a:t>
            </a:r>
            <a:endParaRPr lang="en-US" sz="950" dirty="0"/>
          </a:p>
        </p:txBody>
      </p:sp>
      <p:sp>
        <p:nvSpPr>
          <p:cNvPr id="23" name="Text 21"/>
          <p:cNvSpPr/>
          <p:nvPr/>
        </p:nvSpPr>
        <p:spPr>
          <a:xfrm>
            <a:off x="6263640" y="4178808"/>
            <a:ext cx="5532120" cy="603504"/>
          </a:xfrm>
          <a:prstGeom prst="rect">
            <a:avLst/>
          </a:prstGeom>
          <a:noFill/>
          <a:ln/>
        </p:spPr>
        <p:txBody>
          <a:bodyPr wrap="square" rtlCol="0" anchor="ctr"/>
          <a:lstStyle/>
          <a:p>
            <a:pPr marL="0" indent="0">
              <a:lnSpc>
                <a:spcPct val="110000"/>
              </a:lnSpc>
              <a:buNone/>
            </a:pPr>
            <a:r>
              <a:rPr lang="en-US" sz="850" dirty="0">
                <a:solidFill>
                  <a:srgbClr val="1C1C1C"/>
                </a:solidFill>
              </a:rPr>
              <a:t>usine_lunettes.py (stations, coûts, règles qualité) + usine_viz.py (tracés). Coûts et durées INDICATIFS.</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3189"/>
          </a:solidFill>
          <a:ln/>
        </p:spPr>
        <p:txBody>
          <a:bodyPr/>
          <a:lstStyle/>
          <a:p>
            <a:endParaRPr lang="fr-FR"/>
          </a:p>
        </p:txBody>
      </p:sp>
      <p:sp>
        <p:nvSpPr>
          <p:cNvPr id="3" name="Text 1"/>
          <p:cNvSpPr/>
          <p:nvPr/>
        </p:nvSpPr>
        <p:spPr>
          <a:xfrm>
            <a:off x="274320" y="109728"/>
            <a:ext cx="11640312" cy="566928"/>
          </a:xfrm>
          <a:prstGeom prst="rect">
            <a:avLst/>
          </a:prstGeom>
          <a:noFill/>
          <a:ln/>
        </p:spPr>
        <p:txBody>
          <a:bodyPr wrap="square" rtlCol="0" anchor="t"/>
          <a:lstStyle/>
          <a:p>
            <a:pPr marL="0" indent="0" algn="l">
              <a:buNone/>
            </a:pPr>
            <a:r>
              <a:rPr lang="en-US" sz="2400" b="1" dirty="0">
                <a:solidFill>
                  <a:srgbClr val="FFFFFF"/>
                </a:solidFill>
              </a:rPr>
              <a:t>Annexe · Limites et robustesse</a:t>
            </a:r>
            <a:endParaRPr lang="en-US" sz="2400" dirty="0"/>
          </a:p>
        </p:txBody>
      </p:sp>
      <p:sp>
        <p:nvSpPr>
          <p:cNvPr id="4" name="Text 2"/>
          <p:cNvSpPr/>
          <p:nvPr/>
        </p:nvSpPr>
        <p:spPr>
          <a:xfrm>
            <a:off x="274320" y="749808"/>
            <a:ext cx="11640312" cy="292608"/>
          </a:xfrm>
          <a:prstGeom prst="rect">
            <a:avLst/>
          </a:prstGeom>
          <a:noFill/>
          <a:ln/>
        </p:spPr>
        <p:txBody>
          <a:bodyPr wrap="square" rtlCol="0" anchor="ctr"/>
          <a:lstStyle/>
          <a:p>
            <a:pPr marL="0" indent="0" algn="l">
              <a:buNone/>
            </a:pPr>
            <a:r>
              <a:rPr lang="en-US" sz="1250" dirty="0">
                <a:solidFill>
                  <a:srgbClr val="BECDF0"/>
                </a:solidFill>
              </a:rPr>
              <a:t>Ce que cette présentation ne prouve pas · À dire avant qu'un expert ne le demande</a:t>
            </a:r>
            <a:endParaRPr lang="en-US" sz="1250" dirty="0"/>
          </a:p>
        </p:txBody>
      </p:sp>
      <p:sp>
        <p:nvSpPr>
          <p:cNvPr id="5" name="Shape 3"/>
          <p:cNvSpPr/>
          <p:nvPr/>
        </p:nvSpPr>
        <p:spPr>
          <a:xfrm>
            <a:off x="0" y="1115568"/>
            <a:ext cx="12188952" cy="22860"/>
          </a:xfrm>
          <a:prstGeom prst="rect">
            <a:avLst/>
          </a:prstGeom>
          <a:solidFill>
            <a:srgbClr val="003189"/>
          </a:solidFill>
          <a:ln/>
        </p:spPr>
        <p:txBody>
          <a:bodyPr/>
          <a:lstStyle/>
          <a:p>
            <a:endParaRPr lang="fr-F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1143000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8961120">
                  <a:extLst>
                    <a:ext uri="{9D8B030D-6E8A-4147-A177-3AD203B41FA5}">
                      <a16:colId xmlns:a16="http://schemas.microsoft.com/office/drawing/2014/main" val="20001"/>
                    </a:ext>
                  </a:extLst>
                </a:gridCol>
              </a:tblGrid>
              <a:tr h="0">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Point</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Limite assumée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3189"/>
                    </a:solidFill>
                  </a:tcPr>
                </a:tc>
                <a:extLst>
                  <a:ext uri="{0D108BD9-81ED-4DB2-BD59-A6C34878D82A}">
                    <a16:rowId xmlns:a16="http://schemas.microsoft.com/office/drawing/2014/main" val="10000"/>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Nature des preuves</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La majorité des chiffres décrivent une DÉMO (usine fictive de Morez, notebooks NB_T2a/NB_T2b). Coûts et durées indicatifs, choisis pour la lisibilité — non extrapolables tels quels en production.</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LangGraph sur Temporal</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Intégration réelle et officielle, mais via un plugin fourni par Temporal, en préversion publique (2026) — pas une fonctionnalité native LangGraph ni GA.</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2"/>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Maturité des moteurs</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Terrain asymétrique : Mistral Workflows en préversion/beta (2026) face à LangGraph MIT, 1.x GA (2025). Le deck outille un choix, il ne recommande pas un outil.</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Lois tirées de l'usine</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Idempotence, cycle borné, 4 mécanismes de fiabilité : patterns standards de l'industrie (Temporal, Saga), mais illustrés sur un cas-jouet. Valides, à ne pas prendre pour des lois absolues.</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4"/>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Cadre RGPD</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Interprétation (accountability art. 5.2, registre art. 30, parmi d'autres obligations). Ces slides décrivent des architectures, ne donnent aucun avis juridique : DPO et RSSI tranchent.</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950" b="1" dirty="0">
                          <a:solidFill>
                            <a:srgbClr val="003189"/>
                          </a:solidFill>
                          <a:latin typeface="Calibri" pitchFamily="34" charset="0"/>
                          <a:ea typeface="Calibri" pitchFamily="34" charset="-122"/>
                          <a:cs typeface="Calibri" pitchFamily="34" charset="-120"/>
                        </a:rPr>
                        <a:t>Éléments périssables</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DFF"/>
                    </a:solidFill>
                  </a:tcPr>
                </a:tc>
                <a:tc>
                  <a:txBody>
                    <a:bodyPr/>
                    <a:lstStyle/>
                    <a:p>
                      <a:pPr marL="0" indent="0" algn="l">
                        <a:buNone/>
                      </a:pPr>
                      <a:r>
                        <a:rPr lang="en-US" sz="950" dirty="0">
                          <a:solidFill>
                            <a:srgbClr val="1C1C1C"/>
                          </a:solidFill>
                          <a:latin typeface="Calibri" pitchFamily="34" charset="0"/>
                          <a:ea typeface="Calibri" pitchFamily="34" charset="-122"/>
                          <a:cs typeface="Calibri" pitchFamily="34" charset="-120"/>
                        </a:rPr>
                        <a:t>Statut des préversions, versions épinglées (mistralai-workflows, langgraph), état des docs : à revérifier à la date de la formation.</a:t>
                      </a:r>
                      <a:endParaRPr lang="en-US" sz="950" dirty="0">
                        <a:latin typeface="Calibri" charset="0"/>
                        <a:ea typeface="Calibri" charset="0"/>
                        <a:cs typeface="Calibri" charset="0"/>
                      </a:endParaRPr>
                    </a:p>
                  </a:txBody>
                  <a:tcPr marL="54864" marR="54864"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7FF"/>
                    </a:solidFill>
                  </a:tcPr>
                </a:tc>
                <a:extLst>
                  <a:ext uri="{0D108BD9-81ED-4DB2-BD59-A6C34878D82A}">
                    <a16:rowId xmlns:a16="http://schemas.microsoft.com/office/drawing/2014/main" val="10006"/>
                  </a:ext>
                </a:extLst>
              </a:tr>
            </a:tbl>
          </a:graphicData>
        </a:graphic>
      </p:graphicFrame>
      <p:sp>
        <p:nvSpPr>
          <p:cNvPr id="7" name="Shape 4"/>
          <p:cNvSpPr/>
          <p:nvPr/>
        </p:nvSpPr>
        <p:spPr>
          <a:xfrm>
            <a:off x="365760" y="5303520"/>
            <a:ext cx="11430000" cy="1097280"/>
          </a:xfrm>
          <a:prstGeom prst="rect">
            <a:avLst/>
          </a:prstGeom>
          <a:solidFill>
            <a:srgbClr val="E8EDFF"/>
          </a:solidFill>
          <a:ln/>
        </p:spPr>
        <p:txBody>
          <a:bodyPr/>
          <a:lstStyle/>
          <a:p>
            <a:endParaRPr lang="fr-FR"/>
          </a:p>
        </p:txBody>
      </p:sp>
      <p:sp>
        <p:nvSpPr>
          <p:cNvPr id="8" name="Shape 5"/>
          <p:cNvSpPr/>
          <p:nvPr/>
        </p:nvSpPr>
        <p:spPr>
          <a:xfrm>
            <a:off x="365760" y="5303520"/>
            <a:ext cx="54864" cy="1097280"/>
          </a:xfrm>
          <a:prstGeom prst="rect">
            <a:avLst/>
          </a:prstGeom>
          <a:solidFill>
            <a:srgbClr val="003189"/>
          </a:solidFill>
          <a:ln/>
        </p:spPr>
        <p:txBody>
          <a:bodyPr/>
          <a:lstStyle/>
          <a:p>
            <a:endParaRPr lang="fr-FR"/>
          </a:p>
        </p:txBody>
      </p:sp>
      <p:sp>
        <p:nvSpPr>
          <p:cNvPr id="9" name="Text 6"/>
          <p:cNvSpPr/>
          <p:nvPr/>
        </p:nvSpPr>
        <p:spPr>
          <a:xfrm>
            <a:off x="512064" y="5367528"/>
            <a:ext cx="11201400" cy="969264"/>
          </a:xfrm>
          <a:prstGeom prst="rect">
            <a:avLst/>
          </a:prstGeom>
          <a:noFill/>
          <a:ln/>
        </p:spPr>
        <p:txBody>
          <a:bodyPr wrap="square" rtlCol="0" anchor="ctr"/>
          <a:lstStyle/>
          <a:p>
            <a:pPr marL="0" indent="0" algn="l">
              <a:buNone/>
            </a:pPr>
            <a:r>
              <a:rPr lang="en-US" sz="1100" i="1" dirty="0">
                <a:solidFill>
                  <a:srgbClr val="1C1C1C"/>
                </a:solidFill>
              </a:rPr>
              <a:t>Revue adversariale : aucune erreur factuelle relevée sur les claims externes (sourcing académique exact, y compris le DOI Saga). Robustesse élevée. Ces limites préemptent les objections d'un public expert — mieux vaut les énoncer que les subir en Q&amp;R.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4266</Words>
  <Application>Microsoft Office PowerPoint</Application>
  <PresentationFormat>Widescreen</PresentationFormat>
  <Paragraphs>376</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Laloux, Vincent</cp:lastModifiedBy>
  <cp:revision>1</cp:revision>
  <dcterms:created xsi:type="dcterms:W3CDTF">2026-09-04T12:42:46Z</dcterms:created>
  <dcterms:modified xsi:type="dcterms:W3CDTF">2026-09-04T12:52:53Z</dcterms:modified>
</cp:coreProperties>
</file>