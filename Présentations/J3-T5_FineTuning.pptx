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oux, Vincent" userId="52ba2c99-87e7-44f3-b747-454adee888a3" providerId="ADAL" clId="{4288F421-B0A0-4EB5-B80C-6C021B446EAF}"/>
    <pc:docChg chg="custSel modSld">
      <pc:chgData name="Laloux, Vincent" userId="52ba2c99-87e7-44f3-b747-454adee888a3" providerId="ADAL" clId="{4288F421-B0A0-4EB5-B80C-6C021B446EAF}" dt="2026-09-04T13:55:20.340" v="0" actId="478"/>
      <pc:docMkLst>
        <pc:docMk/>
      </pc:docMkLst>
      <pc:sldChg chg="delSp mod">
        <pc:chgData name="Laloux, Vincent" userId="52ba2c99-87e7-44f3-b747-454adee888a3" providerId="ADAL" clId="{4288F421-B0A0-4EB5-B80C-6C021B446EAF}" dt="2026-09-04T13:55:20.340" v="0" actId="478"/>
        <pc:sldMkLst>
          <pc:docMk/>
          <pc:sldMk cId="0" sldId="256"/>
        </pc:sldMkLst>
        <pc:spChg chg="del">
          <ac:chgData name="Laloux, Vincent" userId="52ba2c99-87e7-44f3-b747-454adee888a3" providerId="ADAL" clId="{4288F421-B0A0-4EB5-B80C-6C021B446EAF}" dt="2026-09-04T13:55:20.340" v="0" actId="478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823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T5 · Fine-tuning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ECDF0"/>
                </a:solidFill>
              </a:rPr>
              <a:t>Adapter le comportement du modèle — ton, format, style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977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0B4DC"/>
                </a:solidFill>
              </a:rPr>
              <a:t>Jour 3 — Thème 5 · Récapitulatif des apprentissages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L'échelle d'adaptation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Prompt → Few-shot → RAG → Fine-tuning · Commencer par le bas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12801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Mécanisme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Prompt engineering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Exemples dans le prompt, instructions détaillées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Toujours en premier. Si ça suffit, s'arrêter là.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Few-shot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3–10 exemples dans le contexte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 (tokens en plus)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le prompt seul ne suffit pas. Pas d'entraînement.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Enrichir le contexte avec des documents récupérés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+ appels embed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la tâche nécessite une connaissance fraîche/spécifique.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④ Fine-tuning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Modifier les poids sur un dataset cible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Entraînement + hébergement + maintenance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le comportement (ton, format) doit changer de façon stable et que 1-3 ne suffisent pas.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Règle : tester le prompt + few-shot d'abord. Si ça suffit, il n'y a rien d'autre à faire.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Ce que le fine-tuning change (et ne change pas)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Comportement vs connaissance · FT + RAG complémentaires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577840" cy="3017520"/>
          </a:xfrm>
          <a:prstGeom prst="rect">
            <a:avLst/>
          </a:prstGeom>
          <a:solidFill>
            <a:srgbClr val="F0FFF4"/>
          </a:solidFill>
          <a:ln w="12700">
            <a:solidFill>
              <a:srgbClr val="A8DF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✅  Le FT change...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5303520" cy="2715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Le ton et le registre (admin, formel, technique)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Le format de sortie (JSON, tableau, courrier type)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La structure des réponses (intro → corps → conclusion)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Le style rédactionnel (formules d'accroche, de clôture)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Stables et reproductibles après entraînement.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72200" y="1261872"/>
            <a:ext cx="5623560" cy="3017520"/>
          </a:xfrm>
          <a:prstGeom prst="rect">
            <a:avLst/>
          </a:prstGeom>
          <a:solidFill>
            <a:srgbClr val="FFF4F4"/>
          </a:solidFill>
          <a:ln w="12700">
            <a:solidFill>
              <a:srgbClr val="FFBCB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09360" y="130759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⛔  Le FT ne change pas...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1508760"/>
            <a:ext cx="5349240" cy="2715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La connaissance du monde (coupure à la date d'entraînement)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Les informations récentes/spécifiques au CD39 → RAG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La capacité de raisonnement (limitée par la taille)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Les hallucinations : le FT peut les AUGMENTER sur des connaissances nouvelles/de niche (Gekhman et al., EMNLP 2024)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Fine-tuning = adapter le comportement. RAG = injecter la connaissance. Les deux sont complémentaires et souvent combinés. Entraîner sur des connaissances nouvelles peut accroître les hallucinations (Gekhman et al., 2024) — raison de plus pour réserver le FT au comportement, pas à la connaissance.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Pipeline managé Mistral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files.upload → jobs.create → jobs.get → chat.complete · JSONL messages · SDK v1.x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11277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Appel API (SDK v1.x)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Upload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client.files.upload(...)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JSONL : objets {"messages": [{"role":..., "content":...}]}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Lancer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client.fine_tuning.jobs.create(model="open-mistral-7b", ...)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Retourne un job_id à conserver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Suivi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client.fine_tuning.jobs.get(job_id)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QUEUED → RUNNING → SUCCEEDED (polling)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④ Utiliser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client.chat.complete(model=job.fine_tuned_model, ...)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modèle fine-tuné reste hébergé sur la Plateforme Mistral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977640"/>
            <a:ext cx="11430000" cy="1097280"/>
          </a:xfrm>
          <a:prstGeom prst="rect">
            <a:avLst/>
          </a:prstGeom>
          <a:solidFill>
            <a:srgbClr val="FFF4F4"/>
          </a:solidFill>
          <a:ln w="12700">
            <a:solidFill>
              <a:srgbClr val="FFBCB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12064" y="4041648"/>
            <a:ext cx="111556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</a:rPr>
              <a:t>⚠  Statut à vérifier : la documentation Mistral marque désormais le fine-tuning managé « deprecated — no longer actively supported » (le repo open-source mistral-finetune est archivé). Les concepts de ce module (hygiène des données, jeu de test figé, diagnostic) restent valides et transférables à la voie self-hosted / LoRA du module T6. Vérifier l'alternative officielle à la date de la formation.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Vérifier les conditions de confidentialité Mistral avant d'envoyer des données réelles. Les signatures SDK ci-dessus sont celles de la lignée v1.x (la 0.x utilisait client.chat(...)).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Hygiène des données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Split 80/20 sans fuite · Chat template · Loss masking · Diversité · PII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135331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Règle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Pourquoi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train/val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Détecter l'overfitting (val loss suit train loss)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80–90% train, 10–20% val. Jamais de fuite.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template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modèle attend un format précis (system+user+assistant)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Respecter la structure messages. Tokenizer du modèle.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masking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pas entraîner à prédire le prompt, seulement la réponse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uniquement sur les tokens "assistant".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Diversité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dataset homogène produit un modèle "en tunnel"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Couvrir cas simples, moyens, difficiles, variés.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Nettoyage PII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données perso du dataset finissent dans les poids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Anonymiser avant upload. Supprimer doublons/incohérences.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Garbage in, garbage out. Vérifier chaque exemple avant d'entraîner.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NB_T5a · Comparer les modèles avant d'entraîner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SAMSum · ROUGE-L · 7B vs 8×7B · VRAM (inférence) · Décision de baseline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676656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VRAM fp16 (poids)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VRAM 4-bit (/4)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Paramètres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7B (base / Instruct)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 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~3,5 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~7,2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Mixtral 8×7B Instruct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 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~23 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46,7 B total (≈12,9 B actifs/token)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365760" y="2423160"/>
            <a:ext cx="11430000" cy="685800"/>
          </a:xfrm>
          <a:prstGeom prst="rect">
            <a:avLst/>
          </a:prstGeom>
          <a:solidFill>
            <a:srgbClr val="FFF7E8"/>
          </a:solidFill>
          <a:ln w="12700">
            <a:solidFill>
              <a:srgbClr val="F0C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12064" y="2478024"/>
            <a:ext cx="111556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</a:rPr>
              <a:t>⚠  Ce sont des chiffres d'INFÉRENCE (poids seuls). Le full fine-tuning demande ~4-8× plus (états Adam, gradients, activations) : un 7B qui tient en 14 Go à l'inférence ne se full-fine-tune pas en 14 Go. C'est précisément LoRA / q-LoRA (T6) qui ramène l'entraînement à un budget proche de l'inférence.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3246120"/>
            <a:ext cx="5577840" cy="155448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02920" y="329184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ROUGE-L (Lin, 2004)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3493008"/>
            <a:ext cx="5303520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Basée sur la plus longue sous-séquence commune (LCS) entre réponse générée et référence. Capture la fluidité et l'ordre des mots. Limite : peu pertinente pour mesurer le ton ou le registre.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72200" y="3246120"/>
            <a:ext cx="5623560" cy="155448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309360" y="3291840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SAMSum (Gliwa et al., 2019)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309360" y="3493008"/>
            <a:ext cx="5349240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Résumé de conversations informelles (Samsung R&amp;D). Pas spécifique au CD39. Objectif : comparer les modèles sur une tâche standardisée avant un FT coûteux. Licence CC BY-NC-ND (non-commercial).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Ne pas entraîner avant d'avoir mesuré le baseline du modèle instruct non fine-tuné sur vos propres exemples.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NB_T5b · Pipeline SFTTrainer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SFTTrainer (TRL) · Loss masking · Checkpoints · Reproductibilité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577840" cy="196596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Composants clés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530352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SFTTrainer (TRL) : wrapper de Trainer pour l'instruction tuning. Chat template automatique.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Loss masking : loss calculée sur les tokens "assistant" seulement.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set_seed(42) : reproductibilité.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save_steps=100 : checkpoints réguliers, reprise si crash.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72200" y="1261872"/>
            <a:ext cx="5623560" cy="196596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09360" y="130759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Évaluation en cours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1508760"/>
            <a:ext cx="534924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eval_steps=50 : courbes train/val en temps réel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WandB ou console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Observer train loss ET val loss simultanément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Early stopping dès que la val loss remonte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11430000" cy="137160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3392424"/>
            <a:ext cx="112471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TRL récent : le loss masking se règle dans SFTConfig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= SFTTrainer(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model=model, train_dataset=train_ds, eval_dataset=val_ds,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args=SFTConfig(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completion_only_loss=True,     # remplace DataCollatorForCompletionOnlyLM (déprécié)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num_train_epochs=3, per_device_train_batch_size=4,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save_steps=100, eval_steps=50, eval_strategy="steps",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load_best_model_at_end=True, seed=42))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trainer.train()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Notebook de référence : NB_T5b_pipeline_entrainement.ipynb. Note de version : DataCollatorForCompletionOnlyLM est déprécié dans le TRL récent au profit de completion_only_loss=True (même masquage, désormais le défaut pour les datasets prompt-complétion).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Diagnostiquer l'entraînement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Courbes de loss · Overfitting · LR · Explosion du gradient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577840" cy="2286000"/>
          </a:xfrm>
          <a:prstGeom prst="rect">
            <a:avLst/>
          </a:prstGeom>
          <a:solidFill>
            <a:srgbClr val="F0FFF4"/>
          </a:solidFill>
          <a:ln w="12700">
            <a:solidFill>
              <a:srgbClr val="A8DF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✅  Courbes saines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5303520" cy="1984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Train loss descend régulièrement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Val loss suit la même tendance (légèrement au-dessus)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Écart stable entre train et val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Aucun spike brutal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72200" y="1261872"/>
            <a:ext cx="5623560" cy="2286000"/>
          </a:xfrm>
          <a:prstGeom prst="rect">
            <a:avLst/>
          </a:prstGeom>
          <a:solidFill>
            <a:srgbClr val="FFF4F4"/>
          </a:solidFill>
          <a:ln w="12700">
            <a:solidFill>
              <a:srgbClr val="FFBCB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09360" y="130759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⛔  Showstoppers courants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1508760"/>
            <a:ext cx="5349240" cy="1984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Val loss remonte → overfitting → plus de données ou moins d'epochs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Loss ne descend pas → LR trop faible ou données mal formatées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Loss explose (NaN) → LR trop élevé ou NaN dans les données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Train loss = 0 trop vite → contamination (train dans le val)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657600"/>
          <a:ext cx="11430000" cy="90220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Symptôme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 probable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Remède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loss remonte après epoch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sur un petit 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Augmenter le dataset ou réduire les epochs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ne descend pas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trop faible ou template mal appliqué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Monter le LR, vérifier template et loss masking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explose / NaN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trop élevé ou NaN dans les données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Baisser le LR, valider chaque exemple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Notebook de référence : NB_T5c_reussir_entrainement.ipynb — catalogue complet de showstoppers.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Dataset CD39 · 50 exemples synthétiques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JSONL messages · Courriers administratifs · cd39_train + cd39_val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dataset_cd39_ft.jsonl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exemples complets (system + user + assistant)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de départ — à enrichir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cd39_train.jsonl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 exemples (80%)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Entraînement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cd39_val.jsonl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exemples (20%)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— jamais dans le train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NB_T5d_dataset_cd39.ipynb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Fonctions de validation de chaque exemple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Vérifier format, cohérence, longueur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114800"/>
            <a:ext cx="5577840" cy="1115568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02920" y="416052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Contenu des 50 exemples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4361688"/>
            <a:ext cx="530352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Courriers administratifs dans le ton du service public : demandes d'APA, de FSL, d'accueil en établissement, de renseignements sur les droits. Réponses dans le registre formel attendu par le CD39.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6172200" y="4114800"/>
            <a:ext cx="5623560" cy="1115568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309360" y="4160520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Volume pour un FT solide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09360" y="4361688"/>
            <a:ext cx="534924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50 exemples = point de départ minimal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200–500 exemples = FT solide sur un style précis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&gt; 1000 exemples = proche du full fine-tuning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Priorité à la qualité sur la quantité.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L'atelier consiste à ajouter 20–50 exemples réels anonymisés au dataset existant, puis à relancer le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Atelier CD39 · Enrichir et lancer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20–50 exemples réels · valider_exemple() · Upload + job · Jeu de test figé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135331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Collecter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20–50 exemples réels anonymisés (courriers reçus + réponses)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Vos archives — anonymiser noms, adresses, n° de dossier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Valider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Passer chaque exemple dans valider_exemple()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NB_T5d_dataset_cd39.ipynb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Splitter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train + 20% val, vérifier la diversité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split (NB_T5d)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④ Lancer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files.upload() → fine_tuning.jobs.create()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Mistral — conserver le job_id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⑤ Figer le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 cas représentatifs avant l'entraînement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test_cd39.jsonl — ne pas regarder après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Durée estimée : 60 minutes. Le job Mistral tourne en arrière-plan pendant l'atelier T6.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Constituer un jeu de test figé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Avant l'entraînement · Diversité · LLM-as-a-Judge · Sacré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Règle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Pourquoi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Avant l'entraînement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jeu construit après est biaisé par les résultats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 cas, réponse attendue notée, fichier verrouillé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Jamais dans le train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contamination surestime les résultats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Vérifier l'absence de doublons test/train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Diversité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cas limites sont les plus informatifs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simples, moyens, difficiles, atypiques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LLM-as-a-Judge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Comparer base vs fine-tuné sur les mêmes critères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 admin (1–5) · format · contenu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gain doit être visible ICI, pas sur le train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0,5 pt/5 → le prompt engineering suffisait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Le jeu de test figé est sacré. Ne jamais l'utiliser pour guider les décisions d'entraînement.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Mesure · Base vs fine-tuné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LLM-as-a-Judge · Critères CD39 · Le vrai coût d'un modèle fine-tuné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 CD39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 de 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 fine-tuné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 attendu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 administratif (1–5)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Souvent 3–4 (trop familier/générique)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 (formules service public)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+0,5 à +1,5 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 respecté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selon le prompt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(structure apprise)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Significatif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 correct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 sur le général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 — ne change pas la connaissance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Neutre à léger négatif sur niches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063240"/>
            <a:ext cx="11430000" cy="1051560"/>
          </a:xfrm>
          <a:prstGeom prst="rect">
            <a:avLst/>
          </a:prstGeom>
          <a:solidFill>
            <a:srgbClr val="FFF7E8"/>
          </a:solidFill>
          <a:ln w="12700">
            <a:solidFill>
              <a:srgbClr val="F0C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12064" y="3118104"/>
            <a:ext cx="1115568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</a:rPr>
              <a:t>Le vrai coût d'un modèle fine-tuné (correction v1) : à l'inférence, le PRIX PAR TOKEN est identique à celui du modèle de base — mais il faut y ajouter (1) un coût d'entraînement unique (ordre de grandeur 1-9 $/M tokens, min ~4 $/job) et (2) des FRAIS DE STOCKAGE MENSUELS par modèle hébergé (~2-4 $/mois selon la taille). Le modèle de base n'a aucun de ces deux coûts.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65760" y="4206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E0500"/>
                </a:solidFill>
              </a:rPr>
              <a:t>Si le gain de qualité est &lt; 0,5 point sur 5, le prompt engineering suffisait.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Un gain de qualité chiffré est la seule justification valide du coût complet (entraînement + hébergement mensuel). ROUGE-L : utile si des réponses de référence existent, moins pertinent pour le ton.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Grille de décision · Fine-tuning managé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Fine-tuner si... · Ne pas fine-tuner si... · Coût complet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577840" cy="2926080"/>
          </a:xfrm>
          <a:prstGeom prst="rect">
            <a:avLst/>
          </a:prstGeom>
          <a:solidFill>
            <a:srgbClr val="F0FFF4"/>
          </a:solidFill>
          <a:ln w="12700">
            <a:solidFill>
              <a:srgbClr val="A8DF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✅  Fine-tuner si...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5303520" cy="2624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Prompt + few-shot insuffisants (mesuré sur le jeu de test)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Comportement stable à adapter : ton, format, registre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Volume de requêtes élevé (amortir le stockage mensuel)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Pas de connaissance fraîche requise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Dataset propre ≥ 50 exemples disponible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72200" y="1261872"/>
            <a:ext cx="5623560" cy="2926080"/>
          </a:xfrm>
          <a:prstGeom prst="rect">
            <a:avLst/>
          </a:prstGeom>
          <a:solidFill>
            <a:srgbClr val="FFF4F4"/>
          </a:solidFill>
          <a:ln w="12700">
            <a:solidFill>
              <a:srgbClr val="FFBCB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09360" y="130759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⛔  Ne pas fine-tuner si...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1508760"/>
            <a:ext cx="5349240" cy="2624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Prompt + few-shot suffisent sur le jeu de test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Connaissance fraîche requise → RAG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Dataset de qualité insuffisante (&lt; 50 exemples propres)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Délai de mise en production court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Les données ne peuvent pas quitter l'infrastructure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43159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89"/>
                </a:solidFill>
              </a:rPr>
              <a:t>Coût complet = entraînement (unique) + hébergement/stockage mensuel du modèle fine-tuné + maintenance du dataset.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Prochain module : T6 · LoRA &amp; q-LoRA · même personnalisation sur un GPU modeste, sans envoyer les données vers Mistral — et voie self-hosted qui ne dépend pas du FT managé (déprécié).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À retenir · T5 Fine-tuning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3 réflexes fondamentaux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Échelle d'adaptation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Prompt → few-shot → RAG → FT. Toujours commencer par le bas. Le FT n'est justifié que si les trois premiers niveaux ne suffisent pas.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267712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FT = comportement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Le FT adapte ton, format, style. Il ne change pas la connaissance et peut accroître les hallucinations sur des connaissances nouvelles (Gekhman 2024). RAG et FT sont complémentaires.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3255264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Hygiène des données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456432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Split sans fuite, chat template, loss masking, diversité, anonymisation PII. La qualité du dataset détermine celle du modèle.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4242816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Diagnostic par les courbes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443984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Val loss suit train loss (sain). Val loss remonte (overfitting). Loss stagne (LR/template). Loss explose (NaN).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72200" y="1280160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Réflexe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1481328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Toujours mesurer le baseline du modèle instruct non fine-tuné avant d'entraîner.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72200" y="2267712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Réflexe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2468880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Constituer le jeu de test figé avant l'entraînement, jamais après.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3255264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Réflexe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3456432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Journaliser hyperparamètres et versions de librairies. La reproductibilité est une exigence.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72200" y="4242816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Prochain module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4443984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T6 · LoRA &amp; q-LoRA — même qualité, fraction du coût, données sur votre infrastructure, sans dépendre du FT managé (déprécié).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Références · T5 Fine-tuning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Sources vérifiées (ajoutées en v2)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3189"/>
                </a:solidFill>
              </a:rPr>
              <a:t>Gliwa et al. (2019) 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29000" y="141732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« SAMSum Corpus », arXiv:1911.12237, EMNLP-IJCNLP workshop — Samsung R&amp;D. Résumé de dialogues. Licence CC BY-NC-ND.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16712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3189"/>
                </a:solidFill>
              </a:rPr>
              <a:t>Lin (2004) 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29000" y="216712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« ROUGE: A Package for Automatic Evaluation of Summaries », ACL 2004 workshop — ROUGE-L = LCS.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91693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3189"/>
                </a:solidFill>
              </a:rPr>
              <a:t>Gekhman et al. (2024) 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29000" y="2916936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« Does Fine-Tuning LLMs on New Knowledge Encourage Hallucinations? », EMNLP 2024, arXiv:2405.05904.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66674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3189"/>
                </a:solidFill>
              </a:rPr>
              <a:t>Mistral AI (2023) 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3666744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« Mixtral of Experts » — Mixtral 8×7B : 46,7 B params totaux, ~12,9 B actifs/token.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41655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3189"/>
                </a:solidFill>
              </a:rPr>
              <a:t>HuggingFace TRL 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4416552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Docs SFTTrainer / SFTConfig — completion_only_loss remplace DataCollatorForCompletionOnlyLM.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516636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3189"/>
                </a:solidFill>
              </a:rPr>
              <a:t>Mistral fine-tuning 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516636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docs.mistral.ai/capabilities/finetuning + mistral.ai/pricing — coût training + stockage mensuel ; feature marquée dépréciée.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Annexe · Limites et robustesse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Correctifs appliqués et limites assumées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 après revue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 managé Mistral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DÉPRÉCIATION SIGNALÉE : la doc Mistral marque cette voie « deprecated ». Les concepts restent valides ; se rabattre sur self-hosted / LoRA (T6). Vérifier l'alternative à la date d'usage.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d'inférence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CORRIGÉ : même prix par token que la base, MAIS + coût d'entraînement unique + frais de stockage mensuels. Pas « le même coût, point ».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PRÉCISÉ : chiffres d'inférence (poids). Le full fine-tuning demande ~4-8× plus ; LoRA/q-LoRA (T6) ramène au budget inférence.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AJOUTÉES : SAMSum, ROUGE, Gekhman 2024, Mixtral, TRL, pricing Mistral (le deck d'origine n'en citait aucune).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DATÉES : SDK Mistral v1.x ; DataCollatorForCompletionOnlyLM déprécié → completion_only_loss.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 du dataset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ASSUMÉE : 50 exemples synthétiques = point de départ. SAMSum est non-commercial (CC BY-NC-ND).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Revue adversariale : aucune erreur factuelle. Corrections de currency (dépréciation), de coût (omission), de cadrage (VRAM) et de sourcing. La pédagogie de fond (échelle d'adaptation, hygiène, jeu de test figé) était solide.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2888</Words>
  <Application>Microsoft Office PowerPoint</Application>
  <PresentationFormat>Widescreen</PresentationFormat>
  <Paragraphs>318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Laloux, Vincent</cp:lastModifiedBy>
  <cp:revision>1</cp:revision>
  <dcterms:created xsi:type="dcterms:W3CDTF">2026-09-04T13:34:12Z</dcterms:created>
  <dcterms:modified xsi:type="dcterms:W3CDTF">2026-09-04T13:55:29Z</dcterms:modified>
</cp:coreProperties>
</file>