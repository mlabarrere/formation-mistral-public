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oux, Vincent" userId="52ba2c99-87e7-44f3-b747-454adee888a3" providerId="ADAL" clId="{4288F421-B0A0-4EB5-B80C-6C021B446EAF}"/>
    <pc:docChg chg="custSel modSld">
      <pc:chgData name="Laloux, Vincent" userId="52ba2c99-87e7-44f3-b747-454adee888a3" providerId="ADAL" clId="{4288F421-B0A0-4EB5-B80C-6C021B446EAF}" dt="2026-09-04T13:53:43.723" v="30" actId="1035"/>
      <pc:docMkLst>
        <pc:docMk/>
      </pc:docMkLst>
      <pc:sldChg chg="delSp mod">
        <pc:chgData name="Laloux, Vincent" userId="52ba2c99-87e7-44f3-b747-454adee888a3" providerId="ADAL" clId="{4288F421-B0A0-4EB5-B80C-6C021B446EAF}" dt="2026-09-04T13:53:36.104" v="0" actId="478"/>
        <pc:sldMkLst>
          <pc:docMk/>
          <pc:sldMk cId="0" sldId="256"/>
        </pc:sldMkLst>
        <pc:spChg chg="del">
          <ac:chgData name="Laloux, Vincent" userId="52ba2c99-87e7-44f3-b747-454adee888a3" providerId="ADAL" clId="{4288F421-B0A0-4EB5-B80C-6C021B446EAF}" dt="2026-09-04T13:53:36.104" v="0" actId="47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Laloux, Vincent" userId="52ba2c99-87e7-44f3-b747-454adee888a3" providerId="ADAL" clId="{4288F421-B0A0-4EB5-B80C-6C021B446EAF}" dt="2026-09-04T13:53:43.723" v="30" actId="1035"/>
        <pc:sldMkLst>
          <pc:docMk/>
          <pc:sldMk cId="0" sldId="257"/>
        </pc:sldMkLst>
        <pc:spChg chg="mod">
          <ac:chgData name="Laloux, Vincent" userId="52ba2c99-87e7-44f3-b747-454adee888a3" providerId="ADAL" clId="{4288F421-B0A0-4EB5-B80C-6C021B446EAF}" dt="2026-09-04T13:53:43.723" v="30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13:53:43.723" v="30" actId="1035"/>
          <ac:spMkLst>
            <pc:docMk/>
            <pc:sldMk cId="0" sldId="257"/>
            <ac:spMk id="8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13:53:43.723" v="30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13:53:43.723" v="30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13:53:43.723" v="30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aloux, Vincent" userId="52ba2c99-87e7-44f3-b747-454adee888a3" providerId="ADAL" clId="{4288F421-B0A0-4EB5-B80C-6C021B446EAF}" dt="2026-09-04T13:53:43.723" v="30" actId="1035"/>
          <ac:spMkLst>
            <pc:docMk/>
            <pc:sldMk cId="0" sldId="25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744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T6 · LoRA &amp; q-LoRA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ECDF0"/>
                </a:solidFill>
              </a:rPr>
              <a:t>Parameter-Efficient Fine-Tuning sur GPU modeste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4DC"/>
                </a:solidFill>
              </a:rPr>
              <a:t>Jour 3 — Thème 6 · Récapitulatif des apprentissages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PEFT · Entraîner une fraction des poids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Parameter-Efficient Fine-Tuning · LoRA dominant · FT managé Mistral = LoRA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1277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 PEFT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Adaptateurs de rang faible sur les poids d'attention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efficace, compatible quantification, standard de fait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et α à tuner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Préfixe de tokens virtuels ajouté au contexte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modification des poids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Moins efficace que 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virtuels appris dans l'espace d'embedding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peu de paramètres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inférieure sur les petits modèles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l'échelle des activations par vecteurs appris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Encore moins de paramètres que 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Moins adopté, moins documenté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439808"/>
            <a:ext cx="5577840" cy="1078992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348552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Pourquoi LoRA domine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3686696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Simple à implémenter (bibliothèque PEFT). Compatible quantification 4/8-bit. Fusion sans overhead à l'inférence. Standard de fait open-source. Le FT managé Mistral (T5) utilise LoRA sous le capot.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3439808"/>
            <a:ext cx="5623560" cy="1078992"/>
          </a:xfrm>
          <a:prstGeom prst="rect">
            <a:avLst/>
          </a:prstGeom>
          <a:solidFill>
            <a:srgbClr val="FFF7E8"/>
          </a:solidFill>
          <a:ln w="12700">
            <a:solidFill>
              <a:srgbClr val="F0C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09360" y="348552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PEFT vs full FT — nuance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3686696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Souvent comparable au full fine-tuning sur les tâches d'instruction tuning courantes. Mais PEFT peut SOUS-PERFORMER sur de forts changements de domaine (code, maths, continued-pretraining) — Biderman et al., 2024. En contrepartie, LoRA « oublie » moins (meilleure régularisation).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PEFT n'est pas un compromis dans la plupart des cas d'adaptation de style/comportement. Ce n'est pas une équivalence universelle : sur code/maths et gros écarts de domaine, le full FT garde l'avantage (Biderman et al., 2024).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LoRA · Adaptateurs de rang faible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Low-Rank Adaptation (Hu et al., 2021) · ΔW = (α/r)·B·A · &lt; 1% des paramètres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214884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Matrice de poids W (d×k) — GELÉE pendant l'entraînement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W_new = W + ΔW = W + (α/r) · B · A          (convention Hu et al., 2021)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où :  B ∈ ℝ^(d×r)   initialisée à ZÉRO       (donc ΔW = 0 au démarrage)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∈ ℝ^(r×k)   initialisée aléatoirement (gaussienne)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≪ d, k       rang faible — typiquement r ∈ {4, 8, 16, 64}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α              facteur d'échelle — typiquement α = 2r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Dimensions : B·A = (d×r) · (r×k) = (d×k)  ✓  (cohérent avec ΔW, d×k)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Paramètres entraînés : r=8 sur Mistral 7B → ~4 M sur ~7 000 M (ratio 0,06 %)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Inférence : fusionner W + ΔW avant déploiement → zéro surcoût de latence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557784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Pourquoi B est initialisée à zéro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767328"/>
            <a:ext cx="530352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ΔW = (α/r)·B·A = 0 au démarrage (car B = 0) → le modèle commence exactement comme le modèle de base. L'adaptation part d'un état stable, pas d'un bruit aléatoire. (A est gaussienne, B est nulle : convention du papier.)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3520440"/>
            <a:ext cx="562356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Fusion à l'inférence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767328"/>
            <a:ext cx="53492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model.merge_and_unload() calcule W_new = W + ΔW une seule fois. Le modèle résultant est standard : pas besoin de la bibliothèque PEFT à l'inférence, latence identique au modèle de base.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Correction v1 : la formule d'origine intervertissait les dimensions de A et B (le produit B·A n'était alors pas défini). Convention correcte : B (d×r) init zéro, A (r×k) init gaussienne, ΔW = B·A → dimension (d×k). LoRA sur Mistral 7B avec r=8 : ~4 M de paramètres sur ~7 000 M (0,06 %).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Hyperparamètres clés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Rang r · Alpha α · Dropout · target_modules · Règle pratique r=8, α=16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127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typiques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 pratique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 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des matrices A et B. Plus r élevé → plus expressif, plus coûteux.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4, 8, 16, 64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Commencer par r=8, monter si insuffisant.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Facteur d'échelle appliqué à ΔW. Contrôle l'amplitude des mises à jour.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Souvent α = 2r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α=16 avec r=8.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Régularisation sur A/B. Réduit l'overfitting sur petits datasets.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– 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(&gt;200 ex), 0.1 (plus petit).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target_modules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Couches d'attention adaptées. q_proj + v_proj = standard.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["q_proj","v_proj"]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k_proj/out_proj si gain insuffisant.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69080"/>
            <a:ext cx="11430000" cy="91440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4123944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lora_config = LoraConfig(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r=8, lora_alpha=16, lora_dropout=0.05,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target_modules=["q_proj", "v_proj"],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bias="none", task_type="CAUSAL_LM")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Notebook de référence : NB_T6a_lora.ipynb — sweep de rang r=4/8/16/64 inclus pour trouver le bon compromis.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q-LoRA · GPU modeste avec 4-bit NF4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Dettmers et al. (2023) · NF4 · Double quantification · VRAM ~5–6 Go pour 7B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127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VRAM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NF4 (Normal Float 4-bit)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Quantification 4-bit « information-theoretically optimal » pour poids gaussiens (BitsAndBytes)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4 vs float16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quantification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Quantifier aussi les constantes de quantification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~0,37 bit/param économisé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prepare_model_for_kbit_training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les gradient checkpoints avant d'appliquer LoRA sur base quantifiée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get_peft_model(model, lora_config)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 les adaptateurs LoRA (fp16) sur la base quantifiée (NF4)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+~0,5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33088"/>
            <a:ext cx="557784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41788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VRAM comparée (Mistral 7B)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379976"/>
            <a:ext cx="53035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Full FT (fp16) : &gt; 80 Go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LoRA (fp16) : ~14 Go (poids gelés) + overhead → ~14-18 Go en pratique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q-LoRA (NF4) : ~5–6 Go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Compatible RTX 3080 (10 Go) ou RTX 4090 (24 Go).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4133088"/>
            <a:ext cx="5623560" cy="1115568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09360" y="417880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⚠  Limite de q-LoRA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4379976"/>
            <a:ext cx="53492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Les gradients passent par la base quantifiée → légère perte de qualité vs LoRA fp16. Tester d'abord LoRA si la VRAM le permet ; passer à q-LoRA seulement si la VRAM est le facteur limitant.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Notebook de référence : NB_T6b_qlora.ipynb. Correction v1 : la double quantification économise ~0,37 bit/param (valeur exacte du papier QLoRA), et non 0,4.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mistral-finetune · LoRA sur poids ouverts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github.com/mistralai/mistral-finetune · YAML config · ⚠ dépôt archivé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3533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Dépôt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github.com/mistralai/mistral-finetune — LoRA sur poids open-source (7B, 8×7B, Nemo). ⚠ ARCHIVÉ / non maintenu (bandeau au 04/09/2026)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YAML : chemin modèle, chemin données, config LoRA (r, α, target_modules), hyperparamètres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-m train config.yaml — format JSONL messages, identique au FT managé Mistral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Souveraineté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 et données restent sur votre infrastructure. Rien n'est envoyé vers Mistral.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Prérequis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A100 80 Go (full LoRA) · 1× RTX 3090 (q-LoRA) · CPU possible sur SmolLM2-135M pour la démo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65760" y="4160520"/>
            <a:ext cx="11430000" cy="91440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4215384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config_lora_cd39.yaml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model_name_or_path: "mistralai/Mistral-7B-Instruct-v0.3"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data_files: {train: "cd39_train.jsonl", validation: "cd39_val.jsonl"}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lora: {rank: 8, alpha: 16, dropout: 0.05, target_modules: [q_proj, v_proj]}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training: {learning_rate: 2e-4, num_epochs: 3, per_device_batch_size: 4}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Correction v1 : le dépôt mistral-finetune est désormais archivé (non maintenu). L'approche LoRA reste valable via la bibliothèque PEFT/TRL standard ; vérifier l'alternative officielle Mistral à la date de la 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Sauvegarder, charger et fusionner l'adaptateur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save_pretrained · PeftModel.from_pretrained · merge_and_unload · safetensors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127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model.save_pretrained("lora_adapter/")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adapter_config.json + adapter_model.safetensors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PeftModel.from_pretrained(base, "lora_adapter/")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prêt à l'inférence avec les adaptateurs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model.merge_and_unload()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W_new = W + ΔW. Modèle standard sans PEFT overhead.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HuggingFace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model.push_to_hub("mon-adaptateur-cd39")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Partager l'adaptateur (dépôt privé pour données sensibles)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33088"/>
            <a:ext cx="557784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5"/>
          <p:cNvSpPr/>
          <p:nvPr/>
        </p:nvSpPr>
        <p:spPr>
          <a:xfrm>
            <a:off x="502920" y="41788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Avantage de la fusion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379976"/>
            <a:ext cx="53035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Un modèle fusionné est standard. Pas besoin de la bibliothèque PEFT à l'inférence. Compatible vLLM, llama.cpp, Ollama et toutes les bibliothèques d'inférence.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4133088"/>
            <a:ext cx="562356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09360" y="417880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Adaptateurs réels dans le dépôt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4379976"/>
            <a:ext cx="53492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lora_adapter/ et qlora_adapter/ sur SmolLM2-135M-Instruct (135M params, CPU). Vrais fichiers .safetensors. PEFT 0.19.1 — fixer cette version pour reproduire.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Ces adaptateurs sont de vrais fichiers .safetensors, pas des stubs de démo.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Adaptateurs réels dans le dépôt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SmolLM2-135M-Instruct · 135M paramètres · CPU friendly · PEFT 0.19.1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8745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J3_Personnalisation/T6_LoRA/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lora_adapter/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├── adapter_config.json        # r, alpha, target_modules, base_model_name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└── adapter_model.safetensors  # poids entraînés (A et B uniquement)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qlora_adapter/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adapter_config.json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adapter_model.safetensors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Charger et comparer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 = AutoModelForCausalLM.from_pretrained("HuggingFaceTB/SmolLM2-135M-Instruct")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  = PeftModel.from_pretrained(base, "lora_adapter/")   # PEFT==0.19.1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337560"/>
            <a:ext cx="557784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Pourquoi SmolLM2-135M 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584448"/>
            <a:ext cx="53035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135M paramètres → s'entraîne sur CPU en quelques minutes. Idéal pour la démo en salle sans GPU. Même pipeline, même code que sur Mistral 7B.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3337560"/>
            <a:ext cx="56235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Reproductibilité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584448"/>
            <a:ext cx="534924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Fixer PEFT==0.19.1 dans requirements.txt. Un adaptateur est lié à sa version PEFT et à son modèle de base. Documenter les deux avant de partager.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adapter_config.json : r=8, lora_alpha=16, target_modules=[q_proj, v_proj], base_model_name. adapter_model.safetensors : poids des matrices A et B seules — quelques Mo sur SmolLM2-135M.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Pareto · FT complet vs LoRA vs q-LoRA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Qualité / VRAM / Coût · Recommandation : LoRA dans la plupart des cas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7312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Maximale (référence)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Full FT sur instruction tuning ; peut perdre sur code/maths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Légèrement &lt; 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(7B)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 Go (A100)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~14-18 Go (RTX 3090)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~5–6 Go (RTX 3080)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entraînement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élevé (A100 × heures)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 (RTX 3090 / A10G)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(RTX 3080 / T4)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 entraînés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(7B params)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1 % (r=8 → ~4M)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1 % (mêmes adaptateurs)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MLOps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(GPU gaming)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recommandé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Rares cas (code/maths, gros écart de domaine)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standard — recommandé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VRAM = facteur limitant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Commencer par LoRA. Passer à q-LoRA uniquement si la VRAM est le facteur limitant. Le full FT est rarement justifié, sauf changement de domaine important (Biderman et al., 2024).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Lien avec T5 · FT managé = LoRA géré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Souveraineté des données · MLOps · Même qualité attendue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57886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managé Mistral (T5)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LoRA (T6)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(géré par Mistral)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(géré par vous, via PEFT/TRL)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attendue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pour le même r et 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pour le même r et 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vivent les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Mistral (vérifier DPA)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Votre infrastructure — rien ne quitte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vit le 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Hébergé par Mistral (stockage mensuel)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Votre infrastructure ou cloud de votre choix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MLOps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Nulle — API simple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+ pipeline déploiement +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 managé marqué déprécié (voir T5)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PEFT/TRL activement maintenus (mistral-finetune archivé)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Pour CD39 : données confidentielles → self-hosted LoRA (PEFT/TRL) ou FT managé avec accord DPA Mistral. Note : le FT managé et le dépôt mistral-finetune sont respectivement dépréciés et archivés — la voie PEFT/TRL standard reste la plus pérenne.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Atelier CD39 · Entraîner sur GPU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dataset_cd39_ft.jsonl · r=8, α=16, 3 epochs · adaptateur_lora/ + mesures.md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Prérequis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GPU (Colab Pro ou cloud) ou analyse sur papier si absent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Charger dataset_cd39_ft.jsonl (50 ex.) enrichi de l'atelier T5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dataset_cd39_ft.jsonl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config_lora_cd39.yaml : r=8, α=16, 3 epochs, save_steps=50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config_lora_cd39.yaml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Entraîner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Lancer NB_T6a_lora.ipynb (PEFT/TRL)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adaptateur_lora/ + courbes_loss.png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Mesurer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Comparer base vs LoRA sur le jeu de test figé (T5)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resultats_base.json + resultats_lora.json + mesures.md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Durée estimée : 45 minutes (entraînement sur SmolLM2-135M pour accélérer la démo en salle).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Grille de décision · Self-hosted LoRA vs FT managé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Souveraineté · Infrastructure GPU · MLOps · CGU/DPA Mistral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29260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✅  Self-hosted LoRA si...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Données confidentielles (ne peuvent pas quitter l'infra)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Infrastructure GPU déjà disponible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Équipe MLOps compétente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Contrôle total sur le cycle de vie du modèle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Accord DPA impossible/indésirable avec Mistral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Pérennité : PEFT/TRL restent maintenus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29260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✅  FT managé Mistral si...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Pas d'infrastructure GPU disponible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Délai de mise en production court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Données acceptables sur la plateforme (CGU + DPA)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Priorité à la simplicité sur le contrôle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Équipe sans expertise MLOps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(⚠ vérifier le statut du FT managé, marqué déprécié)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Pour CD39 : données confidentielles → self-hosted LoRA (PEFT/TRL) ou FT managé avec accord DPA Mistral signé. Vérifier la disponibilité et le support des deux voies à la date de la décision.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Références · T6 LoRA &amp; q-LoRA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Sources vérifiées (ajoutées en v2)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Hu et al. (2021) 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141732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LoRA: Low-Rank Adaptation of Large Language Models », arXiv:2106.09685, ICLR 2022 — B (d×r) zéro, A (r×k) gaussienne, ΔW = B·A, scaling α/r.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Dettmers et al. (2023) 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216712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QLoRA: Efficient Finetuning of Quantized LLMs », arXiv:2305.14314, NeurIPS 2023 — NF4, double quantification (~0,37 bit/param).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Biderman et al. (2024)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2916936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« LoRA Learns Less and Forgets Less », arXiv:2405.09673, TMLR — LoRA sous-performe le full FT sur code/maths, oublie moins.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HuggingFace PEFT / TRL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3666744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Bibliothèques standard pour LoRA/q-LoRA (activement maintenues).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4165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mistral-finetune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44165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github.com/mistralai/mistral-finetune — LoRA sur poids ouverts. Dépôt ARCHIVÉ / non maintenu.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3189"/>
                </a:solidFill>
              </a:rPr>
              <a:t>SmolLM2-135M-Instruct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516636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HuggingFaceTB — 135M params, entraînable sur CPU (démo).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Annexe · Limites et robustesse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Correctifs appliqués et limites assumées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après revue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Formule LoRA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convention Hu et al. 2021 — B (d×r) init zéro, A (r×k) init gaussienne, ΔW = B·A (dimension d×k). La v1 intervertissait les labels, rendant le produit B·A dimensionnellement invalide.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mistral-finetune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SIGNALÉ : dépôt archivé / non maintenu. La voie PEFT/TRL standard reste la plus pérenne.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PEFT = full FT 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NUANCÉ : comparable sur l'instruction tuning courant, mais LoRA peut sous-performer sur code/maths et gros écarts de domaine (Biderman et al. 2024).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quantification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~0,37 bit/param économisé (valeur exacte QLoRA), et non 0,4.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LoRA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PRÉCISÉ : ~14 Go = poids gelés ; pic réel ~14-18 Go (activations + optimiseur des adaptateurs).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AJOUTÉES : Hu 2021, Dettmers 2023, Biderman 2024, PEFT/TRL, SmolLM2 (le deck d'origine n'en citait aucune).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Revue adversariale : une erreur factuelle corrigée (l'équation phare LoRA), plus dépréciations, nuance de qualité et sourcing. Le contenu technique (comptage de paramètres, VRAM, NF4, hiérarchie full/LoRA/q-LoRA) était par ailleurs exact.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2978</Words>
  <Application>Microsoft Office PowerPoint</Application>
  <PresentationFormat>Widescreen</PresentationFormat>
  <Paragraphs>301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Laloux, Vincent</cp:lastModifiedBy>
  <cp:revision>1</cp:revision>
  <dcterms:created xsi:type="dcterms:W3CDTF">2026-09-04T13:45:57Z</dcterms:created>
  <dcterms:modified xsi:type="dcterms:W3CDTF">2026-09-04T13:53:50Z</dcterms:modified>
</cp:coreProperties>
</file>