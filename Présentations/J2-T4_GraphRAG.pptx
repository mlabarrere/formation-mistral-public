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custSel modSld">
      <pc:chgData name="Laloux, Vincent" userId="52ba2c99-87e7-44f3-b747-454adee888a3" providerId="ADAL" clId="{4288F421-B0A0-4EB5-B80C-6C021B446EAF}" dt="2026-09-04T13:54:43.391" v="0" actId="478"/>
      <pc:docMkLst>
        <pc:docMk/>
      </pc:docMkLst>
      <pc:sldChg chg="delSp mod">
        <pc:chgData name="Laloux, Vincent" userId="52ba2c99-87e7-44f3-b747-454adee888a3" providerId="ADAL" clId="{4288F421-B0A0-4EB5-B80C-6C021B446EAF}" dt="2026-09-04T13:54:43.391" v="0" actId="478"/>
        <pc:sldMkLst>
          <pc:docMk/>
          <pc:sldMk cId="0" sldId="256"/>
        </pc:sldMkLst>
        <pc:spChg chg="del">
          <ac:chgData name="Laloux, Vincent" userId="52ba2c99-87e7-44f3-b747-454adee888a3" providerId="ADAL" clId="{4288F421-B0A0-4EB5-B80C-6C021B446EAF}" dt="2026-09-04T13:54:43.391" v="0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61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T4 · GraphRAG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ECDF0"/>
                </a:solidFill>
              </a:rPr>
              <a:t>RAG hybride, graphes de connaissances et évaluation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DC"/>
                </a:solidFill>
              </a:rPr>
              <a:t>Jour 2 — Thème 4 · Récapitulatif des apprentissages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RAG · Rappel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Lewis et al. (2020), NeurIPS 2020 · mistral-embed (1024 dim) · FAISS/Chroma · Top-K chunks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32588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Documents ──► embed(mistral-embed) ──► index FAISS/Chroma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  ──► embed(mistral-embed) ──► similarité cosinus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top-K chunks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LLM génère la réponse (chunks en contexte)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11430000" cy="1127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embed(mistral-embed)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Vecteur 1024 dimensions par document — capture le sens sémantique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FAISS, Chroma, Qdrant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Stocke les vecteurs pour une recherche par similarité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Requête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Similarité cosinus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question est vectorisée, les K documents les plus proches récupérés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chunks récupérés sont ajoutés au contexte avant la génération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Le RAG n'entraîne pas le modèle, il lui donne les bonnes informations au bon moment. Article fondateur : Lewis et al., arXiv:2005.11401, NeurIPS 2020.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Similarité cosinus · Formule formelle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Modèle vectoriel : Salton, Wong &amp; Yang (1975) · Invariante à la norme · Chunking 512 tokens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 · B          Σᵢ Aᵢ Bᵢ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cos(θ) = ─────── = ──────────────────────────────────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‖A‖ ‖B‖   √(Σᵢ Aᵢ²) × √(Σᵢ Bᵢ²)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cos(θ) = 1.0  → vecteurs identiques (même sens sémantique)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cos(θ) = 0.0  → vecteurs orthogonaux (sujets différents)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cos(θ) = -1.0 → vecteurs opposés (contenu contradictoire)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mistral-embed : vecteurs dimension 1024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577840" cy="22402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Chunking · paramètres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530352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Taille typique : 512 tokens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Chevauchement : 64 tokens (12,5 %)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Trop petit → perte de contexte (phrases tronquées)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Trop grand → bruit dans le résultat récupéré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2926080"/>
            <a:ext cx="5623560" cy="22402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Stratégies de chunking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172968"/>
            <a:ext cx="534924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Fixe : découpage tous les N tokens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Par phrase : respect des limites sémantiques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Par section : titres Markdown, balises XML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Avantage vs distance euclidienne : invariant à la longueur du document.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Source primaire du modèle vectoriel et du cosinus : Salton, Wong &amp; Yang (1975), « A Vector Space Model for Automatic Indexing », CACM. Le manuel Salton &amp; McGill (1983) en est une référence secondaire.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Les limites du RAG vectoriel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Questions multi-hop · Information répartie · Échec sémantique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192024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Question directe — RAG vectoriel suffit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"Quels sont les arômes du Château-Chalon ?"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Un seul chunk contient la réponse. Le vecteur de la question ressemble directement au chunk cible.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192024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⛔  Question multi-hop — RAG vectoriel échoue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"Quels cépages partagent les vins du Jura qui s'accordent avec la raclette ?"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Aucun chunk individuel ne contient la réponse. L'information est répartie sur N documents connectés par des entités communes.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557784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Pourquoi ça échoue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530352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 vecteur d'une question multi-hop ne ressemble sémantiquement à aucun chunk isolé. La recherche vectorielle maximise la proximité locale, pas la traversée de relations.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62356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333756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Exemple CD39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538728"/>
            <a:ext cx="534924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"Quels dossiers APA impliquent aussi un FSL logement ?" L'information est répartie dans plusieurs délibérations, liées par la même personne. Le vecteur de la question ne pointe vers aucune d'elles.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Si la réponse nécessite de relier 2+ documents via une entité commune, le vectoriel seul ne suffit pas.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BM25 et fusion RRF · Formalisme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Robertson &amp; Walker (SIGIR 1994) · Cormack et al. (SIGIR 2009) · k=60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8745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(Robertson &amp; Walker, SIGIR 1994) 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Σᵢ  IDF(qᵢ) × f(qᵢ,D) × (k₁+1)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= ──────────────────────────────────────────────────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f(qᵢ,D) + k₁ × (1 - b + b × |D|/avgdl)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f(qᵢ,D) = fréquence du terme qᵢ dans D    k₁ ≈ 1.5, b ≈ 0.75 (empiriques standard)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IDF(qᵢ) = log((N - n(qᵢ) + 0.5) / (n(qᵢ) + 0.5))   → pénalise les termes très fréquents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 RRF (Cormack et al., SIGIR 2009) 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RRF(d) = Σ_r  1 / (k + rank_r(d))    k = 60 (empirique)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combine dense + sparse sans calibration de scores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557784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BM25 — modèle sparse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538728"/>
            <a:ext cx="53035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Recherche par correspondance de termes exacts. Efficace sur les mots-clés, acronymes, identifiants. Pénalise les termes trop fréquents dans le corpus (IDF).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562356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33756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RRF — fusion des rangs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538728"/>
            <a:ext cx="534924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Combine les classements dense (cosinus) et sparse (BM25) sans normaliser les scores. k=60 est empirique : amortit l'effet des premiers rangs.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BM25 + dense vectoriel + RRF = le baseline steelman à battre avant d'adopter GraphRAG. Correction v1 : Robertson &amp; Walker (1994) est un papier SIGIR (et non SIGMOD).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Graphe de connaissances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Entités · Relations · Traversée multi-hop · Construction offline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9659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Graphe des vins du Jura (exemple) :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[Savagnin] ──cépage_de──► [Château-Chalon]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└──cépage_de──► [Arbois]   └──appellation_dans──► [Jura]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multi-hop (2 sauts) : "Quels cépages partagent Château-Chalon et Arbois ?"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Ancrer    : trouver Château-Chalon et Arbois dans le graphe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Traverser : suivre les arêtes cépage_de (saut 1)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Intersecter les cépages → Savagnin commun aux deux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Retourner : chunks associés au nœud Savagnin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557784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53035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Nœuds = entités typées (vins, cépages, appellations, personnes)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Arêtes = relations nommées (cépage_de, appellation_dans, accord_avec)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Construction offline → interrogation en temps réel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562356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Ce que le graphe rend possible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630168"/>
            <a:ext cx="534924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Réponses multi-hop sans chunk unique parfait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Traçabilité du chemin de raisonnement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Agrégation sur des entités communes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Détection de contradictions entre sources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Le graphe est construit une fois (offline) et interrogé en temps réel. Le coût de construction est amorti sur toutes les requêtes.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Baseline steelman à battre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NB_T4a · Dense + BM25 + RRF · Le rerank = extension optionnelle (hors baseline)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9659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baseline hybride (dense + sparse) — NB_T4a_retrieval.ipynb :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 ──► embed(mistral-embed) ──► VectorStoreIndex (LlamaIndex) ┐ dense top-K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 ──► embed(mistral-embed) ──► cos(θ) ────────────────────────┘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 ──► tokenize ──► BM25Okapi ┐ sparse top-K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 ──► tokenize ──► BM25 score┘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[dense top-K] + [sparse top-K] ──► RRF fusion ──► top-5 chunks ──► LLM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Complexité : O(d) dense + O(|V|) sparse + O(K log K) RRF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557784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Pourquoi « steelman » 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53035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Ce pipeline représente le meilleur RAG hybride sans graphe. GraphRAG n'est justifié que s'il fait mieux que lui sur vos vraies questions.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562356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Extension : cross-encoder rerank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630168"/>
            <a:ext cx="534924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 rerank par cross-encoder est une extension OPTIONNELLE (hors notebook, hors baseline) : il reclasse les chunks après la fusion RRF. Améliore la précision, augmente la latence. À évaluer séparément si le volume le justifie.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Construire et mesurer ce pipeline (dense + BM25 + RRF) avant d'adopter GraphRAG. Le rerank n'est pas dans la baseline du notebook : c'est une amélioration à tester à part.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Mistral · Construire le graphe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Phase offline · LightRAG · NetworkX · ~0,006–0,01 $/document (ordre de grandeur)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8745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Construction du graphe (phase offline) :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Documents ──► OCR/Voxtral ──► texte brut ──► chunking (512 tokens, 10% overlap)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┌────────────────┴────────────────────┐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embed(mistral-embed)          LLM(mistral-medium)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→ vecteur 1024-dim            → entités typées + relations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                       → triplets (sujet, rel, objet)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index vectoriel (LightRAG)           NetworkX graph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└────────────────┬────────────────────┘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Interrogation hybride (vectoriel + traversée graphe)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(ordre de grandeur)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mistral-embed (API)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~0,001 $/doc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entités + relations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mistral-medium (API)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~0,005–0,009 $/doc (varie selon densité)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Interrogation hybride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vectoriel + NetworkX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NB_T4b_graphrag.ipynb. Coûts indicatifs, à confirmer sur votre corpus.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Corpus de démo · 7 vins du Jura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CD39 · 40+ entités · Faits œnologiques vérifiés (INAO / AOC)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Cépages principaux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Particularité (vérifiée)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Trousseau, Poulsard, Savagnin, Chardonnay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Parmi les 6 premières AOC françaises (décret 15 mai 1936)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Château-Chalon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Savagnin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 jaune exclusif · élevage oxydatif min. 60 mois sous voile, sans ouillage ; commercialisé à partir de la 6e année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Côtes-du-Jura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Gamme complète des cépages jurassiens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Appellation générale : rouge + blanc + crémant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Crémant-du-Jura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 traditionnelle, prise de mousse en bouteille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L'Étoile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Savagnin, Chardonnay, Poulsard vinifié en blanc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Seule appellation de vins TRANQUILLES exclusivement blancs (rouges/rosés → Côtes-du-Jura)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Macvin-du-Jura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Mistelle : moût de raisin muté au marc du Jura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Marc-du-Jura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Eau-de-vie de marc, sous-produit de la vinification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Graphe pré-calculé dans graphe_vins/. Corrections v1 : le bio n'est PAS obligatoire pour Château-Chalon (aucune AOC française ne l'impose en tant que tel) ; l'élevage minimum est de 60 mois sous voile ; Château-Chalon étant aussi 100 % blanc (vin jaune), L'Étoile est la seule appellation de vins tranquilles exclusivement blancs, pas la seule 100 % blanche.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Ingestion multimodale · OCR et Voxtral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PDF scannés · Audio → Voxtral · Qualité du texte = qualité du RAG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4688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PDF scannés · OCR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① Numérisation → Mistral Document AI ou Tesseract local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② Extraction de structure (titres, tableaux, en-têtes)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③ Nettoyage : supprimer headers/footers, corriger l'OCR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④ Chunking sur le texte nettoyé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⚠ Un OCR bruité produit des embeddings bruités.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4688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Comptes-rendus audio · Voxtral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① Enregistrements MP3/WAV anonymisés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② Transcription via mistral-voxtral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③ Segmentation avec horodatage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④ Traitement comme n'importe quel document texte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Les notebooks utilisent un corpus texte pré-construit (outils/build_corpus_vins.py).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55778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Anonymisation RGPD avant ingestion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087368"/>
            <a:ext cx="53035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Masquer noms, adresses, numéros de dossier avant embedding. L'index vectoriel peut contenir ces données si elles ne sont pas retirées du texte source.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3840480"/>
            <a:ext cx="562356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38862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Pipeline CD39 cible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4087368"/>
            <a:ext cx="53492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Délibérations PDF → OCR → nettoyage → graphe. Comptes-rendus audio → Voxtral → texte → même graphe. Même pipeline, même index.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La qualité du RAG dépend directement de la qualité du texte extrait. Un OCR bruité produit des embeddings bruités.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RAGAS · Évaluation sans annotation humaine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Es et al. (2023) · Juge LLM · DiscreteMetric FR · 3 métriques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qu'elle mesure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pertinence_contexte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chunks récupérés sont-ils utiles pour répondre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oui/non ·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fidélité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réponse reste-t-elle dans les limites du contexte fourni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oui/non ·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exactitude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réponse est-elle factuellement correcte selon les chunks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oui/non ·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hors-scope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modèle reconnaît-il qu'une question dépasse le corpus 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oui/non ·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dans_corpus=False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33088"/>
            <a:ext cx="557784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1788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Juge utilisé dans NB_T4b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379976"/>
            <a:ext cx="53035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mistral-medium-latest via litellm. Un modèle plus puissant que le retrieveur pour détecter les erreurs fines. Variante allégée de RAGAS en français, adaptée au corpus et au secteur public.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4133088"/>
            <a:ext cx="562356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417880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Limites de LLM-as-a-Judge</a:t>
            </a:r>
            <a:endParaRPr lang="en-US" sz="1000" dirty="0"/>
          </a:p>
        </p:txBody>
      </p:sp>
      <p:sp>
        <p:nvSpPr>
          <p:cNvPr id="6" name="Text 9"/>
          <p:cNvSpPr/>
          <p:nvPr/>
        </p:nvSpPr>
        <p:spPr>
          <a:xfrm>
            <a:off x="6309360" y="4379976"/>
            <a:ext cx="53492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 juge peut se tromper sur des questions très spécifiques. Calibrer sur 10–20 exemples annotés manuellement. Le score du juge est une estimation, pas une vérité.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Pattern inspiré de RAGAS (Es et al., 2023, arXiv:2309.15217), implémenté en variante allégée française adaptée au corpus vins du Jura et au contexte secteur public CD39.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GraphRAG · Microsoft Research (2024)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Edge et al. arXiv:2404.16130 · Algorithme de Leiden · LightRAG (Zirui Guo et al. 2024)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ça fonctionne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pour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Ancrage sur des entités précises → traversée de voisinage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factuelles sur une entité spécifique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Résumés de communautés (algo de Leiden) pré-calculés sur tout le corpus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de synthèse sur l'ensemble du corpus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LightRAG (open-source)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dual-level (bas + haut niveau) ; implémenté dans NB_T4b via lightrag-hku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standard &lt; 10k documents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337560"/>
            <a:ext cx="557784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Ce que l'article mesure réellement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584448"/>
            <a:ext cx="53035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Évaluation par juge LLM en tête-à-tête (win rates), PAS un score « +15-40 % ». Sur deux corpus (transcriptions de podcast ~1M tokens + articles de presse ~1,7M) : GraphRAG (global) l'emporte sur le RAG vectoriel — comprehensiveness ~72-83 %, diversity ~62-82 % de préférence. Aucun benchmark « QFSBench » n'existe.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3337560"/>
            <a:ext cx="5623560" cy="17830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33832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Transférabilité à préciser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584448"/>
            <a:ext cx="53492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Cette preuve vient de Microsoft sur podcast/presse. Rien ne garantit le même gain sur des délibérations administratives françaises. Coût de construction : ~1 $/M tokens (ordre de grandeur). GraphRAG complète le vectoriel, ne le remplace pas.</a:t>
            </a:r>
            <a:endParaRPr lang="en-US" sz="950" dirty="0"/>
          </a:p>
        </p:txBody>
      </p:sp>
      <p:sp>
        <p:nvSpPr>
          <p:cNvPr id="6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Correction v1 : « +15-40 % sur QFSBench » retiré — ce benchmark n'existe pas et l'article ne rapporte pas ce chiffre. Construire d'abord la baseline ; n'adopter GraphRAG que si le delta est mesuré sur VOS questions CD39.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Atelier CD39 · Questions transverses multi-services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10–20 délibérations · 2+ services · Productions attendues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Corpus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délibérations + 2–3 CR audio anonymisés, couvrant 2+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corpus/*.txt + transcriptions/*.txt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 NB_T4b_graphrag.ipynb sur le corpus CD39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graphe_cd39.json + index_vectoriel/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Interrogation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"Quels dossiers concernent à la fois l'APA et le FSL 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resultats_graphrag.json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 NB_T4a_retrieval.ipynb sur les mêmes 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resultats_baseline.json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Mesure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Comparer RAGAS sur les deux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mesures.md (tableau comparatif)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Durée estimée : 75 minutes. La construction du graphe prend 10–15 min. Garder le jeu de test figé avant de lancer la construction.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Mesure · GraphRAG vs baseline vectoriel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Deltas ATTENDUS (à vérifier sur vos données) · Décision chiffrée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dense+BM25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attendu*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 (entité unique)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(bon chunk disponible)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-5 % à +5 %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(2 sauts)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(aucun chunk complet)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(traversée graphe)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 à +30 %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globale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(information dispersée)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(résumés communautés)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Hors-scope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deux doivent reconnaître l'absence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461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B34D00"/>
                </a:solidFill>
              </a:rPr>
              <a:t>* Ordres de grandeur ATTENDUS, non garantis : à mesurer sur votre jeu de test CD39. Ce ne sont pas des résultats publiés.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611880"/>
            <a:ext cx="557784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02920" y="36576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Jeu de test figé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858768"/>
            <a:ext cx="5303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2–3 questions multi-hop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2–3 questions directes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1–2 questions hors-scope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Constituer avant la construction du graphe. Ne jamais modifier après.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72200" y="3611880"/>
            <a:ext cx="562356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309360" y="36576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Critère de décision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0" y="3858768"/>
            <a:ext cx="5349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Si la majorité des questions sont directes → RAG hybride suffit, GraphRAG inutile. Évaluer aussi : coût de construction + maintenance vs gain mesuré.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12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Mesurer sur vos vraies questions CD39, pas sur des benchmarks académiques génériques.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Coût de construction et maintenance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Quelques centimes/doc · Dérive · Infrastructure légère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 de grandeur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initiale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LLM pour extraire entités + relations sur chaque chunk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~0,006–0,01 $/doc (mistral-medium)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 à chaque nouveau document (ajout de nœuds ou reconstruction)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coût, proraté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Dérive sémantique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entités changent de nom, les relations évoluent : révision périodique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mois selon le domaine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 NetworkX JSON + index vectoriel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Mo pour &lt; 10k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manuelle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 ontologique (SKOS/RDF) si domaine stable — nomenclatures administratives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élevée, maintenance 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Construire le graphe une fois offline : le coût est amorti sur toutes les requêtes suivantes. Infrastructure légère sur un corpus &lt; 10k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Grille de décision · Quand employer GraphRAG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Corpus interconnecté · Multi-hop fréquents · Toujours commencer par la 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926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GraphRAG si...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Corpus fortement interconnecté (entités partagées)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Questions multi-hop fréquentes dans l'usage réel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Besoin de traçabilité du raisonnement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Corpus relativement stable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Ressources pour la construction + maintenance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92608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RAG hybride si...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Questions majoritairement directes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Corpus qui croît rapidement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Délai de mise en production court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Équipe sans expertise graphe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Pas de delta significatif mesuré sur votre jeu de 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Toujours commencer par le RAG hybride (dense + BM25 + RRF). N'ajouter le graphe que si le delta est mesuré sur vos vraies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À retenir · T4 GraphRAG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3 réflexes fondamentaux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RAG vectoriel = socle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Embeddings + cosinus + chunking. Suffit pour les questions directes. Construire et mesurer ce pipeline en premier.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BM25 + RRF = baseline hybride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Dense + sparse + fusion RRF (Cormack SIGIR 2009). Le baseline steelman à battre. Le rerank est une extension optionnelle, hors baseline.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Graphe = multi-hop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Construit offline, interrogé en temps réel. Justifié seulement si les questions multi-hop sont fréquentes et le delta mesuré.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RAGAS = juge objectif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Pertinence + fidélité + exactitude. Sans annotation humaine. Figer le jeu de test avant la construction du graphe.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Construire d'abord la baseline hybride (dense + BM25 + RRF). GraphRAG doit la battre sur vos vraies questions.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Identifier les questions multi-hop dans votre usage réel avant de choisir GraphRAG.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Mesurer avec RAGAS sur un jeu de test figé. Pas de décision architecturale sans chiffre sur vos données.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Jour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T5 · Fine-tuning · adapter le comportement du modèle (ton, format) sans ajouter de connaissance.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Références · T4 GraphRAG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Sources primaires vérifiées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Lewis et al. (2020)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RAG for Knowledge-Intensive NLP Tasks », arXiv:2005.11401, NeurIPS 2020 — article fondateur.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Salton, Wong &amp; Yang (1975)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20299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A Vector Space Model for Automatic Indexing », CACM 18(11) — source primaire du cosinus (manuel Salton &amp; McGill 1983 = secondaire).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Robertson &amp; Walker (SIGIR 1994)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68833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Some Simple Effective Approximations to the 2-Poisson Model », SIGIR 1994 (et non SIGMOD) — BM25.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Cormack et al. (2009)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34670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Reciprocal Rank Fusion », SIGIR 2009 — fusion sans calibration, k=60.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0507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Edge et al. (2024)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40050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From Local to Global: A Graph RAG Approach », arXiv:2404.16130, Microsoft — algorithme de Leiden ; éval par win rates (comprehensiveness/diversity).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Guo, Z. et al. (2024)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4663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LightRAG », arXiv:2410.05779 — retrieval dual-level (distinct du Guo, T. de T1).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532180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Es et al. (2023) 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5321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RAGAS: Automated Evaluation of RAG », arXiv:2309.15217.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Annexe · Limites et robustesse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Correctifs appliqués et limites assumées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après revue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 « +15-40 % / QFSBench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benchmark inexistant et chiffre non rapporté par l'article. Remplacé par la vraie méthode (win rates comprehensiveness/diversity sur podcast + presse).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BM25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Robertson &amp; Walker (1994) = SIGIR, et non SIGMOD.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Château-Chalon « bio obligatoire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le bio n'est pas imposé par l'AOC. Élevage : min. 60 mois sous voile (et non « 6 ans 3 mois » comme durée réglementaire).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L'Étoile « seule 100 % blanc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NUANCÉ : Château-Chalon (vin jaune) est aussi 100 % blanc. L'Étoile = seule appellation de vins tranquilles exclusivement blancs.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Deltas GraphRAG attendus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MARQUÉS : ordres de grandeur attendus, non publiés, à mesurer sur votre jeu de test CD39.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Transférabilité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ASSUMÉE : preuve GraphRAG issue de Microsoft sur podcast/presse. À revalider sur des délibérations administratives françaises.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Revue adversariale : trois erreurs factuelles corrigées, dont un benchmark fabriqué. Le socle technique (RAG, formules BM25/RRF, traversée de graphe, grille de décision) et la thèse « baseline d'abord » étaient solides.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3563</Words>
  <Application>Microsoft Office PowerPoint</Application>
  <PresentationFormat>Widescreen</PresentationFormat>
  <Paragraphs>404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Laloux, Vincent</cp:lastModifiedBy>
  <cp:revision>1</cp:revision>
  <dcterms:created xsi:type="dcterms:W3CDTF">2026-09-04T13:13:33Z</dcterms:created>
  <dcterms:modified xsi:type="dcterms:W3CDTF">2026-09-04T13:54:49Z</dcterms:modified>
</cp:coreProperties>
</file>