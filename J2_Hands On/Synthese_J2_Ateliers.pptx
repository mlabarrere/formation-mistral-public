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8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A8FF"/>
                </a:solidFill>
              </a:rPr>
              <a:t>Formation Mistral + LangChain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F4FF"/>
                </a:solidFill>
              </a:rPr>
              <a:t>J2 — Hands On   |   Ateliers 1 a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E5C0"/>
                </a:solidFill>
              </a:rPr>
              <a:t>Synthese des notions abordees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200400"/>
            <a:ext cx="3337560" cy="521208"/>
          </a:xfrm>
          <a:prstGeom prst="rect">
            <a:avLst/>
          </a:prstGeom>
          <a:solidFill>
            <a:srgbClr val="162B4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</a:rPr>
              <a:t>A1  Premier agent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200400"/>
            <a:ext cx="3337560" cy="521208"/>
          </a:xfrm>
          <a:prstGeom prst="rect">
            <a:avLst/>
          </a:prstGeom>
          <a:solidFill>
            <a:srgbClr val="162B4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291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</a:rPr>
              <a:t>A2  Messages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3200400"/>
            <a:ext cx="3337560" cy="521208"/>
          </a:xfrm>
          <a:prstGeom prst="rect">
            <a:avLst/>
          </a:prstGeom>
          <a:solidFill>
            <a:srgbClr val="162B4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291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</a:rPr>
              <a:t>A3  Streaming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794760"/>
            <a:ext cx="3337560" cy="521208"/>
          </a:xfrm>
          <a:prstGeom prst="rect">
            <a:avLst/>
          </a:prstGeom>
          <a:solidFill>
            <a:srgbClr val="162B4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</a:rPr>
              <a:t>A4 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794760"/>
            <a:ext cx="3337560" cy="521208"/>
          </a:xfrm>
          <a:prstGeom prst="rect">
            <a:avLst/>
          </a:prstGeom>
          <a:solidFill>
            <a:srgbClr val="162B4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886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</a:rPr>
              <a:t>A5  MCP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3794760"/>
            <a:ext cx="3337560" cy="521208"/>
          </a:xfrm>
          <a:prstGeom prst="rect">
            <a:avLst/>
          </a:prstGeom>
          <a:solidFill>
            <a:srgbClr val="162B4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886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</a:rPr>
              <a:t>A6  Memoire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389120"/>
            <a:ext cx="3337560" cy="521208"/>
          </a:xfrm>
          <a:prstGeom prst="rect">
            <a:avLst/>
          </a:prstGeom>
          <a:solidFill>
            <a:srgbClr val="162B4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</a:rPr>
              <a:t>A7  Sortie structuree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4389120"/>
            <a:ext cx="3337560" cy="521208"/>
          </a:xfrm>
          <a:prstGeom prst="rect">
            <a:avLst/>
          </a:prstGeom>
          <a:solidFill>
            <a:srgbClr val="162B4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480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</a:rPr>
              <a:t>A8  Prompt dynamique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0" y="4389120"/>
            <a:ext cx="3337560" cy="521208"/>
          </a:xfrm>
          <a:prstGeom prst="rect">
            <a:avLst/>
          </a:prstGeom>
          <a:solidFill>
            <a:srgbClr val="162B4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480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4FF"/>
                </a:solidFill>
              </a:rPr>
              <a:t>A9  Human-in-the-Loop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77"/>
                </a:solidFill>
              </a:rPr>
              <a:t>claude-sonnet-4-6  /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FF"/>
                </a:solidFill>
              </a:rPr>
              <a:t>Atelier 1 — Premier agent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E5C0"/>
                </a:solidFill>
              </a:rPr>
              <a:t>Base Chinook  |  LangChain + Mistral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029200" cy="320040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36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</a:rPr>
              <a:t>Concepts fondamentaux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Agent : modele + outils + boucle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@tool : transforme une fonction en outil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create_agent : assemble modele, outils,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System prompt : regles transmises avant chaque appel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RuntimeContext : connexion DB injectee sans variable globale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ToolMessage : preuve que Python a execute la requete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46304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0"/>
                </a:solidFill>
              </a:rPr>
              <a:t>Flux d'une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Mistral
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LangChain
reçoit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Python
execute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29284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9284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Reponse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743200"/>
            <a:ext cx="6400800" cy="1371600"/>
          </a:xfrm>
          <a:prstGeom prst="rect">
            <a:avLst/>
          </a:prstGeom>
          <a:solidFill>
            <a:srgbClr val="0A0A1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27889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</a:rPr>
              <a:t>agent = create_agent(
    model=llm,
    tools=[execute_sql],
    system_prompt=SYSTEM_PROMPT,
    context_schema=RuntimeContext,
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1612880" cy="164592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9194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00"/>
                </a:solidFill>
              </a:rPr>
              <a:t>A retenir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0352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&gt;&gt;  Mistral decide — Python/SQLite executent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2356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&gt;&gt;  Sans outil, le modele invente les donnees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&gt;&gt;  La trace (ToolMessage) prouve l'execution reelle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FF"/>
                </a:solidFill>
              </a:rPr>
              <a:t>Atelier 2 — Comprendre les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E5C0"/>
                </a:solidFill>
              </a:rPr>
              <a:t>Types  |  Formats d'entree  |  Metadonnees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852160" cy="1097280"/>
          </a:xfrm>
          <a:prstGeom prst="rect">
            <a:avLst/>
          </a:prstGeom>
          <a:solidFill>
            <a:srgbClr val="162B4A"/>
          </a:solidFill>
          <a:ln w="190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0"/>
                </a:solidFill>
              </a:rPr>
              <a:t>HumanMessage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842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Ce que dit l'utilisateur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852160" cy="1097280"/>
          </a:xfrm>
          <a:prstGeom prst="rect">
            <a:avLst/>
          </a:prstGeom>
          <a:solidFill>
            <a:srgbClr val="162B4A"/>
          </a:solidFill>
          <a:ln w="190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0"/>
                </a:solidFill>
              </a:rPr>
              <a:t>AIMessage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Reponse du modele — texte ou tool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5852160" cy="1097280"/>
          </a:xfrm>
          <a:prstGeom prst="rect">
            <a:avLst/>
          </a:prstGeom>
          <a:solidFill>
            <a:srgbClr val="162B4A"/>
          </a:solidFill>
          <a:ln w="190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0"/>
                </a:solidFill>
              </a:rPr>
              <a:t>ToolMessage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1868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Resultat retourne par un outil apres 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743200"/>
            <a:ext cx="5852160" cy="1097280"/>
          </a:xfrm>
          <a:prstGeom prst="rect">
            <a:avLst/>
          </a:prstGeom>
          <a:solidFill>
            <a:srgbClr val="162B4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300"/>
                </a:solidFill>
              </a:rPr>
              <a:t>SystemMessage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1868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Instructions permanentes inserees avant chaque tour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60520"/>
            <a:ext cx="5852160" cy="182880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2336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FF"/>
                </a:solidFill>
              </a:rPr>
              <a:t>3 formats d'entree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-  Objet   -&gt;  HumanMessage("Bonjour")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-  Chaine  -&gt;  "Bonjour"  (converti automatiquement)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-  Dict    -&gt;  {"role": "user", "content": "Bonjour"}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160520"/>
            <a:ext cx="5760720" cy="182880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2336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FF"/>
                </a:solidFill>
              </a:rPr>
              <a:t>Metadonnees disponibles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61772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-  usage_metadata : tokens input / output /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93776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-  response_metadata : modele utilise, finish_reason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25780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-  tool_calls : liste des outils demandes (AIMessage)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57784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-  id : identifiant unique du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FF"/>
                </a:solidFill>
              </a:rPr>
              <a:t>Atelier 3 — Le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E5C0"/>
                </a:solidFill>
              </a:rPr>
              <a:t>invoke vs stream  |  3 modes  |  Custom depuis les outils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577840" cy="1828800"/>
          </a:xfrm>
          <a:prstGeom prst="rect">
            <a:avLst/>
          </a:prstGeom>
          <a:solidFill>
            <a:srgbClr val="162B4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300"/>
                </a:solidFill>
              </a:rPr>
              <a:t>invoke()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Attend la reponse complete avant de retourner.
Toute la latence se concentre a la fin.
Usage : traitements batch, tests.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760720" cy="1828800"/>
          </a:xfrm>
          <a:prstGeom prst="rect">
            <a:avLst/>
          </a:prstGeom>
          <a:solidFill>
            <a:srgbClr val="162B4A"/>
          </a:solidFill>
          <a:ln w="190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0"/>
                </a:solidFill>
              </a:rPr>
              <a:t>stream()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Affiche la reponse au fil de l'eau.
Reduit la latence percue — le temps total reste identique.
Usage : chatbots, interfaces utilisateur.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20440"/>
            <a:ext cx="31546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56616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8FF"/>
                </a:solidFill>
              </a:rPr>
              <a:t>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3520440"/>
            <a:ext cx="40690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566160"/>
            <a:ext cx="3977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8FF"/>
                </a:solidFill>
              </a:rPr>
              <a:t>Ce qu'il renvoie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520440"/>
            <a:ext cx="43434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3566160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8FF"/>
                </a:solidFill>
              </a:rPr>
              <a:t>Usage typique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04488"/>
            <a:ext cx="3154680" cy="62179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950208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</a:rPr>
              <a:t>stream_mode="values"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904488"/>
            <a:ext cx="4069080" cy="62179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950208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Etat complet a chaque etape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904488"/>
            <a:ext cx="4343400" cy="62179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3950208"/>
            <a:ext cx="4251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Progression, debogage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544568"/>
            <a:ext cx="3154680" cy="621792"/>
          </a:xfrm>
          <a:prstGeom prst="rect">
            <a:avLst/>
          </a:prstGeom>
          <a:solidFill>
            <a:srgbClr val="1A355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590288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</a:rPr>
              <a:t>stream_mode="messages"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544568"/>
            <a:ext cx="4069080" cy="621792"/>
          </a:xfrm>
          <a:prstGeom prst="rect">
            <a:avLst/>
          </a:prstGeom>
          <a:solidFill>
            <a:srgbClr val="1A355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590288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Tokens un par 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4544568"/>
            <a:ext cx="4343400" cy="621792"/>
          </a:xfrm>
          <a:prstGeom prst="rect">
            <a:avLst/>
          </a:prstGeom>
          <a:solidFill>
            <a:srgbClr val="1A355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4590288"/>
            <a:ext cx="4251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Effet machine a ecrire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184648"/>
            <a:ext cx="3154680" cy="62179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230368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</a:rPr>
              <a:t>stream_mode="custom"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5184648"/>
            <a:ext cx="4069080" cy="62179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5230368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Donnees emises par les outils (get_stream_writer)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5184648"/>
            <a:ext cx="4343400" cy="62179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80" y="5230368"/>
            <a:ext cx="4251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Logs d'outil, progression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2819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300"/>
                </a:solidFill>
              </a:rPr>
              <a:t>On combine les modes : stream_mode=["values", "custom"]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FF"/>
                </a:solidFill>
              </a:rPr>
              <a:t>Atelier 4 — Donner des outils a un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E5C0"/>
                </a:solidFill>
              </a:rPr>
              <a:t>Decorateur @tool  |  Schema  |  Tool call  |  ToolMessage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0"/>
                </a:solidFill>
              </a:rPr>
              <a:t>Cycle d'un appel d'outil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@tool
Schema envoye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Mistral
choisit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LangChain
transfere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Python
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ToolMessage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Reponse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697480"/>
            <a:ext cx="5577840" cy="228600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770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</a:rPr>
              <a:t>Ce que @tool construit automatiquement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15468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name     -&gt; nom de la fonction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47472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description -&gt; docstring de la fonction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79476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args_schema -&gt; schema JSON derive des types Python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Les annotations (Literal, Field) enrichissent le contrat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697480"/>
            <a:ext cx="5852160" cy="2286000"/>
          </a:xfrm>
          <a:prstGeom prst="rect">
            <a:avLst/>
          </a:prstGeom>
          <a:solidFill>
            <a:srgbClr val="0A0A1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274320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</a:rPr>
              <a:t>@tool
def real_number_calculator(
    a: float, b: float,
    operation: Literal["add","subtract",
                       "multiply","divide"]
) -&gt; float:
    """Effectue une operation arithmetique."""
    return calculer(a, b, operation)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20640"/>
            <a:ext cx="11612880" cy="155448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19379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00"/>
                </a:solidFill>
              </a:rPr>
              <a:t>A retenir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7784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&gt;&gt;  Mistral decide si et comment appeler l'outil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89788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&gt;&gt;  Python execute la fonction — pas Mistral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1792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&gt;&gt;  La docstring guide la decision du modele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&gt;&gt;  Le ToolMessage confirme l'execution reelle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FF"/>
                </a:solidFill>
              </a:rPr>
              <a:t>Atelier 5 — Tools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E5C0"/>
                </a:solidFill>
              </a:rPr>
              <a:t>Model Context Protocol  |  Serveur local  |  MultiServerMCPClient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840480" cy="2560320"/>
          </a:xfrm>
          <a:prstGeom prst="rect">
            <a:avLst/>
          </a:prstGeom>
          <a:solidFill>
            <a:srgbClr val="162B4A"/>
          </a:solidFill>
          <a:ln w="254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</a:rPr>
              <a:t>Serveur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Programme qui possede les capacites.
mcp_chinook.py expose list_tables
et query_chinook via FastMCP.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463040"/>
            <a:ext cx="3840480" cy="2560320"/>
          </a:xfrm>
          <a:prstGeom prst="rect">
            <a:avLst/>
          </a:prstGeom>
          <a:solidFill>
            <a:srgbClr val="162B4A"/>
          </a:solidFill>
          <a:ln w="254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554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FF"/>
                </a:solidFill>
              </a:rPr>
              <a:t>Adaptateur LangChain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201168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MultiServerMCPClient decouvre
les outils MCP et les convertit
en outils LangChain.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8" y="1463040"/>
            <a:ext cx="3840480" cy="2560320"/>
          </a:xfrm>
          <a:prstGeom prst="rect">
            <a:avLst/>
          </a:prstGeom>
          <a:solidFill>
            <a:srgbClr val="162B4A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8" y="1554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00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8" y="201168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Route des messages entre programmes.
stdio : sous-processus local.
streamable_http : serveur distant.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60520"/>
            <a:ext cx="11612880" cy="201168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336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FF"/>
                </a:solidFill>
              </a:rPr>
              <a:t>Local (stdio) vs Distant (HTTP)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1772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Local : tourne sur la machine, pas d'authentification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Distant : serveur cloud, HTTPS, OAuth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5780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L'agent reste identique — seule la config du client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Meme boucle : Mistral decide -&gt; adaptateur -&gt; serveur -&gt; SQLite/API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172200"/>
            <a:ext cx="1161288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</a:rPr>
              <a:t>mcp_client = MultiServerMCPClient({"chinook": {
    "transport": "stdio",
    "command": sys.executable,
    "args": ["mcp_chinook.py"],
}})
mcp_tools = await mcp_client.get_tools()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FF"/>
                </a:solidFill>
              </a:rPr>
              <a:t>Atelier 6 — Memoire courte duree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E5C0"/>
                </a:solidFill>
              </a:rPr>
              <a:t>InMemorySaver  |  thread_id  |  Persistance de contexte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840480" cy="256032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3619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00"/>
                </a:solidFill>
              </a:rPr>
              <a:t>A — Sans memoire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Chaque invoke() = nouvelle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La question precedente n'est pas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Aucun checkpointer configure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463040"/>
            <a:ext cx="3840480" cy="256032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53619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</a:rPr>
              <a:t>B — Meme thread_id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19202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InMemorySaver conserve l'etat en memoire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22402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Les deux questions vivent dans le meme fil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560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thread_id = identifiant du fil de conversation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1463040"/>
            <a:ext cx="3840480" cy="256032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8" y="153619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FF"/>
                </a:solidFill>
              </a:rPr>
              <a:t>C — Nouveau thread_id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19202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Meme agent, meme checkpointer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8" y="22402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thread_id different = fil vide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2560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Aucun contexte recupere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06240"/>
            <a:ext cx="11612880" cy="5486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E5C0"/>
                </a:solidFill>
              </a:rPr>
              <a:t>checkpointer  +  meme thread_id  =  historique recupere dans ce fil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37760"/>
            <a:ext cx="7315200" cy="1691640"/>
          </a:xfrm>
          <a:prstGeom prst="rect">
            <a:avLst/>
          </a:prstGeom>
          <a:solidFill>
            <a:srgbClr val="0A0A1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983480"/>
            <a:ext cx="7132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</a:rPr>
              <a:t>checkpointer = InMemorySaver()
agent = create_agent(model=llm, tools=[...],
    checkpointer=checkpointer, ...)
config = {"configurable": {"thread_id": "frank-01"}}
agent.invoke({"messages": [q1]}, config=config)
agent.invoke({"messages": [q2]}, config=config)  # voit q1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937760"/>
            <a:ext cx="4114800" cy="169164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50109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00"/>
                </a:solidFill>
              </a:rPr>
              <a:t>Limites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539496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!  InMemorySaver -&gt; perte au redemarrage du kernel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571500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!  En production -&gt; checkpointer persistant (PostgreSQL...)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603504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!  La memoire ne modifie pas les poids du modele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FF"/>
                </a:solidFill>
              </a:rPr>
              <a:t>Atelier 7 — Sortie structuree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E5C0"/>
                </a:solidFill>
              </a:rPr>
              <a:t>TypedDict  |  Pydantic  |  ToolStrategy  |  structured_response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0"/>
                </a:solidFill>
              </a:rPr>
              <a:t>Du texte libre aux donnees exploitables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Conversation
libre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Schema
(TypedDict/Pydantic)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ToolStrategy
orchestre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Mistral
propose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Validation
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structured_
response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43200"/>
            <a:ext cx="22402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788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A8FF"/>
                </a:solidFill>
              </a:rPr>
              <a:t>Approche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743200"/>
            <a:ext cx="20574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788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A8FF"/>
                </a:solidFill>
              </a:rPr>
              <a:t>Type Python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743200"/>
            <a:ext cx="16002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A8FF"/>
                </a:solidFill>
              </a:rPr>
              <a:t>Forme stable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2743200"/>
            <a:ext cx="16002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A8FF"/>
                </a:solidFill>
              </a:rPr>
              <a:t>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743200"/>
            <a:ext cx="43434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27889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A8FF"/>
                </a:solidFill>
              </a:rPr>
              <a:t>Usage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108960"/>
            <a:ext cx="2240280" cy="57607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1821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Texte libre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3108960"/>
            <a:ext cx="2057400" cy="57607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3182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str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3108960"/>
            <a:ext cx="1600200" cy="57607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31821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Non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3108960"/>
            <a:ext cx="1600200" cy="57607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1821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Non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3108960"/>
            <a:ext cx="4343400" cy="57607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318211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Reponse humaine uniquement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03320"/>
            <a:ext cx="2240280" cy="576072"/>
          </a:xfrm>
          <a:prstGeom prst="rect">
            <a:avLst/>
          </a:prstGeom>
          <a:solidFill>
            <a:srgbClr val="1A355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7764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TypedDict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3703320"/>
            <a:ext cx="2057400" cy="576072"/>
          </a:xfrm>
          <a:prstGeom prst="rect">
            <a:avLst/>
          </a:prstGeom>
          <a:solidFill>
            <a:srgbClr val="1A355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0" y="37764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dict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3703320"/>
            <a:ext cx="1600200" cy="576072"/>
          </a:xfrm>
          <a:prstGeom prst="rect">
            <a:avLst/>
          </a:prstGeom>
          <a:solidFill>
            <a:srgbClr val="1A355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377647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Oui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3703320"/>
            <a:ext cx="1600200" cy="576072"/>
          </a:xfrm>
          <a:prstGeom prst="rect">
            <a:avLst/>
          </a:prstGeom>
          <a:solidFill>
            <a:srgbClr val="1A355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377647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Limitee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3703320"/>
            <a:ext cx="4343400" cy="576072"/>
          </a:xfrm>
          <a:prstGeom prst="rect">
            <a:avLst/>
          </a:prstGeom>
          <a:solidFill>
            <a:srgbClr val="1A355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377647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Pipeline simple et leger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297680"/>
            <a:ext cx="2240280" cy="57607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3708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Pydantic BaseModel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4297680"/>
            <a:ext cx="2057400" cy="57607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60" y="43708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Instance Pydantic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4297680"/>
            <a:ext cx="1600200" cy="57607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00600" y="437083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Oui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46520" y="4297680"/>
            <a:ext cx="1600200" cy="57607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437083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Oui — complete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4297680"/>
            <a:ext cx="4343400" cy="576072"/>
          </a:xfrm>
          <a:prstGeom prst="rect">
            <a:avLst/>
          </a:prstGeom>
          <a:solidFill>
            <a:srgbClr val="162B4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3880" y="43708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API, stockage, regles metier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846320"/>
            <a:ext cx="11612880" cy="1828800"/>
          </a:xfrm>
          <a:prstGeom prst="rect">
            <a:avLst/>
          </a:prstGeom>
          <a:solidFill>
            <a:srgbClr val="0A0A1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489204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</a:rPr>
              <a:t>class ContactInfoModel(BaseModel):
    name:  str = Field(min_length=1)
    email: str = Field(pattern=r"^[^@\s]+@...")
    phone: str = Field(pattern=r"^\d{10}$")
agent = create_agent(model=llm,
    response_format=ToolStrategy(ContactInfoModel))
result = agent.invoke(...)
contact = result["structured_response"]  # ContactInfoModel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FF"/>
                </a:solidFill>
              </a:rPr>
              <a:t>Atelier 8 — Prompt dynamique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E5C0"/>
                </a:solidFill>
              </a:rPr>
              <a:t>@dynamic_prompt  |  RuntimeContext  |  build_system_prompt()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0"/>
                </a:solidFill>
              </a:rPr>
              <a:t>Flux avec middleware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Question +
RuntimeContext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@dynamic_
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Prompt
adapte au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Mistral
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Outil SQL
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Reponse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43200"/>
            <a:ext cx="5577840" cy="228600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8163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</a:rPr>
              <a:t>Visiteur  (role='visitor')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Reçoit uniquement PUBLIC_SCHEMA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Tables : Artist, Album, Track, Genre, Playlist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Refuse les questions sur clients ou factures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6052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Invoice absent du prompt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743200"/>
            <a:ext cx="5943600" cy="228600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281635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FF"/>
                </a:solidFill>
              </a:rPr>
              <a:t>Employe  (role='employee')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20040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Reçoit FULL_SCHEMA (public + interne)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52044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Tables supplementaires : Customer, Employee, Invoice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8404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Peut analyser les ventes et les clients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16052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Meme agent, meme outil — prompt different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166360"/>
            <a:ext cx="11612880" cy="868680"/>
          </a:xfrm>
          <a:prstGeom prst="rect">
            <a:avLst/>
          </a:prstGeom>
          <a:solidFill>
            <a:srgbClr val="3A1800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120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300"/>
                </a:solidFill>
              </a:rPr>
              <a:t>ATTENTION  —  Un prompt dynamique n'est pas un controle d'acces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Appliquer les droits cote base : vues SQL, comptes dedies, allowlist applicative. mode=ro bloque les ecritures — pas les lectures sensibles.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FF"/>
                </a:solidFill>
              </a:rPr>
              <a:t>Atelier 9 —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E5C0"/>
                </a:solidFill>
              </a:rPr>
              <a:t>HumanInTheLoopMiddleware  |  approve / reject  | 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0"/>
                </a:solidFill>
              </a:rPr>
              <a:t>Cycle Human-in-the-Loop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Mistral
propose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Interruption
(HITL)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Inspecter
args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Decision
approve/reject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Command
resume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920240"/>
            <a:ext cx="1371600" cy="502920"/>
          </a:xfrm>
          <a:prstGeom prst="rect">
            <a:avLst/>
          </a:prstGeom>
          <a:solidFill>
            <a:srgbClr val="1B458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F4FF"/>
                </a:solidFill>
              </a:rPr>
              <a:t>Outil execute
ou NON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43200"/>
            <a:ext cx="5852160" cy="219456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8163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</a:rPr>
              <a:t>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L'outil s'execute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ToolMessage transmis a Mistral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Journal EXECUTED_QUERIES mis a jour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6052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Reponse finale generee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743200"/>
            <a:ext cx="5577840" cy="2194560"/>
          </a:xfrm>
          <a:prstGeom prst="rect">
            <a:avLst/>
          </a:prstGeom>
          <a:solidFill>
            <a:srgbClr val="162B4A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8163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00"/>
                </a:solidFill>
              </a:rPr>
              <a:t>reject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2004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L'outil ne s'execute pas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Journal inchange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84048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Mistral recoit un message de refus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16052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&gt;  Aucune nouvelle interruption automatique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74920"/>
            <a:ext cx="11612880" cy="1645920"/>
          </a:xfrm>
          <a:prstGeom prst="rect">
            <a:avLst/>
          </a:prstGeom>
          <a:solidFill>
            <a:srgbClr val="0A0A1A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12064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</a:rPr>
              <a:t># 1. Agent HITL
agent = create_agent(model=llm, tools=[execute_sql],
    checkpointer=InMemorySaver(),
    middleware=[HumanInTheLoopMiddleware(
        interrupt_on={"execute_sql": {"allowed_decisions": ["approve","reject"]}}
    )])
# 2. Premiere invocation -&gt; interruption
result = agent.invoke({"messages": [q]}, config=config)
# "__interrupt__" in result  -&gt;  True
# 3. Reprendre apres decision
agent.invoke(Command(resume={"decisions": [{"type": "approve"}]}), config=config)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FF"/>
                </a:solidFill>
              </a:rPr>
              <a:t>Synthese — Architecture d'un agent LangChain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E5C0"/>
                </a:solidFill>
              </a:rPr>
              <a:t>Les 9 briques assemblees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286000"/>
            <a:ext cx="3931920" cy="1005840"/>
          </a:xfrm>
          <a:prstGeom prst="rect">
            <a:avLst/>
          </a:prstGeom>
          <a:solidFill>
            <a:srgbClr val="1B4587"/>
          </a:solidFill>
          <a:ln w="381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24231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A8FF"/>
                </a:solidFill>
              </a:rPr>
              <a:t>create_agent()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E5C0"/>
                </a:solidFill>
              </a:rPr>
              <a:t>Boucle 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749039" cy="1051560"/>
          </a:xfrm>
          <a:prstGeom prst="rect">
            <a:avLst/>
          </a:prstGeom>
          <a:solidFill>
            <a:srgbClr val="162B4A"/>
          </a:solidFill>
          <a:ln w="190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0"/>
                </a:solidFill>
              </a:rPr>
              <a:t>A1-A3  /  Modele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ChatMistralAI
temperature, endpoint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3749039" cy="1051560"/>
          </a:xfrm>
          <a:prstGeom prst="rect">
            <a:avLst/>
          </a:prstGeom>
          <a:solidFill>
            <a:srgbClr val="162B4A"/>
          </a:solidFill>
          <a:ln w="190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0"/>
                </a:solidFill>
              </a:rPr>
              <a:t>A4-A5  /  Outils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461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@tool, MCP, ToolMessage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23360"/>
            <a:ext cx="3749039" cy="1051560"/>
          </a:xfrm>
          <a:prstGeom prst="rect">
            <a:avLst/>
          </a:prstGeom>
          <a:solidFill>
            <a:srgbClr val="162B4A"/>
          </a:solidFill>
          <a:ln w="190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6908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0"/>
                </a:solidFill>
              </a:rPr>
              <a:t>A6  /  Memoire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26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InMemorySaver, thread_id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463040"/>
            <a:ext cx="3749039" cy="1051560"/>
          </a:xfrm>
          <a:prstGeom prst="rect">
            <a:avLst/>
          </a:prstGeom>
          <a:solidFill>
            <a:srgbClr val="162B4A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5087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FF"/>
                </a:solidFill>
              </a:rPr>
              <a:t>A7  /  Sortie structuree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9659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TypedDict, Pydantic, ToolStrategy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743200"/>
            <a:ext cx="3749039" cy="1051560"/>
          </a:xfrm>
          <a:prstGeom prst="rect">
            <a:avLst/>
          </a:prstGeom>
          <a:solidFill>
            <a:srgbClr val="162B4A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78892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FF"/>
                </a:solidFill>
              </a:rPr>
              <a:t>A8  /  Prompt dynamique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461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@dynamic_prompt, RuntimeContext, role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4023360"/>
            <a:ext cx="3749039" cy="1051560"/>
          </a:xfrm>
          <a:prstGeom prst="rect">
            <a:avLst/>
          </a:prstGeom>
          <a:solidFill>
            <a:srgbClr val="162B4A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06908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FF"/>
                </a:solidFill>
              </a:rPr>
              <a:t>A9  /  Human-in-the-Loop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526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HumanInTheLoopMiddleware, approve/reject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77840"/>
            <a:ext cx="11612880" cy="731520"/>
          </a:xfrm>
          <a:prstGeom prst="rect">
            <a:avLst/>
          </a:prstGeom>
          <a:solidFill>
            <a:srgbClr val="002844"/>
          </a:solidFill>
          <a:ln w="190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669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C0"/>
                </a:solidFill>
              </a:rPr>
              <a:t>Mistral decide   |   LangChain orchestre   |   Python execute   |   L'humain supervise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