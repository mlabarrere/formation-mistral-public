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27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oux, Vincent" userId="52ba2c99-87e7-44f3-b747-454adee888a3" providerId="ADAL" clId="{4288F421-B0A0-4EB5-B80C-6C021B446EAF}"/>
    <pc:docChg chg="modSld">
      <pc:chgData name="Laloux, Vincent" userId="52ba2c99-87e7-44f3-b747-454adee888a3" providerId="ADAL" clId="{4288F421-B0A0-4EB5-B80C-6C021B446EAF}" dt="2026-09-04T09:25:55.939" v="3" actId="167"/>
      <pc:docMkLst>
        <pc:docMk/>
      </pc:docMkLst>
      <pc:sldChg chg="modSp mod">
        <pc:chgData name="Laloux, Vincent" userId="52ba2c99-87e7-44f3-b747-454adee888a3" providerId="ADAL" clId="{4288F421-B0A0-4EB5-B80C-6C021B446EAF}" dt="2026-09-04T09:25:55.939" v="3" actId="167"/>
        <pc:sldMkLst>
          <pc:docMk/>
          <pc:sldMk cId="0" sldId="257"/>
        </pc:sldMkLst>
        <pc:spChg chg="ord">
          <ac:chgData name="Laloux, Vincent" userId="52ba2c99-87e7-44f3-b747-454adee888a3" providerId="ADAL" clId="{4288F421-B0A0-4EB5-B80C-6C021B446EAF}" dt="2026-09-04T09:25:55.939" v="3" actId="167"/>
          <ac:spMkLst>
            <pc:docMk/>
            <pc:sldMk cId="0" sldId="257"/>
            <ac:spMk id="9" creationId="{00000000-0000-0000-0000-000000000000}"/>
          </ac:spMkLst>
        </pc:spChg>
        <pc:spChg chg="mod">
          <ac:chgData name="Laloux, Vincent" userId="52ba2c99-87e7-44f3-b747-454adee888a3" providerId="ADAL" clId="{4288F421-B0A0-4EB5-B80C-6C021B446EAF}" dt="2026-09-04T09:25:38.758" v="0" actId="14100"/>
          <ac:spMkLst>
            <pc:docMk/>
            <pc:sldMk cId="0" sldId="257"/>
            <ac:spMk id="10" creationId="{00000000-0000-0000-0000-000000000000}"/>
          </ac:spMkLst>
        </pc:spChg>
        <pc:spChg chg="mod">
          <ac:chgData name="Laloux, Vincent" userId="52ba2c99-87e7-44f3-b747-454adee888a3" providerId="ADAL" clId="{4288F421-B0A0-4EB5-B80C-6C021B446EAF}" dt="2026-09-04T09:25:42.305" v="1" actId="14100"/>
          <ac:spMkLst>
            <pc:docMk/>
            <pc:sldMk cId="0" sldId="257"/>
            <ac:spMk id="12" creationId="{00000000-0000-0000-0000-000000000000}"/>
          </ac:spMkLst>
        </pc:spChg>
        <pc:spChg chg="mod">
          <ac:chgData name="Laloux, Vincent" userId="52ba2c99-87e7-44f3-b747-454adee888a3" providerId="ADAL" clId="{4288F421-B0A0-4EB5-B80C-6C021B446EAF}" dt="2026-09-04T09:25:45.172" v="2" actId="14100"/>
          <ac:spMkLst>
            <pc:docMk/>
            <pc:sldMk cId="0" sldId="257"/>
            <ac:spMk id="1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T1 · Systèmes Multi-Agents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ECDF0"/>
                </a:solidFill>
              </a:rPr>
              <a:t>Formation Mistral — Conseil Départemental du Jura (CD39)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A0B4DC"/>
                </a:solidFill>
              </a:rPr>
              <a:t>Jour 1 — Thème 1 · Récapitulatif des apprentissages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583680" y="1371600"/>
            <a:ext cx="5029200" cy="274320"/>
          </a:xfrm>
          <a:prstGeom prst="rect">
            <a:avLst/>
          </a:prstGeom>
          <a:solidFill>
            <a:srgbClr val="FF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Pourquoi plusieurs agents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ECDF0"/>
                </a:solidFill>
              </a:rPr>
              <a:t>Context engineering · Lost in the Middle · Spécialisation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57432" cy="18288"/>
          </a:xfrm>
          <a:prstGeom prst="rect">
            <a:avLst/>
          </a:prstGeom>
          <a:solidFill>
            <a:srgbClr val="003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 b="1">
                <a:solidFill>
                  <a:srgbClr val="003189"/>
                </a:solidFill>
              </a:rPr>
              <a:t>• Context engineering</a:t>
            </a:r>
            <a:r>
              <a:rPr sz="1600">
                <a:solidFill>
                  <a:srgbClr val="1C1C1C"/>
                </a:solidFill>
              </a:rPr>
              <a:t> (Karpathy, 2025) : donner à chaque LLM exactement le contexte dont il a besoin — ni plus, ni moins.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003189"/>
                </a:solidFill>
              </a:rPr>
              <a:t>• Lost in the Middle</a:t>
            </a:r>
            <a:r>
              <a:rPr sz="1600">
                <a:solidFill>
                  <a:srgbClr val="1C1C1C"/>
                </a:solidFill>
              </a:rPr>
              <a:t> (Liu et al., 2023) : sur 20 docs en contexte, les informations centrales sont rappelées 3,5× moins fidèlement. Effet robuste sur GPT-4, Claude.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003189"/>
                </a:solidFill>
              </a:rPr>
              <a:t>• Spécialisation par rôle</a:t>
            </a:r>
            <a:r>
              <a:rPr sz="1600">
                <a:solidFill>
                  <a:srgbClr val="1C1C1C"/>
                </a:solidFill>
              </a:rPr>
              <a:t> (Guo et al., 2024) : prédicteur le plus fort de performance sur 150 systèmes multi-agents analysés.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003189"/>
                </a:solidFill>
              </a:rPr>
              <a:t>• Quand y aller :</a:t>
            </a:r>
            <a:r>
              <a:rPr sz="1600">
                <a:solidFill>
                  <a:srgbClr val="1C1C1C"/>
                </a:solidFill>
              </a:rPr>
              <a:t> tâche composite avec sous-domaines séparables, parallélisme utile, agents réutilisables dans d'autres flux.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274320" cy="3840480"/>
          </a:xfrm>
          <a:prstGeom prst="rect">
            <a:avLst/>
          </a:prstGeom>
          <a:solidFill>
            <a:srgbClr val="003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3030"/>
                </a:solidFill>
              </a:rPr>
              <a:t>Agent monolithique — 32k tokens (dégradation au centre)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920240"/>
            <a:ext cx="39319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2D7A4F"/>
                </a:solidFill>
              </a:rPr>
              <a:t>WeatherAgent</a:t>
            </a:r>
            <a:r>
              <a:rPr sz="1300" b="0" i="0" dirty="0">
                <a:solidFill>
                  <a:srgbClr val="2D7A4F"/>
                </a:solidFill>
              </a:rPr>
              <a:t> — </a:t>
            </a:r>
            <a:r>
              <a:rPr sz="1300" b="0" i="0" dirty="0" err="1">
                <a:solidFill>
                  <a:srgbClr val="2D7A4F"/>
                </a:solidFill>
              </a:rPr>
              <a:t>météo</a:t>
            </a:r>
            <a:r>
              <a:rPr sz="1300" b="0" i="0" dirty="0">
                <a:solidFill>
                  <a:srgbClr val="2D7A4F"/>
                </a:solidFill>
              </a:rPr>
              <a:t> </a:t>
            </a:r>
            <a:r>
              <a:rPr sz="1300" b="0" i="0" dirty="0" err="1">
                <a:solidFill>
                  <a:srgbClr val="2D7A4F"/>
                </a:solidFill>
              </a:rPr>
              <a:t>uniquement</a:t>
            </a:r>
            <a:endParaRPr sz="1300" b="0" i="0" dirty="0">
              <a:solidFill>
                <a:srgbClr val="2D7A4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583680" y="1920240"/>
            <a:ext cx="1188720" cy="27432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2423160"/>
            <a:ext cx="39319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2D7A4F"/>
                </a:solidFill>
              </a:rPr>
              <a:t>HikingAgent</a:t>
            </a:r>
            <a:r>
              <a:rPr sz="1300" b="0" i="0" dirty="0">
                <a:solidFill>
                  <a:srgbClr val="2D7A4F"/>
                </a:solidFill>
              </a:rPr>
              <a:t> — </a:t>
            </a:r>
            <a:r>
              <a:rPr sz="1300" b="0" i="0" dirty="0" err="1">
                <a:solidFill>
                  <a:srgbClr val="2D7A4F"/>
                </a:solidFill>
              </a:rPr>
              <a:t>métriques</a:t>
            </a:r>
            <a:r>
              <a:rPr sz="1300" b="0" i="0" dirty="0">
                <a:solidFill>
                  <a:srgbClr val="2D7A4F"/>
                </a:solidFill>
              </a:rPr>
              <a:t> </a:t>
            </a:r>
            <a:r>
              <a:rPr sz="1300" b="0" i="0" dirty="0" err="1">
                <a:solidFill>
                  <a:srgbClr val="2D7A4F"/>
                </a:solidFill>
              </a:rPr>
              <a:t>itinéraire</a:t>
            </a:r>
            <a:r>
              <a:rPr sz="1300" b="0" i="0" dirty="0">
                <a:solidFill>
                  <a:srgbClr val="2D7A4F"/>
                </a:solidFill>
              </a:rPr>
              <a:t> </a:t>
            </a:r>
            <a:r>
              <a:rPr sz="1300" b="0" i="0" dirty="0" err="1">
                <a:solidFill>
                  <a:srgbClr val="2D7A4F"/>
                </a:solidFill>
              </a:rPr>
              <a:t>uniquement</a:t>
            </a:r>
            <a:endParaRPr sz="1300" b="0" i="0" dirty="0">
              <a:solidFill>
                <a:srgbClr val="2D7A4F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83680" y="2423160"/>
            <a:ext cx="1188720" cy="27432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0" y="2926080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003189"/>
                </a:solidFill>
              </a:rPr>
              <a:t>OrchestratorAgent</a:t>
            </a:r>
            <a:r>
              <a:rPr sz="1300" b="0" i="0" dirty="0">
                <a:solidFill>
                  <a:srgbClr val="003189"/>
                </a:solidFill>
              </a:rPr>
              <a:t> — agrégation finale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2926080"/>
            <a:ext cx="54864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Les 4 patterns de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ECDF0"/>
                </a:solidFill>
              </a:rPr>
              <a:t>Guo et al. (2024) — revue de 150 systèmes multi-agents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57432" cy="18288"/>
          </a:xfrm>
          <a:prstGeom prst="rect">
            <a:avLst/>
          </a:prstGeom>
          <a:solidFill>
            <a:srgbClr val="003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1097280"/>
          </a:xfrm>
          <a:prstGeom prst="rect">
            <a:avLst/>
          </a:prstGeom>
          <a:solidFill>
            <a:srgbClr val="F0F4FF"/>
          </a:solidFill>
          <a:ln w="12700">
            <a:solidFill>
              <a:srgbClr val="003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3990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189"/>
                </a:solidFill>
              </a:rPr>
              <a:t>Séquentiel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3990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A → B →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01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6E"/>
                </a:solidFill>
              </a:rPr>
              <a:t>Simple, déterministe. Chaque étape attend la précédente. À privilégier quand l'ordre est une contrainte métier.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60320"/>
            <a:ext cx="11430000" cy="1097280"/>
          </a:xfrm>
          <a:prstGeom prst="rect">
            <a:avLst/>
          </a:prstGeom>
          <a:solidFill>
            <a:srgbClr val="FFF3E0"/>
          </a:solidFill>
          <a:ln w="12700">
            <a:solidFill>
              <a:srgbClr val="C8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6334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8C3C"/>
                </a:solidFill>
              </a:rPr>
              <a:t>Fan-out /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6334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A → B₁ B₂ B₃ → 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35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6E"/>
                </a:solidFill>
              </a:rPr>
              <a:t>Sous-tâches indépendantes en parallèle. Réduit la latence perçue. C agrège les résultats.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94760"/>
            <a:ext cx="11430000" cy="1097280"/>
          </a:xfrm>
          <a:prstGeom prst="rect">
            <a:avLst/>
          </a:prstGeom>
          <a:solidFill>
            <a:srgbClr val="FDF0FF"/>
          </a:solidFill>
          <a:ln w="12700">
            <a:solidFill>
              <a:srgbClr val="A0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8679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078C8"/>
                </a:solidFill>
              </a:rPr>
              <a:t>Hiérarchique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8679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S → Sub-S → W₁ W₂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2702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6E"/>
                </a:solidFill>
              </a:rPr>
              <a:t>Sous-superviseurs qui coordonnent leurs workers. Puissant mais débogage complexe.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029200"/>
            <a:ext cx="11430000" cy="1097280"/>
          </a:xfrm>
          <a:prstGeom prst="rect">
            <a:avLst/>
          </a:prstGeom>
          <a:solidFill>
            <a:srgbClr val="F0FFF4"/>
          </a:solidFill>
          <a:ln w="12700">
            <a:solidFill>
              <a:srgbClr val="2D7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51023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7A4F"/>
                </a:solidFill>
              </a:rPr>
              <a:t>Superviseur as-tools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51023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S·LLM → @tool A @tool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0468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6E"/>
                </a:solidFill>
              </a:rPr>
              <a:t>Le superviseur choisit dynamiquement. Natif LangGraph : workers déclarés comme outils.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Scoper vs Superviseur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ECDF0"/>
                </a:solidFill>
              </a:rPr>
              <a:t>Deux rôles distincts — ne jamais fusionner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57432" cy="18288"/>
          </a:xfrm>
          <a:prstGeom prst="rect">
            <a:avLst/>
          </a:prstGeom>
          <a:solidFill>
            <a:srgbClr val="003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1645920" cy="502920"/>
          </a:xfrm>
          <a:prstGeom prst="rect">
            <a:avLst/>
          </a:prstGeom>
          <a:solidFill>
            <a:srgbClr val="F5F5F5"/>
          </a:solidFill>
          <a:ln w="190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Utilisateur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66420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6E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554480"/>
            <a:ext cx="1645920" cy="502920"/>
          </a:xfrm>
          <a:prstGeom prst="rect">
            <a:avLst/>
          </a:prstGeom>
          <a:solidFill>
            <a:srgbClr val="F0F4FF"/>
          </a:solidFill>
          <a:ln w="19050">
            <a:solidFill>
              <a:srgbClr val="003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31720" y="16002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Scoper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66420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6E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554480"/>
            <a:ext cx="1645920" cy="502920"/>
          </a:xfrm>
          <a:prstGeom prst="rect">
            <a:avLst/>
          </a:prstGeom>
          <a:solidFill>
            <a:srgbClr val="FDF0FF"/>
          </a:solidFill>
          <a:ln w="19050">
            <a:solidFill>
              <a:srgbClr val="A0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51960" y="16002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Superviseur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166420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6E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554480"/>
            <a:ext cx="914400" cy="502920"/>
          </a:xfrm>
          <a:prstGeom prst="rect">
            <a:avLst/>
          </a:prstGeom>
          <a:solidFill>
            <a:srgbClr val="F0FFF4"/>
          </a:solidFill>
          <a:ln w="19050">
            <a:solidFill>
              <a:srgbClr val="2D7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72200" y="160020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Worker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166420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6E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1554480"/>
            <a:ext cx="914400" cy="502920"/>
          </a:xfrm>
          <a:prstGeom prst="rect">
            <a:avLst/>
          </a:prstGeom>
          <a:solidFill>
            <a:srgbClr val="F0FFF4"/>
          </a:solidFill>
          <a:ln w="19050">
            <a:solidFill>
              <a:srgbClr val="2D7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69480" y="160020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Worker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166420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6E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1554480"/>
            <a:ext cx="1737360" cy="502920"/>
          </a:xfrm>
          <a:prstGeom prst="rect">
            <a:avLst/>
          </a:prstGeom>
          <a:solidFill>
            <a:srgbClr val="FFF3E0"/>
          </a:solidFill>
          <a:ln w="19050">
            <a:solidFill>
              <a:srgbClr val="C8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06840" y="160020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Réponse agrégée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2377440"/>
            <a:ext cx="1463040" cy="457200"/>
          </a:xfrm>
          <a:prstGeom prst="rect">
            <a:avLst/>
          </a:prstGeom>
          <a:solidFill>
            <a:srgbClr val="FFF0F0"/>
          </a:solidFill>
          <a:ln w="19050">
            <a:solidFill>
              <a:srgbClr val="A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23160" y="2423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3030"/>
                </a:solidFill>
              </a:rPr>
              <a:t>Refus / redirection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2148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E6E6E"/>
                </a:solidFill>
              </a:rPr>
              <a:t>↓ hors-périmètre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108960"/>
            <a:ext cx="11430000" cy="411480"/>
          </a:xfrm>
          <a:prstGeom prst="rect">
            <a:avLst/>
          </a:prstGeom>
          <a:solidFill>
            <a:srgbClr val="003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3154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Critère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154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Scoper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31546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Superviseur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520440"/>
            <a:ext cx="11430000" cy="512064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35661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Interlocuteur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5661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Reçoit la demande brute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3566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Ne dialogue pas avec l'utilisateur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050791"/>
            <a:ext cx="114300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4096511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Décision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096511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In-scope ou hors-périmètre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4096511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Quel worker appeler et quand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581144"/>
            <a:ext cx="11430000" cy="512064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462686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Décomposition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4626864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Découpe en sous-tâches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4626864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Coordonne l'exécution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111496"/>
            <a:ext cx="114300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7200" y="515721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Gestion erreurs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5157216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Refuse ou redirige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515721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Suit la trajectoire, gère les échecs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641848"/>
            <a:ext cx="11430000" cy="512064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7200" y="568756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Sortie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66160" y="568756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Sous-tâches pour le Superviseur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79" y="568756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Réponse finale agrégée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Mistral Agents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ECDF0"/>
                </a:solidFill>
              </a:rPr>
              <a:t>État géré côté serveur · Outils déclarés à l'agent, exécutés par le client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57432" cy="18288"/>
          </a:xfrm>
          <a:prstGeom prst="rect">
            <a:avLst/>
          </a:prstGeom>
          <a:solidFill>
            <a:srgbClr val="003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1430000" cy="411480"/>
          </a:xfrm>
          <a:prstGeom prst="rect">
            <a:avLst/>
          </a:prstGeom>
          <a:solidFill>
            <a:srgbClr val="003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Opération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325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Méthode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19" y="13258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Retour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11430000" cy="57607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737360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Configurer l'agent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7373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beta.agents.create(model, name, instructions, tools)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19" y="17373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agent.id — UUID persistant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114300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331720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Démarrer une 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3317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beta.conversations.start(agent_id, inputs)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23317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outputs + conversation_id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880360"/>
            <a:ext cx="11430000" cy="57607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Continuer après tool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9260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beta.conversations.append(conv_id, [FunctionResultEntry(...)])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29260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Nouveaux outputs à boucler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74720"/>
            <a:ext cx="114300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520440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Handoff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5204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beta.agents.update(agent_id, handoffs=[autre_id])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19" y="3520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Délégation inter-agents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160520"/>
            <a:ext cx="11430000" cy="1554480"/>
          </a:xfrm>
          <a:prstGeom prst="rect">
            <a:avLst/>
          </a:prstGeom>
          <a:solidFill>
            <a:srgbClr val="F0F4FF"/>
          </a:solidFill>
          <a:ln w="12700">
            <a:solidFill>
              <a:srgbClr val="003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4206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189"/>
                </a:solidFill>
              </a:rPr>
              <a:t>Boucle ReAct côté client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617720"/>
            <a:ext cx="1508760" cy="365760"/>
          </a:xfrm>
          <a:prstGeom prst="rect">
            <a:avLst/>
          </a:prstGeom>
          <a:solidFill>
            <a:srgbClr val="F0F4FF"/>
          </a:solidFill>
          <a:ln w="12700">
            <a:solidFill>
              <a:srgbClr val="003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466344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agents.create()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46634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6E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06040" y="4617720"/>
            <a:ext cx="2002536" cy="365760"/>
          </a:xfrm>
          <a:prstGeom prst="rect">
            <a:avLst/>
          </a:prstGeom>
          <a:solidFill>
            <a:srgbClr val="F0F4FF"/>
          </a:solidFill>
          <a:ln w="12700">
            <a:solidFill>
              <a:srgbClr val="003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697480" y="4663440"/>
            <a:ext cx="1819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conversations.start()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37176" y="46634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6E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57216" y="4617720"/>
            <a:ext cx="1179576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C8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655" y="4663440"/>
            <a:ext cx="996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tool_call 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074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oui → execute_tool() → conversations.append() → boucler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440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non → texte final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ReAct · Raisonnement et action en boucle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ECDF0"/>
                </a:solidFill>
              </a:rPr>
              <a:t>Yao et al. (2022) — arXiv:2210.03629 · Validé sur HotpotQA, FEVER, ALFWorld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57432" cy="18288"/>
          </a:xfrm>
          <a:prstGeom prst="rect">
            <a:avLst/>
          </a:prstGeom>
          <a:solidFill>
            <a:srgbClr val="003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</a:rPr>
              <a:t>Avant chaque appel d'outil, le modèle verbalise sa pensée. Après chaque résultat, il formule une observation. Cette alternance rend le comportement lisible, traçable et auditable.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11430000" cy="1234440"/>
          </a:xfrm>
          <a:prstGeom prst="rect">
            <a:avLst/>
          </a:prstGeom>
          <a:solidFill>
            <a:srgbClr val="F0F4FF"/>
          </a:solidFill>
          <a:ln w="6350">
            <a:solidFill>
              <a:srgbClr val="003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6E6E"/>
                </a:solidFill>
              </a:rPr>
              <a:t>ÉTAPE 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86000"/>
            <a:ext cx="5303520" cy="365760"/>
          </a:xfrm>
          <a:prstGeom prst="rect">
            <a:avLst/>
          </a:prstGeom>
          <a:solidFill>
            <a:srgbClr val="FDF0FF"/>
          </a:solidFill>
          <a:ln w="12700">
            <a:solidFill>
              <a:srgbClr val="A0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32257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Pensée : "je dois calculer la distance avant d'appliquer Naismith"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232257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6E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286000"/>
            <a:ext cx="2926080" cy="365760"/>
          </a:xfrm>
          <a:prstGeom prst="rect">
            <a:avLst/>
          </a:prstGeom>
          <a:solidFill>
            <a:srgbClr val="F0F4FF"/>
          </a:solidFill>
          <a:ln w="12700">
            <a:solidFill>
              <a:srgbClr val="003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23225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calculer_distance_km()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32257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6E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55480" y="2286000"/>
            <a:ext cx="1920240" cy="365760"/>
          </a:xfrm>
          <a:prstGeom prst="rect">
            <a:avLst/>
          </a:prstGeom>
          <a:solidFill>
            <a:srgbClr val="F0FFF4"/>
          </a:solidFill>
          <a:ln w="12700">
            <a:solidFill>
              <a:srgbClr val="2D7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46920" y="23225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7A4F"/>
                </a:solidFill>
              </a:rPr>
              <a:t>8,4 km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91840"/>
            <a:ext cx="114300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003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337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6E6E"/>
                </a:solidFill>
              </a:rPr>
              <a:t>ÉTAPE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657600"/>
            <a:ext cx="5303520" cy="365760"/>
          </a:xfrm>
          <a:prstGeom prst="rect">
            <a:avLst/>
          </a:prstGeom>
          <a:solidFill>
            <a:srgbClr val="FDF0FF"/>
          </a:solidFill>
          <a:ln w="12700">
            <a:solidFill>
              <a:srgbClr val="A0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69417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Pensée : "il me faut aussi le dénivelé positif pour Naismith"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369417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6E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657600"/>
            <a:ext cx="2926080" cy="365760"/>
          </a:xfrm>
          <a:prstGeom prst="rect">
            <a:avLst/>
          </a:prstGeom>
          <a:solidFill>
            <a:srgbClr val="F0F4FF"/>
          </a:solidFill>
          <a:ln w="12700">
            <a:solidFill>
              <a:srgbClr val="003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36941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denivele_positif_m()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69417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6E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55480" y="3657600"/>
            <a:ext cx="1920240" cy="365760"/>
          </a:xfrm>
          <a:prstGeom prst="rect">
            <a:avLst/>
          </a:prstGeom>
          <a:solidFill>
            <a:srgbClr val="F0FFF4"/>
          </a:solidFill>
          <a:ln w="12700">
            <a:solidFill>
              <a:srgbClr val="2D7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46920" y="36941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7A4F"/>
                </a:solidFill>
              </a:rPr>
              <a:t>680 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663440"/>
            <a:ext cx="11430000" cy="1234440"/>
          </a:xfrm>
          <a:prstGeom prst="rect">
            <a:avLst/>
          </a:prstGeom>
          <a:solidFill>
            <a:srgbClr val="F0F4FF"/>
          </a:solidFill>
          <a:ln w="6350">
            <a:solidFill>
              <a:srgbClr val="003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70915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6E6E"/>
                </a:solidFill>
              </a:rPr>
              <a:t>ÉTAPE 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029200"/>
            <a:ext cx="5303520" cy="365760"/>
          </a:xfrm>
          <a:prstGeom prst="rect">
            <a:avLst/>
          </a:prstGeom>
          <a:solidFill>
            <a:srgbClr val="FDF0FF"/>
          </a:solidFill>
          <a:ln w="12700">
            <a:solidFill>
              <a:srgbClr val="A0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506577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Pensée : "j'ai 8,4 km et 680 m — je peux appliquer Naismith"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506577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6E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5029200"/>
            <a:ext cx="2926080" cy="365760"/>
          </a:xfrm>
          <a:prstGeom prst="rect">
            <a:avLst/>
          </a:prstGeom>
          <a:solidFill>
            <a:srgbClr val="F0F4FF"/>
          </a:solidFill>
          <a:ln w="12700">
            <a:solidFill>
              <a:srgbClr val="003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9360" y="50657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estimation_naismith(8.4, 680)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506577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6E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55480" y="5029200"/>
            <a:ext cx="1920240" cy="365760"/>
          </a:xfrm>
          <a:prstGeom prst="rect">
            <a:avLst/>
          </a:prstGeom>
          <a:solidFill>
            <a:srgbClr val="F0FFF4"/>
          </a:solidFill>
          <a:ln w="12700">
            <a:solidFill>
              <a:srgbClr val="2D7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46920" y="50657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7A4F"/>
                </a:solidFill>
              </a:rPr>
              <a:t>2 h 49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3189"/>
                </a:solidFill>
              </a:rPr>
              <a:t>Réflexe : un few-shot dans le prompt système contraint l'ordre des appels sans fine-tuning.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LangGraph · Même scénario, paradigme différent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ECDF0"/>
                </a:solidFill>
              </a:rPr>
              <a:t>État Python explicite — graphe visualisable et testable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57432" cy="18288"/>
          </a:xfrm>
          <a:prstGeom prst="rect">
            <a:avLst/>
          </a:prstGeom>
          <a:solidFill>
            <a:srgbClr val="003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</a:rPr>
              <a:t>LangGraph implémente le même système GR509 avec un état dictionnaire Python local — non une ressource serveur. Le graphe est déclaratif, visualisable et testable unitairement.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11430000" cy="411480"/>
          </a:xfrm>
          <a:prstGeom prst="rect">
            <a:avLst/>
          </a:prstGeom>
          <a:solidFill>
            <a:srgbClr val="003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87451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Mistral Agents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874519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LangGraph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11430000" cy="48463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Créer l'agent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2860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beta.agents.create(tools)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2860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create_react_agent(llm, tools)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43200"/>
            <a:ext cx="114300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7889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Définir un outil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7889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Schéma JSON (~20 lignes)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7889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@tool + docstring (~3 lignes)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246120"/>
            <a:ext cx="11430000" cy="48463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2918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Boucle ReAct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29184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Boucle TOOL_REGISTRY (client)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29184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ToolNode([tool1, tool2])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749040"/>
            <a:ext cx="114300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7947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État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79476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conversation_id — côté serveur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379476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MessagesState dict — local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251960"/>
            <a:ext cx="11430000" cy="48463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2976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Routage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29768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handoffs=[agent_id]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42976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add_conditional_edges + router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892040"/>
            <a:ext cx="11430000" cy="914400"/>
          </a:xfrm>
          <a:prstGeom prst="rect">
            <a:avLst/>
          </a:prstGeom>
          <a:solidFill>
            <a:srgbClr val="FFF3E0"/>
          </a:solidFill>
          <a:ln w="12700">
            <a:solidFill>
              <a:srgbClr val="C8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4937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8C3C"/>
                </a:solidFill>
              </a:rPr>
              <a:t>StateGraph GR509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349240"/>
            <a:ext cx="731520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1792" y="5376672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START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5394960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6E6E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83080" y="5349240"/>
            <a:ext cx="1618488" cy="347472"/>
          </a:xfrm>
          <a:prstGeom prst="rect">
            <a:avLst/>
          </a:prstGeom>
          <a:solidFill>
            <a:srgbClr val="FDF0FF"/>
          </a:solidFill>
          <a:ln w="12700">
            <a:solidFill>
              <a:srgbClr val="A0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856232" y="5376672"/>
            <a:ext cx="15270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supervisor · LLM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84448" y="5394960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6E6E"/>
                </a:solidFill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04487" y="5349240"/>
            <a:ext cx="1184148" cy="347472"/>
          </a:xfrm>
          <a:prstGeom prst="rect">
            <a:avLst/>
          </a:prstGeom>
          <a:solidFill>
            <a:srgbClr val="FFF3E0"/>
          </a:solidFill>
          <a:ln w="12700">
            <a:solidFill>
              <a:srgbClr val="C8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77639" y="5376672"/>
            <a:ext cx="1092707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tool_call 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71516" y="5394960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6E6E"/>
                </a:solidFill>
              </a:rPr>
              <a:t>oui 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91555" y="5349240"/>
            <a:ext cx="923544" cy="347472"/>
          </a:xfrm>
          <a:prstGeom prst="rect">
            <a:avLst/>
          </a:prstGeom>
          <a:solidFill>
            <a:srgbClr val="F0FFF4"/>
          </a:solidFill>
          <a:ln w="12700">
            <a:solidFill>
              <a:srgbClr val="2D7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664707" y="5376672"/>
            <a:ext cx="83210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ToolNode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97979" y="5394960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6E6E"/>
                </a:solidFill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18019" y="5349240"/>
            <a:ext cx="2400300" cy="347472"/>
          </a:xfrm>
          <a:prstGeom prst="rect">
            <a:avLst/>
          </a:prstGeom>
          <a:solidFill>
            <a:srgbClr val="FDF0FF"/>
          </a:solidFill>
          <a:ln w="12700">
            <a:solidFill>
              <a:srgbClr val="A0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091171" y="5376672"/>
            <a:ext cx="23088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supervisor · LLM (boucle)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0" y="5760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E6E6E"/>
                </a:solidFill>
              </a:rPr>
              <a:t>non → 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Fil rouge · Sentier GR509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ECDF0"/>
                </a:solidFill>
              </a:rPr>
              <a:t>"Peut-on randonner sur le GR509 ce week-end ?" — Pattern superviseur as-tools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57432" cy="18288"/>
          </a:xfrm>
          <a:prstGeom prst="rect">
            <a:avLst/>
          </a:prstGeom>
          <a:solidFill>
            <a:srgbClr val="003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430000" cy="1005840"/>
          </a:xfrm>
          <a:prstGeom prst="rect">
            <a:avLst/>
          </a:prstGeom>
          <a:solidFill>
            <a:srgbClr val="F0F4FF"/>
          </a:solidFill>
          <a:ln w="12700">
            <a:solidFill>
              <a:srgbClr val="003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189"/>
                </a:solidFill>
              </a:rPr>
              <a:t>Pattern : superviseur as-tools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10512"/>
            <a:ext cx="1906524" cy="384048"/>
          </a:xfrm>
          <a:prstGeom prst="rect">
            <a:avLst/>
          </a:prstGeom>
          <a:solidFill>
            <a:srgbClr val="FDF0FF"/>
          </a:solidFill>
          <a:ln w="19050">
            <a:solidFill>
              <a:srgbClr val="A0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176936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OrchestratorAgent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8044" y="1874519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6E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12364" y="1810512"/>
            <a:ext cx="1426464" cy="384048"/>
          </a:xfrm>
          <a:prstGeom prst="rect">
            <a:avLst/>
          </a:prstGeom>
          <a:solidFill>
            <a:srgbClr val="F0FFF4"/>
          </a:solidFill>
          <a:ln w="19050">
            <a:solidFill>
              <a:srgbClr val="2D7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03804" y="1847088"/>
            <a:ext cx="128930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WeatherAgent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1708" y="1810512"/>
            <a:ext cx="1330452" cy="384048"/>
          </a:xfrm>
          <a:prstGeom prst="rect">
            <a:avLst/>
          </a:prstGeom>
          <a:solidFill>
            <a:srgbClr val="F0FFF4"/>
          </a:solidFill>
          <a:ln w="19050">
            <a:solidFill>
              <a:srgbClr val="2D7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3148" y="1847088"/>
            <a:ext cx="11932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HikingAgent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874519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6E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810512"/>
            <a:ext cx="1714500" cy="384048"/>
          </a:xfrm>
          <a:prstGeom prst="rect">
            <a:avLst/>
          </a:prstGeom>
          <a:solidFill>
            <a:srgbClr val="FFF3E0"/>
          </a:solidFill>
          <a:ln w="19050">
            <a:solidFill>
              <a:srgbClr val="C8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847088"/>
            <a:ext cx="15773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réponse agrégée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560320"/>
            <a:ext cx="54864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003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189"/>
                </a:solidFill>
              </a:rPr>
              <a:t>WeatherAgent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Appelle WeatherAPI pour les prévisions météo sur la zone du Col de Menthières. Contexte minimal : météo uniquement.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29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189"/>
                </a:solidFill>
              </a:rPr>
              <a:t>HikingAgent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Calcule la distance, le dénivelé et applique la règle de Naismith. Contexte minimal : métriques d'itinéraire uniquement.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560320"/>
            <a:ext cx="5669280" cy="2103120"/>
          </a:xfrm>
          <a:prstGeom prst="rect">
            <a:avLst/>
          </a:prstGeom>
          <a:solidFill>
            <a:srgbClr val="F0F4FF"/>
          </a:solidFill>
          <a:ln w="6350">
            <a:solidFill>
              <a:srgbClr val="003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60" y="2606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189"/>
                </a:solidFill>
              </a:rPr>
              <a:t>Itinéraire — Col de Menthières → Crêt de la Neige (1 718 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063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</a:rPr>
              <a:t>• Distance : 8,4 km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</a:rPr>
              <a:t>• Dénivelé D+ : 680 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886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</a:rPr>
              <a:t>• Durée (Naismith) : 2 h 49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297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E6E6E"/>
                </a:solidFill>
              </a:rPr>
              <a:t>Dual-mode : réel (clé API) ou stubs déterministes.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846320"/>
            <a:ext cx="11430000" cy="731520"/>
          </a:xfrm>
          <a:prstGeom prst="rect">
            <a:avLst/>
          </a:prstGeom>
          <a:solidFill>
            <a:srgbClr val="F0F4FF"/>
          </a:solidFill>
          <a:ln w="12700">
            <a:solidFill>
              <a:srgbClr val="003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491947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3189"/>
                </a:solidFill>
              </a:rPr>
              <a:t>sentier_gr509.py isole toute la logique domaine — zéro dépendance Mistral. Les fonctions sont testables unitairement, réutilisables indépendamment du modèle LLM.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Évaluation · LLM-as-a-Judge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ECDF0"/>
                </a:solidFill>
              </a:rPr>
              <a:t>Zheng et al. (2023) — arXiv:2306.05685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57432" cy="18288"/>
          </a:xfrm>
          <a:prstGeom prst="rect">
            <a:avLst/>
          </a:prstGeom>
          <a:solidFill>
            <a:srgbClr val="003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</a:rPr>
              <a:t>Mesurer la qualité sans annotation manuelle coûteuse : un LLM juge évalue la réponse d'un autre LLM selon des critères explicites et une grille 1–5. La justification est obligatoire — sans elle, le score est non fiable.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189"/>
                </a:solidFill>
              </a:rPr>
              <a:t>Critères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>• Pertinence et complétude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>• Cohérence de la réponse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>• Respect du format demandé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>• Ton administratif (CD39) : neutre, précis, sans conditionnel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189"/>
                </a:solidFill>
              </a:rPr>
              <a:t>Calibration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348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Annoter manuellement 10–20 exemples et mesurer la corrélation avec le juge automatique avant de faire confiance aux scores.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03030"/>
                </a:solidFill>
              </a:rPr>
              <a:t>Biais documentés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331720"/>
            <a:ext cx="5669280" cy="502920"/>
          </a:xfrm>
          <a:prstGeom prst="rect">
            <a:avLst/>
          </a:prstGeom>
          <a:solidFill>
            <a:srgbClr val="FFF0F0"/>
          </a:solidFill>
          <a:ln w="12700">
            <a:solidFill>
              <a:srgbClr val="A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23774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3030"/>
                </a:solidFill>
              </a:rPr>
              <a:t>Longueur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3774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les réponses longues sont sur-notées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971800"/>
            <a:ext cx="5669280" cy="502920"/>
          </a:xfrm>
          <a:prstGeom prst="rect">
            <a:avLst/>
          </a:prstGeom>
          <a:solidFill>
            <a:srgbClr val="FFF0F0"/>
          </a:solidFill>
          <a:ln w="12700">
            <a:solidFill>
              <a:srgbClr val="A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30175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3030"/>
                </a:solidFill>
              </a:rPr>
              <a:t>Ordre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0175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la première réponse est favorisée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611879"/>
            <a:ext cx="5669280" cy="502920"/>
          </a:xfrm>
          <a:prstGeom prst="rect">
            <a:avLst/>
          </a:prstGeom>
          <a:solidFill>
            <a:srgbClr val="FFF0F0"/>
          </a:solidFill>
          <a:ln w="12700">
            <a:solidFill>
              <a:srgbClr val="A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36576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3030"/>
                </a:solidFill>
              </a:rPr>
              <a:t>Auto-évaluation 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6576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un modèle sur-note ses propres réponses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891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E6E6E"/>
                </a:solidFill>
              </a:rPr>
              <a:t>Juge recommandé : mistral-large ou mistral-medium (plus fiable que mistral-small).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Mesure · Agent unique vs Multi-agents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ECDF0"/>
                </a:solidFill>
              </a:rPr>
              <a:t>Sans jeu de test figé, la complexité multi-agents ne se justifie pas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57432" cy="18288"/>
          </a:xfrm>
          <a:prstGeom prst="rect">
            <a:avLst/>
          </a:prstGeom>
          <a:solidFill>
            <a:srgbClr val="003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1430000" cy="411480"/>
          </a:xfrm>
          <a:prstGeom prst="rect">
            <a:avLst/>
          </a:prstGeom>
          <a:solidFill>
            <a:srgbClr val="003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Axe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325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Ce qu'on mesure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3258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Impact de l'architecture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11430000" cy="57607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7373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Qualité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7373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Score LLM-as-a-Judge sur 5–10 questions simples et composites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73736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Le multi-agents améliore-t-il la précision 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114300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3317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Latence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3317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Temps de réponse total de bout en bout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33172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Fan-out réduit. Handoffs en série augmentent.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880360"/>
            <a:ext cx="11430000" cy="57607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Coût token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29260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Tokens entrants + sortants par requête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92608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Chaque handoff ajoute du contexte.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566160"/>
            <a:ext cx="11430000" cy="2011680"/>
          </a:xfrm>
          <a:prstGeom prst="rect">
            <a:avLst/>
          </a:prstGeom>
          <a:solidFill>
            <a:srgbClr val="F0F4FF"/>
          </a:solidFill>
          <a:ln w="12700">
            <a:solidFill>
              <a:srgbClr val="003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6118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189"/>
                </a:solidFill>
              </a:rPr>
              <a:t>Protocole de décision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0233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1.  Fixer le jeu de test (5–10 questions) avant de coder — pas après.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41655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2.  Mesurer agent unique → score_A, latence_A, coût_A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80974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3.  Mesurer multi-agents → score_B, latence_B, coût_B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20293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4.  Décider sur les chiffres : adopter si Δqualité dépasse le seuil ET le coût reste maîtrisé. Si Δqualité &lt; 10%, revenir à l'agent unique.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E6E6E"/>
                </a:solidFill>
              </a:rPr>
              <a:t>Grille verte = Adopter si : tâche composite, parallélisme utile, Δqualité &gt; 10%.  Grille rouge = Rester si : latence critique, équipe non formée, budget token limité.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</a:rPr>
              <a:t>Réflexes</a:t>
            </a:r>
            <a:r>
              <a:rPr sz="2600" b="1" i="0" dirty="0">
                <a:solidFill>
                  <a:srgbClr val="FFFFFF"/>
                </a:solidFill>
              </a:rPr>
              <a:t> · Ce </a:t>
            </a:r>
            <a:r>
              <a:rPr sz="2600" b="1" i="0" dirty="0" err="1">
                <a:solidFill>
                  <a:srgbClr val="FFFFFF"/>
                </a:solidFill>
              </a:rPr>
              <a:t>qu'on</a:t>
            </a:r>
            <a:r>
              <a:rPr sz="2600" b="1" i="0" dirty="0">
                <a:solidFill>
                  <a:srgbClr val="FFFFFF"/>
                </a:solidFill>
              </a:rPr>
              <a:t> </a:t>
            </a:r>
            <a:r>
              <a:rPr sz="2600" b="1" i="0" dirty="0" err="1">
                <a:solidFill>
                  <a:srgbClr val="FFFFFF"/>
                </a:solidFill>
              </a:rPr>
              <a:t>emporte</a:t>
            </a:r>
            <a:r>
              <a:rPr sz="2600" b="1" i="0" dirty="0">
                <a:solidFill>
                  <a:srgbClr val="FFFFFF"/>
                </a:solidFill>
              </a:rPr>
              <a:t> de T1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BECDF0"/>
                </a:solidFill>
              </a:rPr>
              <a:t>Trois </a:t>
            </a:r>
            <a:r>
              <a:rPr sz="1300" b="0" i="0" dirty="0" err="1">
                <a:solidFill>
                  <a:srgbClr val="BECDF0"/>
                </a:solidFill>
              </a:rPr>
              <a:t>décisions</a:t>
            </a:r>
            <a:r>
              <a:rPr sz="1300" b="0" i="0" dirty="0">
                <a:solidFill>
                  <a:srgbClr val="BECDF0"/>
                </a:solidFill>
              </a:rPr>
              <a:t> à prendre avant </a:t>
            </a:r>
            <a:r>
              <a:rPr sz="1300" b="0" i="0" dirty="0" err="1">
                <a:solidFill>
                  <a:srgbClr val="BECDF0"/>
                </a:solidFill>
              </a:rPr>
              <a:t>chaque</a:t>
            </a:r>
            <a:r>
              <a:rPr sz="1300" b="0" i="0" dirty="0">
                <a:solidFill>
                  <a:srgbClr val="BECDF0"/>
                </a:solidFill>
              </a:rPr>
              <a:t> </a:t>
            </a:r>
            <a:r>
              <a:rPr sz="1300" b="0" i="0" dirty="0" err="1">
                <a:solidFill>
                  <a:srgbClr val="BECDF0"/>
                </a:solidFill>
              </a:rPr>
              <a:t>projet</a:t>
            </a:r>
            <a:r>
              <a:rPr sz="1300" b="0" i="0" dirty="0">
                <a:solidFill>
                  <a:srgbClr val="BECDF0"/>
                </a:solidFill>
              </a:rPr>
              <a:t> multi-agents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57432" cy="18288"/>
          </a:xfrm>
          <a:prstGeom prst="rect">
            <a:avLst/>
          </a:prstGeom>
          <a:solidFill>
            <a:srgbClr val="003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1371600"/>
          </a:xfrm>
          <a:prstGeom prst="rect">
            <a:avLst/>
          </a:prstGeom>
          <a:solidFill>
            <a:srgbClr val="F0FFF4"/>
          </a:solidFill>
          <a:ln w="25400">
            <a:solidFill>
              <a:srgbClr val="2D7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2D7A4F"/>
                </a:solidFill>
              </a:rPr>
              <a:t>Réflexe</a:t>
            </a:r>
            <a:r>
              <a:rPr sz="1600" b="1" i="0" dirty="0">
                <a:solidFill>
                  <a:srgbClr val="2D7A4F"/>
                </a:solidFill>
              </a:rPr>
              <a:t> 1 — Agent unique </a:t>
            </a:r>
            <a:r>
              <a:rPr sz="1600" b="1" i="0" dirty="0" err="1">
                <a:solidFill>
                  <a:srgbClr val="2D7A4F"/>
                </a:solidFill>
              </a:rPr>
              <a:t>d'abord</a:t>
            </a:r>
            <a:r>
              <a:rPr sz="1600" b="1" i="0" dirty="0">
                <a:solidFill>
                  <a:srgbClr val="2D7A4F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1C"/>
                </a:solidFill>
              </a:rPr>
              <a:t>Multi-agents </a:t>
            </a:r>
            <a:r>
              <a:rPr sz="1400" b="0" i="0" dirty="0" err="1">
                <a:solidFill>
                  <a:srgbClr val="1C1C1C"/>
                </a:solidFill>
              </a:rPr>
              <a:t>uniquement</a:t>
            </a:r>
            <a:r>
              <a:rPr sz="1400" b="0" i="0" dirty="0">
                <a:solidFill>
                  <a:srgbClr val="1C1C1C"/>
                </a:solidFill>
              </a:rPr>
              <a:t> </a:t>
            </a:r>
            <a:r>
              <a:rPr sz="1400" b="0" i="0" dirty="0" err="1">
                <a:solidFill>
                  <a:srgbClr val="1C1C1C"/>
                </a:solidFill>
              </a:rPr>
              <a:t>quand</a:t>
            </a:r>
            <a:r>
              <a:rPr sz="1400" b="0" i="0" dirty="0">
                <a:solidFill>
                  <a:srgbClr val="1C1C1C"/>
                </a:solidFill>
              </a:rPr>
              <a:t> le </a:t>
            </a:r>
            <a:r>
              <a:rPr sz="1400" b="0" i="0" dirty="0" err="1">
                <a:solidFill>
                  <a:srgbClr val="1C1C1C"/>
                </a:solidFill>
              </a:rPr>
              <a:t>contexte</a:t>
            </a:r>
            <a:r>
              <a:rPr sz="1400" b="0" i="0" dirty="0">
                <a:solidFill>
                  <a:srgbClr val="1C1C1C"/>
                </a:solidFill>
              </a:rPr>
              <a:t> </a:t>
            </a:r>
            <a:r>
              <a:rPr sz="1400" b="0" i="0" dirty="0" err="1">
                <a:solidFill>
                  <a:srgbClr val="1C1C1C"/>
                </a:solidFill>
              </a:rPr>
              <a:t>explose</a:t>
            </a:r>
            <a:r>
              <a:rPr sz="1400" b="0" i="0" dirty="0">
                <a:solidFill>
                  <a:srgbClr val="1C1C1C"/>
                </a:solidFill>
              </a:rPr>
              <a:t> </a:t>
            </a:r>
            <a:r>
              <a:rPr sz="1400" b="0" i="0" dirty="0" err="1">
                <a:solidFill>
                  <a:srgbClr val="1C1C1C"/>
                </a:solidFill>
              </a:rPr>
              <a:t>ou</a:t>
            </a:r>
            <a:r>
              <a:rPr sz="1400" b="0" i="0" dirty="0">
                <a:solidFill>
                  <a:srgbClr val="1C1C1C"/>
                </a:solidFill>
              </a:rPr>
              <a:t> </a:t>
            </a:r>
            <a:r>
              <a:rPr sz="1400" b="0" i="0" dirty="0" err="1">
                <a:solidFill>
                  <a:srgbClr val="1C1C1C"/>
                </a:solidFill>
              </a:rPr>
              <a:t>que</a:t>
            </a:r>
            <a:r>
              <a:rPr sz="1400" b="0" i="0" dirty="0">
                <a:solidFill>
                  <a:srgbClr val="1C1C1C"/>
                </a:solidFill>
              </a:rPr>
              <a:t> la </a:t>
            </a:r>
            <a:r>
              <a:rPr sz="1400" b="0" i="0" dirty="0" err="1">
                <a:solidFill>
                  <a:srgbClr val="1C1C1C"/>
                </a:solidFill>
              </a:rPr>
              <a:t>qualité</a:t>
            </a:r>
            <a:r>
              <a:rPr sz="1400" b="0" i="0" dirty="0">
                <a:solidFill>
                  <a:srgbClr val="1C1C1C"/>
                </a:solidFill>
              </a:rPr>
              <a:t> </a:t>
            </a:r>
            <a:r>
              <a:rPr sz="1400" b="0" i="0" dirty="0" err="1">
                <a:solidFill>
                  <a:srgbClr val="1C1C1C"/>
                </a:solidFill>
              </a:rPr>
              <a:t>plafonne</a:t>
            </a:r>
            <a:r>
              <a:rPr sz="1400" b="0" i="0" dirty="0">
                <a:solidFill>
                  <a:srgbClr val="1C1C1C"/>
                </a:solidFill>
              </a:rPr>
              <a:t> sur les </a:t>
            </a:r>
            <a:r>
              <a:rPr sz="1400" b="0" i="0" dirty="0" err="1">
                <a:solidFill>
                  <a:srgbClr val="1C1C1C"/>
                </a:solidFill>
              </a:rPr>
              <a:t>cas</a:t>
            </a:r>
            <a:r>
              <a:rPr sz="1400" b="0" i="0" dirty="0">
                <a:solidFill>
                  <a:srgbClr val="1C1C1C"/>
                </a:solidFill>
              </a:rPr>
              <a:t> composites — et </a:t>
            </a:r>
            <a:r>
              <a:rPr sz="1400" b="0" i="0" dirty="0" err="1">
                <a:solidFill>
                  <a:srgbClr val="1C1C1C"/>
                </a:solidFill>
              </a:rPr>
              <a:t>que</a:t>
            </a:r>
            <a:r>
              <a:rPr sz="1400" b="0" i="0" dirty="0">
                <a:solidFill>
                  <a:srgbClr val="1C1C1C"/>
                </a:solidFill>
              </a:rPr>
              <a:t> la </a:t>
            </a:r>
            <a:r>
              <a:rPr sz="1400" b="0" i="0" dirty="0" err="1">
                <a:solidFill>
                  <a:srgbClr val="1C1C1C"/>
                </a:solidFill>
              </a:rPr>
              <a:t>mesure</a:t>
            </a:r>
            <a:r>
              <a:rPr sz="1400" b="0" i="0" dirty="0">
                <a:solidFill>
                  <a:srgbClr val="1C1C1C"/>
                </a:solidFill>
              </a:rPr>
              <a:t> le </a:t>
            </a:r>
            <a:r>
              <a:rPr sz="1400" b="0" i="0" dirty="0" err="1">
                <a:solidFill>
                  <a:srgbClr val="1C1C1C"/>
                </a:solidFill>
              </a:rPr>
              <a:t>confirme</a:t>
            </a:r>
            <a:r>
              <a:rPr sz="1400" b="0" i="0" dirty="0">
                <a:solidFill>
                  <a:srgbClr val="1C1C1C"/>
                </a:solidFill>
              </a:rPr>
              <a:t>. La </a:t>
            </a:r>
            <a:r>
              <a:rPr sz="1400" b="0" i="0" dirty="0" err="1">
                <a:solidFill>
                  <a:srgbClr val="1C1C1C"/>
                </a:solidFill>
              </a:rPr>
              <a:t>complexité</a:t>
            </a:r>
            <a:r>
              <a:rPr sz="1400" b="0" i="0" dirty="0">
                <a:solidFill>
                  <a:srgbClr val="1C1C1C"/>
                </a:solidFill>
              </a:rPr>
              <a:t> doit </a:t>
            </a:r>
            <a:r>
              <a:rPr sz="1400" b="0" i="0" dirty="0" err="1">
                <a:solidFill>
                  <a:srgbClr val="1C1C1C"/>
                </a:solidFill>
              </a:rPr>
              <a:t>être</a:t>
            </a:r>
            <a:r>
              <a:rPr sz="1400" b="0" i="0" dirty="0">
                <a:solidFill>
                  <a:srgbClr val="1C1C1C"/>
                </a:solidFill>
              </a:rPr>
              <a:t> </a:t>
            </a:r>
            <a:r>
              <a:rPr sz="1400" b="0" i="0" dirty="0" err="1">
                <a:solidFill>
                  <a:srgbClr val="1C1C1C"/>
                </a:solidFill>
              </a:rPr>
              <a:t>gagnée</a:t>
            </a:r>
            <a:r>
              <a:rPr sz="1400" b="0" i="0" dirty="0">
                <a:solidFill>
                  <a:srgbClr val="1C1C1C"/>
                </a:solidFill>
              </a:rPr>
              <a:t>, pas </a:t>
            </a:r>
            <a:r>
              <a:rPr sz="1400" b="0" i="0" dirty="0" err="1">
                <a:solidFill>
                  <a:srgbClr val="1C1C1C"/>
                </a:solidFill>
              </a:rPr>
              <a:t>supposée</a:t>
            </a:r>
            <a:r>
              <a:rPr sz="1400" b="0" i="0" dirty="0">
                <a:solidFill>
                  <a:srgbClr val="1C1C1C"/>
                </a:solidFill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0"/>
            <a:ext cx="11430000" cy="1371600"/>
          </a:xfrm>
          <a:prstGeom prst="rect">
            <a:avLst/>
          </a:prstGeom>
          <a:solidFill>
            <a:srgbClr val="F0F4FF"/>
          </a:solidFill>
          <a:ln w="25400">
            <a:solidFill>
              <a:srgbClr val="003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30175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189"/>
                </a:solidFill>
              </a:rPr>
              <a:t>Réflexe 2 — Le Scoper précède le Superviseur.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747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</a:rPr>
              <a:t>Le périmètre se fixe avant que la coordination commence. Fusionner les deux rôles revient à perdre le contrôle des deux.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434840"/>
            <a:ext cx="11430000" cy="1371600"/>
          </a:xfrm>
          <a:prstGeom prst="rect">
            <a:avLst/>
          </a:prstGeom>
          <a:solidFill>
            <a:srgbClr val="FFF3E0"/>
          </a:solidFill>
          <a:ln w="25400">
            <a:solidFill>
              <a:srgbClr val="C8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4526279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8C3C"/>
                </a:solidFill>
              </a:rPr>
              <a:t>Réflexe 3 — Mesurer avant de décider.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983479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</a:rPr>
              <a:t>Un score LLM-as-a-Judge sur 5–10 cas figés est le seul arbitre fiable entre la complexité architecturale et sa valeur réelle. Sans mesure, toute décision d'architecture reste une intuition.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6035040"/>
            <a:ext cx="11430000" cy="594360"/>
          </a:xfrm>
          <a:prstGeom prst="rect">
            <a:avLst/>
          </a:prstGeom>
          <a:solidFill>
            <a:srgbClr val="003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60807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Prochain module : T2 · Workflows — orchestration déterministe, fiable et auditable : l'autre face de l'orchestration 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1412</Words>
  <Application>Microsoft Office PowerPoint</Application>
  <PresentationFormat>Custom</PresentationFormat>
  <Paragraphs>205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Laloux, Vincent</cp:lastModifiedBy>
  <cp:revision>1</cp:revision>
  <dcterms:created xsi:type="dcterms:W3CDTF">2013-01-27T09:14:16Z</dcterms:created>
  <dcterms:modified xsi:type="dcterms:W3CDTF">2026-09-04T09:25:59Z</dcterms:modified>
  <cp:category/>
</cp:coreProperties>
</file>